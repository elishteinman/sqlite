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1ED90E-E0F1-4CD5-A14D-AD2DB827000F}">
  <a:tblStyle styleId="{AB1ED90E-E0F1-4CD5-A14D-AD2DB82700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פתיחה — שקופית 1 מתוך 8.</a:t>
            </a:r>
            <a:br>
              <a:rPr lang="en-US"/>
            </a:br>
            <a:r>
              <a:rPr lang="en-US"/>
              <a:t>ברוכים הבאים. המצגת היום סוקרת את Redis כפלטפורמה לאחסון ושליפה של וקטורים סמנטיים — מנקודת מבט אדריכלית וטכנית מעמיקה. מטרת הסשן היא להראות כיצד Redis 8 מאחד תחת קורת גג אחת את שלושת המרכיבים הקריטיים של אפליקציות AI מודרניות: זיכרון מטמון (Caching), ניהול מצב סשן (Session State), וחיפוש סמנטי על Embeddings. כתוצאה מכך אנו מקצרים Latency לרמת מילי-שניות בודדות, חוסכים עלויות תפעול, ומבטלים מורכבות אינטגרציה.</a:t>
            </a:r>
            <a:br>
              <a:rPr lang="en-US"/>
            </a:br>
            <a:r>
              <a:rPr lang="en-US"/>
              <a:t>מסלול הסשן: 25 דקות מצגת + 5 דקות שאלות. הקהל היעד הוא מנהלי פיתוח, ארכיטקטים ומפתחים. נתחיל בבעיה האדריכלית, נמשיך לפנימיות של Redis 8, נצלול לאלגוריתמים (FLAT, HNSW, SVS-VAMANA), נבחן Hybrid Search ו-RRF, נדבר על RedisVL ו-Semantic Cache, נסקור TCO ו-Sharding, ונסיים בהמלצות ליישום מיידי.</a:t>
            </a:r>
            <a:br>
              <a:rPr lang="en-US"/>
            </a:br>
            <a:r>
              <a:rPr lang="en-US"/>
              <a:t>לפני שנמשיך — Redis 8 הוא צעד ארכיטקטוני דרמטי: Vector Sets ו-JSON עברו מהיותם מודולים נפרדים אל ליבת המנוע. זה לא רק שיפור ביצועים — זו הצהרה שהפלטפורמה מיועדת מהיסוד גם לעבודות AI.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2 — מלכודת ה-Vector Database העצמאי.</a:t>
            </a:r>
            <a:br>
              <a:rPr lang="en-US"/>
            </a:br>
            <a:r>
              <a:rPr lang="en-US"/>
              <a:t>תעשיית התוכנה עוברת שינוי אדריכלי דרמטי. בעידן ה-LLM הראשון בנינו אפליקציות "Stateless" — שלחנו prompt וקיבלנו תשובה. כיום אנחנו בונים סוכני AI ומערכות RAG שצריכות הקשר רציף, זיכרון לטווח ארוך, וחיפוש סמנטי בזמן אמת.</a:t>
            </a:r>
            <a:br>
              <a:rPr lang="en-US"/>
            </a:br>
            <a:r>
              <a:rPr lang="en-US"/>
              <a:t>כדי לטפל בחיפוש סמנטי, חברות רבות אימצו במהירות Vector Database עצמאי לחלוטין (Pinecone, Weaviate, Milvus). זה פתר את הבעיה הנקודתית, אבל יצר בעיה אדריכלית גדולה יותר — "מלכודת ה-Vector Database העצמאי":</a:t>
            </a:r>
            <a:br>
              <a:rPr lang="en-US"/>
            </a:br>
            <a:r>
              <a:rPr lang="en-US"/>
              <a:t>1. כל בקשת משתמש דורשת קפיצות רשת בין שלוש מערכות נפרדות: Primary DB עבור State תפעולי, In-Memory Cache עבור Session, ו-Vector DB עבור Embeddings.</a:t>
            </a:r>
            <a:br>
              <a:rPr lang="en-US"/>
            </a:br>
            <a:r>
              <a:rPr lang="en-US"/>
              <a:t>2. כל קפיצה מוסיפה Latency של מילי-שניות; באפליקציות LLM זה הופך משאיפה של תגובה ב-50ms לתגובה של 500ms או יותר.</a:t>
            </a:r>
            <a:br>
              <a:rPr lang="en-US"/>
            </a:br>
            <a:r>
              <a:rPr lang="en-US"/>
              <a:t>3. סנכרון נתונים בין המערכות הוא סיוט תפעולי — כשמסמך מתעדכן, צריך לעדכן את ה-RDBMS, לפסול cache, ולשלוח embedding חדש ל-Vector DB.</a:t>
            </a:r>
            <a:br>
              <a:rPr lang="en-US"/>
            </a:br>
            <a:r>
              <a:rPr lang="en-US"/>
              <a:t>4. עלויות תשתית כפולות — אנחנו משלמים על RAM ב-3 מערכות שונות.</a:t>
            </a:r>
            <a:br>
              <a:rPr lang="en-US"/>
            </a:br>
            <a:r>
              <a:rPr lang="en-US"/>
              <a:t>הפתרון של Redis — שיוצג בהמשך — הוא להעביר את המתמטיקה של ה-Vector ישירות לתוך אותו מרחב In-Memory שכבר מחזיק את המידע התפעולי. זה מבטל לחלוטין את קפיצות הרשת, מאחד את גבולות האבטחה (ACLs) ומחזיר תגובה תוך מילי-שנייה אחת. בקצב המעבר מ-prototypes ל-production, היתרון הזה הופך מהאוצמה לחובה.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3 — האבולוציה האדריכלית של Redis 8.</a:t>
            </a:r>
            <a:br>
              <a:rPr lang="en-US"/>
            </a:br>
            <a:r>
              <a:rPr lang="en-US"/>
              <a:t>היכולת לחפש Embeddings ב-Redis התחילה ב-2022 כמודול הרחבה בשם RediSearch. הארכיטקטורה הזו הייתה גמישה אבל הוסיפה תקורה ניכרת — כל שאילתת Vector חצתה גבול בין הליבה למודול.</a:t>
            </a:r>
            <a:br>
              <a:rPr lang="en-US"/>
            </a:br>
            <a:r>
              <a:rPr lang="en-US"/>
              <a:t>ב-Redis 8 (יוני 2024) ובהמשך ב-Redis 8.2, החליטה החברה לפרק לחלוטין את מנגנון המודולים. כל היכולות — Search, JSON, Time-Series, Probabilistic structures, ובמיוחד מבנה הנתונים החדש Vector Sets — מוטמעות עכשיו ב-Native לתוך מנוע הליבה.</a:t>
            </a:r>
            <a:br>
              <a:rPr lang="en-US"/>
            </a:br>
            <a:r>
              <a:rPr lang="en-US"/>
              <a:t>המשמעות הביצועית עצומה. בבדיקות הרשמיות:</a:t>
            </a:r>
            <a:br>
              <a:rPr lang="en-US"/>
            </a:br>
            <a:r>
              <a:rPr lang="en-US"/>
              <a:t>• ירידה של עד 87% ב-Latency של פקודות בודדות לעומת Redis 7 + RediSearch.</a:t>
            </a:r>
            <a:br>
              <a:rPr lang="en-US"/>
            </a:br>
            <a:r>
              <a:rPr lang="en-US"/>
              <a:t>• עלייה של עד 144% ב-Queries Per Second (QPS) כאשר משתמשים ב-Vector Quantization.</a:t>
            </a:r>
            <a:br>
              <a:rPr lang="en-US"/>
            </a:br>
            <a:r>
              <a:rPr lang="en-US"/>
              <a:t>• מהירות הזרמה (ingestion) של 160,000 הוספות וקטור בשנייה על Node יחיד.</a:t>
            </a:r>
            <a:br>
              <a:rPr lang="en-US"/>
            </a:br>
            <a:r>
              <a:rPr lang="en-US"/>
              <a:t>• מנוע I/O רב-Threaded שמפיג עומס מה-Main Thread, ומאפשר Sync מלא של 10GB תוך כדי טיפול ב-26.84 מיליון עדכונים פעילים.</a:t>
            </a:r>
            <a:br>
              <a:rPr lang="en-US"/>
            </a:br>
            <a:r>
              <a:rPr lang="en-US"/>
              <a:t>היתרון השני שאסור להחמיץ הוא Co-location: ב-Redis ה-Embeddings יושבים ממש באותו אובייקט Hash או JSON שמחזיק את המטא-דאטה — שם המסמך, מחבר, רמת הרשאה, חותמת זמן וכו'. כשאתם מבצעים שאילתה היברידית, אין צורך למצוא קודם וקטורים ואז ללכת ל-DB אחר ולהביא מטא-דאטה — הכול נסגר באותה בקשה אחת In-Memory. זה מנטרל לחלוטין את "Query Amplification" — תופעה שבה בקשת משתמש אחת הופכת לאלפי קריאות פנימיות ב-Microservices. ב-Redis 8 הוסיפו גם ACLs מורחבים שתומכים במבני הנתונים החדשים, כך שאפשר להפריד וקטורים רגישים בין משתמשים ומחלקות מבלי לבנות שכבת מדיניות חיצונית.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4 — מנועי האינדוקס של Redis. הבחירה הראשונה והבלתי הפיכה היא Distance Metric. רוב מודלי השפה (OpenAI text-embedding-ada-002, sentence-transformers וכו') מאומנים סביב Cosine Similarity — מדידת זווית, אדישה לגודל הווקטור. L2 משמש בעיקר ל-Computer Vision שבו המרחק האוקלידי משמעותי. Inner Product מתאים למודלים שכבר נורמלו לאורך 1. שגיאה כאן (למשל L2 על מודל שאומן ל-Cosine) תיצור "כשל שקט" — תוצאות מתמטית נכונות אבל סמנטית מופרכות.</a:t>
            </a:r>
            <a:br>
              <a:rPr lang="en-US"/>
            </a:br>
            <a:r>
              <a:rPr lang="en-US"/>
              <a:t>לאחר בחירת המדד, יש לבחור אלגוריתם:</a:t>
            </a:r>
            <a:br>
              <a:rPr lang="en-US"/>
            </a:br>
            <a:r>
              <a:rPr lang="en-US"/>
              <a:t>1. FLAT — חיפוש Brute-Force. משווה שאילתה מול כל וקטור. נותן 100% דיוק (Recall) אבל O(n). מתאים רק ל-Datasets קטנים (פחות מ-50K), סביבת בדיקות, או יישומים רגולטוריים שלא יכולים להתפשר על דיוק.</a:t>
            </a:r>
            <a:br>
              <a:rPr lang="en-US"/>
            </a:br>
            <a:r>
              <a:rPr lang="en-US"/>
              <a:t>2. HNSW — סטנדרט ה-Production. בונה גרף רב-שכבתי: השכבה העליונה דלילה ומיועדת ניווט מהיר; השכבה התחתונה הצפופה מכילה את כל הווקטורים. החיפוש מתחיל למעלה ויורד שכבה אחר שכבה. תוצאה: O(log n), Recall של 95-99%, אבל צריכת RAM כבדה משמעותית (כמה GB עבור מיליון וקטורים בממדים גבוהים). פרמטרים קריטיים: M (כמות חיבורים בכל צומת), EF_CONSTRUCTION (איכות גרף בבנייה), EF_RUNTIME (איכות חיפוש בריצה).</a:t>
            </a:r>
            <a:br>
              <a:rPr lang="en-US"/>
            </a:br>
            <a:r>
              <a:rPr lang="en-US"/>
              <a:t>3. SVS-VAMANA — חידוש Redis 8.2 בשיתוף Intel. נשען על אדריכלות DiskANN של Microsoft, אבל בונה גרף שטוח חד-שכבתי שמובנה כך שהמרחק הממוצע בין שני צמתים קצר. בנוסף משלב Locally-Adaptive Vector Quantization — דחיסה לוקלית של הווקטורים. החיסכון בזיכרון: 26-37% לעומת HNSW מלא, עם ירידה זניחה של חצי-אחוז ב-Recall. זה האלגוריתם המומלץ למאגרי מיליארדי וקטורים.</a:t>
            </a:r>
            <a:br>
              <a:rPr lang="en-US"/>
            </a:br>
            <a:r>
              <a:rPr lang="en-US"/>
              <a:t>הערה תרגולית: מעבר מ-HNSW ל-SVS-VAMANA אינו אוטומטי — צריך rebuild של האינדקס. Redis מספקים נוטבוק מעבר ב-redis-ai-resources/python-recipes/vector-search/06_hnsw_to_svs_vamana_migration.ipynb.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5 — חיפוש היברידי ו-RRF.</a:t>
            </a:r>
            <a:br>
              <a:rPr lang="en-US"/>
            </a:br>
            <a:r>
              <a:rPr lang="en-US"/>
              <a:t>אחד הכשלים המוכרים של מערכות RAG מבוססות-Vector בלבד הוא "Semantic Mismatch" בתחומים טכניים. דמיינו מהנדס שמחפש את שגיאת "ORA-12541" או רכיב חומרה "Intel H100" — חיפוש סמנטי טהור עלול להחזיר מסמכים על שגיאות אורקל באופן כללי, ולפספס דווקא את המסמך עם המחרוזת המדויקת.</a:t>
            </a:r>
            <a:br>
              <a:rPr lang="en-US"/>
            </a:br>
            <a:r>
              <a:rPr lang="en-US"/>
              <a:t>הפתרון של Redis הוא חיפוש היברידי שרץ דרך פקודה אחת — FT.HYBRID. הפקודה מבצעת במקביל:</a:t>
            </a:r>
            <a:br>
              <a:rPr lang="en-US"/>
            </a:br>
            <a:r>
              <a:rPr lang="en-US"/>
              <a:t>• חיפוש מילולי דליל (Sparse) באמצעות BM25 — אלגוריתם TF-IDF סטנדרטי, מצוין במונחים נדירים שמופיעים בצפיפות במסמך מסוים.</a:t>
            </a:r>
            <a:br>
              <a:rPr lang="en-US"/>
            </a:br>
            <a:r>
              <a:rPr lang="en-US"/>
              <a:t>• חיפוש סמנטי צפוף (Dense) דרך אינדקס ה-Vector — HNSW או VAMANA לפי הקונפיגורציה.</a:t>
            </a:r>
            <a:br>
              <a:rPr lang="en-US"/>
            </a:br>
            <a:r>
              <a:rPr lang="en-US"/>
              <a:t>האתגר ההנדסי הוא במיזוג. ניקוד BM25 הוא Unbounded — יכול להיות 5, 50 או 5000. ניקוד וקטור מנורמל בין 0 ל-1. חיבור ישיר שלהם נותן תוצאות אקראיות. כאן נכנס RRF — Reciprocal Rank Fusion.</a:t>
            </a:r>
            <a:br>
              <a:rPr lang="en-US"/>
            </a:br>
            <a:r>
              <a:rPr lang="en-US"/>
              <a:t>הנוסחה פשוטה אך אלגנטית: score(d) = Σ 1 / (k + rank_i(d)) כאשר rank_i הוא מיקום המסמך ב-result list i, ו-k הוא קבוע החלקה (ברירת מחדל 60). השיטה מתעלמת לגמרי מהניקוד הגולמי וסומכת על המיקום היחסי. מסמך שדורג #1 ב-BM25 ו-#3 ב-Vector יקבל ניקוד RRF גבוה משום שהוא הופיע ראשון בלפחות אחת הרשימות.</a:t>
            </a:r>
            <a:br>
              <a:rPr lang="en-US"/>
            </a:br>
            <a:r>
              <a:rPr lang="en-US"/>
              <a:t>תוצאה ברמת הביצועים: כל המיזוג קורה בתוך Redis — אין צורך בקוד אפליקטיבי שיעבד שתי רשימות, ינרמל ויחבר. עבור צוותים שצריכים שליטה עדינה יותר, Redis תומך גם ב-Linear Combination עם משקלי alpha/beta.</a:t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6 — חוויית הפיתוח של Redis ל-AI.</a:t>
            </a:r>
            <a:br>
              <a:rPr lang="en-US"/>
            </a:br>
            <a:r>
              <a:rPr lang="en-US"/>
              <a:t>מנוע חזק לבדו לא מספיק — צריך ספרייה שמפשטת את העבודה היומיומית של מפתחים. ל-Redis יש שלושה רכיבי-על שבונים את חוויית ה-AI:</a:t>
            </a:r>
            <a:br>
              <a:rPr lang="en-US"/>
            </a:br>
            <a:r>
              <a:rPr lang="en-US"/>
              <a:t>1. RedisVL (Redis Vector Library) — קליינט Python ארגוני שמטפל בכל ה-ETL: חלוקה למקטעים (chunking), הטמעה (embedding), טעינה (loading), ובניית אינדקסים. במקום לכתוב ידנית פקודות FT.CREATE עם 30 פרמטרים, מעצבים סכמה אחת, מצמידים integration ל-OpenAI או HuggingFace, וב-MultiVectorQuery יחיד מקבלים תוצאות הקשריות עם metadata filtering. הספרייה מתחברת מצוין ל-LangChain ו-LlamaIndex, ולכן השתלבות בקוד קיים מהירה מאוד.</a:t>
            </a:r>
            <a:br>
              <a:rPr lang="en-US"/>
            </a:br>
            <a:r>
              <a:rPr lang="en-US"/>
              <a:t>2. Semantic Cache — אחת היכולות שמחזירה את ההשקעה ב-Redis תוך שבועות. קריאות ל-LLM יקרות (GPT-4 במאות דולרים ליום בעומס) ובלתי-צפויות מבחינת Latency. מטמון Database קלאסי מבוסס התאמת מחרוזות מדויקת — חסר תועלת לשפה טבעית. Semantic Cache הופך כל prompt חדש ל-Vector ומחפש prompts דומים סמנטית במאגר המטמון. אם נמצא prompt עם מרחק קטן מסף (למשל cosine distance &lt; 0.05), Redis מחזיר מיידית את התשובה ששמורה לו, ועוקף לחלוטין את ה-LLM. בייצור, חיתוך של 70% מקריאות ה-API נצפה בקלות.</a:t>
            </a:r>
            <a:br>
              <a:rPr lang="en-US"/>
            </a:br>
            <a:r>
              <a:rPr lang="en-US"/>
              <a:t>3. Agentic Memory — סוכני AI דורשים זיכרון משולב: זיכרון עבודה לטווח קצר (מה הסוכן עשה לפני 30 שניות?) וזיכרון סמנטי לטווח ארוך (מה ההעדפות של המשתמש מלפני חודש?). Redis פותר את זה ב-engine אחד — Lists או Streams ל-Working Memory מהיר, Vector Index ל-Long-Term Recall, ו-TTL טבעי שגורם ל"שכחה" אוטומטית של הקשר ישן. ה-SemanticRouter של RedisVL מאפשר לנתב prompts ל-microservices שונים לפי משמעות.</a:t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7 — סקלאביליות, TCO ומיצוב בשוק.</a:t>
            </a:r>
            <a:br>
              <a:rPr lang="en-US"/>
            </a:br>
            <a:r>
              <a:rPr lang="en-US"/>
              <a:t>זוהי שקופית הכלכלה. כדי לאחסן מאות מיליוני וקטורים ב-RAM טהור, מדובר בעלויות תשתית עצומות. Redis פותר את זה בשלושה כלים:</a:t>
            </a:r>
            <a:br>
              <a:rPr lang="en-US"/>
            </a:br>
            <a:r>
              <a:rPr lang="en-US"/>
              <a:t>1. Redis Flex (לשעבר Redis on Flash) — אחסון רב-שכבתי שמבוסס על מנוע Speedb. Hot keys (הווקטורים והאינדקסים שהכי מחופשים) נשמרים ב-DRAM. Warm/Cold keys (סשנים ישנים, הטמעות ארכיוניות) מוסטים אוטומטית ל-NVMe SSD מחובר. אדמיניסטרטור יכול להגדיר יחס RAM:Flash בכל נקודה בין 10:90 ל-90:10. בעומסי AI טיפוסיים, הירידה בעלות התשתית מגיעה ל-90% עם אובדן לטנסי זניח (NVMe NVMe גבוה הוא 100µs לעומת RAM של 100ns). Redis 8 מחזיק 10K ops/sec/core בתצורה הזו.</a:t>
            </a:r>
            <a:br>
              <a:rPr lang="en-US"/>
            </a:br>
            <a:r>
              <a:rPr lang="en-US"/>
              <a:t>2. Cluster Sharding — Redis Cluster תומך עד 1,000 צמתים. כתיבת וקטור (VADD) מתחלקת לינארית בעזרת CRC32 על המפתח. שאילתת חיפוש (VSIM), לעומת זאת, דורשת scatter-gather: אי אפשר לנחש מראש על איזה shard נמצא ה-Nearest Neighbor, ולכן כל shard מקבל את השאילתה, מחזיר את ה-top-K המקומי, וה-proxy ממזג. ככל שמגדילים את מספר ה-shards, ה-Latency האדיטיבי גדל. תכנון shard sizing חיוני. שווה לציין הגבלות בענן — AWS MemoryDB עדיין מוגבל ל-shard יחיד עבור Vector Search; GCP Memorystore תומך ב-250 shards.</a:t>
            </a:r>
            <a:br>
              <a:rPr lang="en-US"/>
            </a:br>
            <a:r>
              <a:rPr lang="en-US"/>
              <a:t>3. Decision Matrix — מתי לבחור ב-Redis לעומת מתחרים? אם המערכת שלכם כבר משתמשת ב-Redis ל-Cache או Session, אין שום הצדקה להוסיף Vector DB עצמאי — הוסיפו את ה-Vector Search ב-Redis. אם אתם מתחילים מאפס ורוצים פלטפורמה SaaS חסרת אופרציה — Pinecone הוא בחירה לגיטימית. אם יש לכם מיליארדי וקטורים וצריכים האצת GPU — Milvus או Weaviate. אם המערכת שלכם רלציונית בעיקרה — pgvector מספיק לרוב המקרים.</a:t>
            </a:r>
            <a:br>
              <a:rPr lang="en-US"/>
            </a:br>
            <a:r>
              <a:rPr lang="en-US"/>
              <a:t>מבחני VectorDBBench על datasets סטנדרטיים מראים יתרון תפוקה של 21-62% ל-Redis לעומת המתחרה הבא בתנאי Recall ≥ 0.98.</a:t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שקופית 8 — סיכום ושאלות.</a:t>
            </a:r>
            <a:br>
              <a:rPr lang="en-US"/>
            </a:br>
            <a:r>
              <a:rPr lang="en-US"/>
              <a:t>ארבעה מסרים שאני רוצה שתיקחו הביתה:</a:t>
            </a:r>
            <a:br>
              <a:rPr lang="en-US"/>
            </a:br>
            <a:r>
              <a:rPr lang="en-US"/>
              <a:t>1. אחדו את ה-Stack. ה"מלכודת ה-Vector העצמאי" מתישה ארגונים — Latency גבוה, סנכרון כואב, עלויות כפולות. כשאתם מבצעים החלטה אדריכלית חדשה, שאלו: האם המידע התפעולי, הקאש והוקטורים יכולים לשבת באותו מרחב In-Memory? אם כן, הגיעו ל-Redis לפני שאתם מוסיפים DB נוסף.</a:t>
            </a:r>
            <a:br>
              <a:rPr lang="en-US"/>
            </a:br>
            <a:r>
              <a:rPr lang="en-US"/>
              <a:t>2. Redis 8 הוא מנוע אחר. השפצה אדריכלית (Vector Sets ב-Native, מנוע I/O רב-Threaded, ACLs מורחבים) הזיזה את Redis מ"מטמון מהיר" ל"פלטפורמת AI אמיתית". שיפורי הביצועים אינם מינוריים — 87% פחות Latency ו-144% יותר QPS פותחים מקרים שלא היו אפשריים בעבר.</a:t>
            </a:r>
            <a:br>
              <a:rPr lang="en-US"/>
            </a:br>
            <a:r>
              <a:rPr lang="en-US"/>
              <a:t>3. תבחרו את אלגוריתם ה-ANN הנכון. FLAT לסטנדרטים קטנים, HNSW לסביבת Production סטנדרטית, ו-SVS-VAMANA כשהמכשול הוא זיכרון. אל תפחדו לערוך טסטים השוואתיים על dataset ספציפי לארגון שלכם.</a:t>
            </a:r>
            <a:br>
              <a:rPr lang="en-US"/>
            </a:br>
            <a:r>
              <a:rPr lang="en-US"/>
              <a:t>4. ה-TCO ינצח. שילוב של Redis Flex לשכבות אחסון ו-Semantic Cache לחיסכון בקריאות LLM יכול להחזיר את כל עלות הקלאסטר תוך חודשים בודדים. זו לא תיאוריה — אנחנו רואים את זה אצל לקוחות בייצור.</a:t>
            </a:r>
            <a:br>
              <a:rPr lang="en-US"/>
            </a:br>
            <a:r>
              <a:rPr lang="en-US"/>
              <a:t>המלצה אופרטיבית: חזרו מחר בבוקר ל-IDE ונסו את RedisVL. הריצו דמו של Semantic Cache על נתונים אמיתיים מהארגון שלכם, ומדדו כמה % מהקריאות ל-LLM הצלחתם לחסוך. זה הצעד הראשון.</a:t>
            </a:r>
            <a:br>
              <a:rPr lang="en-US"/>
            </a:br>
            <a:r>
              <a:rPr lang="en-US"/>
              <a:t>תודה רבה. שאלות?</a:t>
            </a:r>
            <a:endParaRPr/>
          </a:p>
        </p:txBody>
      </p:sp>
      <p:sp>
        <p:nvSpPr>
          <p:cNvPr id="275" name="Google Shape;2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34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 rot="720000">
            <a:off x="5486400" y="-914400"/>
            <a:ext cx="5486400" cy="6400800"/>
          </a:xfrm>
          <a:prstGeom prst="rect">
            <a:avLst/>
          </a:prstGeom>
          <a:solidFill>
            <a:srgbClr val="FF443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logo_trimm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"/>
            <a:ext cx="228600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48640" y="169164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 as a Vector Database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FF1E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DCFF1E"/>
                </a:solidFill>
                <a:latin typeface="Calibri"/>
                <a:ea typeface="Calibri"/>
                <a:cs typeface="Calibri"/>
                <a:sym typeface="Calibri"/>
              </a:rPr>
              <a:t>Architecting for Real-Time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2461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Unifying caching, session state, and high-dimensional vector retrieval inside a single in-memory platform — for sub-millisecond AI applications.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206240"/>
            <a:ext cx="42062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4206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EAF0"/>
                </a:solidFill>
                <a:latin typeface="Calibri"/>
                <a:ea typeface="Calibri"/>
                <a:cs typeface="Calibri"/>
                <a:sym typeface="Calibri"/>
              </a:rPr>
              <a:t>25-min technical deep-dive  ·  R&amp;D, Architects, 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eli  ·  Redis 8.x  ·  May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01  ·  PROBLEM STATEMENT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The Data Bottleneck of the AI Era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051560"/>
            <a:ext cx="4023360" cy="384048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94360" y="10515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—  Fragmented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1691640"/>
            <a:ext cx="3474720" cy="640080"/>
          </a:xfrm>
          <a:prstGeom prst="roundRect">
            <a:avLst>
              <a:gd fmla="val 8571" name="adj"/>
            </a:avLst>
          </a:prstGeom>
          <a:solidFill>
            <a:srgbClr val="F4F6FA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68680" y="17373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Primary RDBMS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(transactional state)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383280" y="2331720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⇅  network 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31520" y="2468880"/>
            <a:ext cx="3474720" cy="640080"/>
          </a:xfrm>
          <a:prstGeom prst="roundRect">
            <a:avLst>
              <a:gd fmla="val 8571" name="adj"/>
            </a:avLst>
          </a:prstGeom>
          <a:solidFill>
            <a:srgbClr val="F4F6FA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68680" y="25146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In-Memory Cache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(session state)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383280" y="3108960"/>
            <a:ext cx="12801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⇅  network 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1520" y="3246120"/>
            <a:ext cx="3474720" cy="640080"/>
          </a:xfrm>
          <a:prstGeom prst="roundRect">
            <a:avLst>
              <a:gd fmla="val 8571" name="adj"/>
            </a:avLst>
          </a:prstGeom>
          <a:solidFill>
            <a:srgbClr val="F4F6FA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68680" y="3291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Standalone Vector 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(embeddings only)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4343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Result: latency tax, sync drift, duplicated infra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663440" y="1051560"/>
            <a:ext cx="402336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63440" y="1051560"/>
            <a:ext cx="4023360" cy="384048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800600" y="10515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—  Unified Real-Time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937760" y="1691640"/>
            <a:ext cx="3474720" cy="2377440"/>
          </a:xfrm>
          <a:prstGeom prst="roundRect">
            <a:avLst>
              <a:gd fmla="val 3077" name="adj"/>
            </a:avLst>
          </a:prstGeom>
          <a:solidFill>
            <a:srgbClr val="FFF6F4"/>
          </a:solidFill>
          <a:ln cap="flat" cmpd="sng" w="15225">
            <a:solidFill>
              <a:srgbClr val="FF4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1828800"/>
            <a:ext cx="5486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5669280" y="18562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Redis 8.x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669280" y="213055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Single in-memory address 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74920" y="2468880"/>
            <a:ext cx="3200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166360" y="2578608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440680" y="24688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Operational data  +  JSON metadata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74920" y="2971800"/>
            <a:ext cx="3200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166360" y="3081528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440680" y="29718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Cache  +  session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74920" y="3474720"/>
            <a:ext cx="320040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166360" y="3584448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440680" y="34747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Vector embeddings  +  ANN index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846320" y="4343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Result: zero network hops, no sync, single security 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02  · 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Redis 8.0 — From Modules to Native Engine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" y="109728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4360" y="1170432"/>
            <a:ext cx="251460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−87%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4360" y="166878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command latency vs. modular Redis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46120" y="109728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246120" y="1097280"/>
            <a:ext cx="54864" cy="100584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383280" y="1170432"/>
            <a:ext cx="251460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+144%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383280" y="166878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QPS with vector quantization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35040" y="109728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035040" y="1097280"/>
            <a:ext cx="54864" cy="100584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172200" y="1170432"/>
            <a:ext cx="251460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160K /s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172200" y="166878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vector inserts on a single node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2286000"/>
            <a:ext cx="41148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2286000"/>
            <a:ext cx="54864" cy="237744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21792" y="2377440"/>
            <a:ext cx="3858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Modules dismantled into the 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21792" y="2697480"/>
            <a:ext cx="3858768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Search, JSON, Time-Series, Probabilistic and the new Vector Sets are no longer bolt-on modules — they were merged directly into the open-source Redis core.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Result: deeper integration with replication, ACLs and persistence; multithreaded I/O minimizes main-thread contention; full sync of a 10 GB dataset while sustaining 26.84M concurrent writes (Redis 8 benchmark).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663440" y="2286000"/>
            <a:ext cx="41148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663440" y="2286000"/>
            <a:ext cx="54864" cy="237744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828032" y="2377440"/>
            <a:ext cx="3858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Co-location, not query amplification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28032" y="2697480"/>
            <a:ext cx="3858768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Vectors live in the same Hash / JSON document as their metadata. One hybrid query evaluates mathematical proximity AND metadata filters — no fan-out to a secondary store.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47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Native role-based ACLs cover the new data structures, so vector data can be partitioned across users and departments without an external policy engine.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03  ·  ALGORITHMS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Indexing Algorithms — Navigating High-Dimensional Space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7200" y="10058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Distance metrics: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011680" y="1051560"/>
            <a:ext cx="160020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F4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2011680" y="10515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703320" y="1051560"/>
            <a:ext cx="160020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F4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703320" y="10515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L2 (Euclidean)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394960" y="1051560"/>
            <a:ext cx="160020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F4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394960" y="10515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Inner Product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13533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⚠  Metric is immutable post-creation — must match embedding-model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691640"/>
            <a:ext cx="274320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691640"/>
            <a:ext cx="2743200" cy="411480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4360" y="16916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21792" y="219456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Brute-Force Exact 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58368" y="2788920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100%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58368" y="30815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22960" y="29900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O(n) query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58368" y="337413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22960" y="3282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minimal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21792" y="3703320"/>
            <a:ext cx="24140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Use when n &lt; 50K  ·  baseline accuracy validation  ·  zero-tolerance recall environments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337560" y="1691640"/>
            <a:ext cx="274320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337560" y="1691640"/>
            <a:ext cx="2743200" cy="41148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474720" y="16916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HNSW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502152" y="219456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Hierarchical Navigable Small World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538728" y="2788920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703320" y="2697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~95–99%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538728" y="30815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703320" y="29900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O(log n) query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538728" y="337413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703320" y="3282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high RAM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502152" y="3703320"/>
            <a:ext cx="24140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Production standard for n &gt; 50K  ·  graph layers route queries from sparse → dense  ·  tune M, EF_CONSTRUCTION, EF_RUNTIME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217920" y="1691640"/>
            <a:ext cx="274320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217920" y="1691640"/>
            <a:ext cx="2743200" cy="41148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355080" y="16916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SVS-VAMANA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82512" y="2194560"/>
            <a:ext cx="2414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Single-Layer + Quantization (Intel)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19088" y="2788920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583680" y="2697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~94–98%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419088" y="30815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583680" y="29900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O(log n) query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19088" y="337413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583680" y="3282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26-37% RAM saved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382512" y="3703320"/>
            <a:ext cx="24140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Billion-scale deployments  ·  Locally-Adaptive Vector Quantization  ·  preferred when memory ceiling dominates TCO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04  · 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Hybrid Search &amp; Reciprocal Rank Fusion (RRF)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57200" y="1051560"/>
            <a:ext cx="8275320" cy="502920"/>
          </a:xfrm>
          <a:prstGeom prst="rect">
            <a:avLst/>
          </a:prstGeom>
          <a:solidFill>
            <a:srgbClr val="FFF6F4"/>
          </a:solidFill>
          <a:ln cap="flat" cmpd="sng" w="9525">
            <a:solidFill>
              <a:srgbClr val="FF4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0080" y="105156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Pain:  </a:t>
            </a:r>
            <a:r>
              <a:rPr b="0" i="0" lang="en-US" sz="10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Pure semantic search misses exact tokens — error codes, SKUs, hex IDs, proprietary names — because the keyword is diluted in the embedding.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7200" y="1783080"/>
            <a:ext cx="1554480" cy="640080"/>
          </a:xfrm>
          <a:prstGeom prst="roundRect">
            <a:avLst>
              <a:gd fmla="val 8571" name="adj"/>
            </a:avLst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57200" y="17830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2057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FF1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FF1E"/>
                </a:solidFill>
                <a:latin typeface="Calibri"/>
                <a:ea typeface="Calibri"/>
                <a:cs typeface="Calibri"/>
                <a:sym typeface="Calibri"/>
              </a:rPr>
              <a:t>"Intel H100 throughput"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057400" y="1901952"/>
            <a:ext cx="411480" cy="36576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057400" y="2286000"/>
            <a:ext cx="411480" cy="36576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514600" y="1709928"/>
            <a:ext cx="237744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2606040" y="170992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Sparse · BM25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657600" y="170992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TF-IDF, exact tokens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514600" y="2167128"/>
            <a:ext cx="237744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606040" y="216712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Dense · Vector ANN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840480" y="216712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HNSW / VAMANA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937760" y="1920240"/>
            <a:ext cx="411480" cy="36576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937760" y="2286000"/>
            <a:ext cx="411480" cy="36576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394960" y="1737360"/>
            <a:ext cx="1828800" cy="914400"/>
          </a:xfrm>
          <a:prstGeom prst="roundRect">
            <a:avLst>
              <a:gd fmla="val 6000" name="adj"/>
            </a:avLst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394960" y="1737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RRF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94960" y="2057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Reciprocal Rank Fusion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394960" y="2286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= Σ 1 / (k + rank)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269480" y="2176272"/>
            <a:ext cx="365760" cy="36576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680960" y="1874520"/>
            <a:ext cx="1097280" cy="640080"/>
          </a:xfrm>
          <a:prstGeom prst="roundRect">
            <a:avLst>
              <a:gd fmla="val 8571" name="adj"/>
            </a:avLst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680960" y="18745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57200" y="2971800"/>
            <a:ext cx="269748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57200" y="2971800"/>
            <a:ext cx="54864" cy="96012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94360" y="3026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Single command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94360" y="3300984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FT.HYBRID runs both retrievals inside the engine — no app-side fusion code.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246120" y="2971800"/>
            <a:ext cx="269748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246120" y="2971800"/>
            <a:ext cx="54864" cy="96012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383280" y="3026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Bounded vs. unbounded scores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3280" y="3300984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RRF discards raw scores; ranks documents by position, smoothed by tunable k (default 60).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035040" y="2971800"/>
            <a:ext cx="269748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035040" y="2971800"/>
            <a:ext cx="54864" cy="96012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172200" y="30266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Linear-fusion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72200" y="3300984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For explicit control, configure α/β weights for semantic vs. lexical importance.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05  ·  AI APPLICATION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RedisVL — Semantic Cache &amp; Agentic Memory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57200" y="1051560"/>
            <a:ext cx="269748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94360" y="1051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RedisVL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21792" y="1600200"/>
            <a:ext cx="2368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Production-grade Python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40080" y="2148840"/>
            <a:ext cx="236829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Maps document chunks + metadata to Redis Hash /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MultiVectorQuery and hybrid RRF in one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First-class integrations with OpenAI, HuggingFace, LangChain, LlamaIndex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337560" y="1051560"/>
            <a:ext cx="269748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337560" y="1051560"/>
            <a:ext cx="2697480" cy="45720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474720" y="1051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Cache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502152" y="1600200"/>
            <a:ext cx="2368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Cache by meaning, not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520440" y="2148840"/>
            <a:ext cx="236829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Vectorize incoming prompt → ANN search vs. cached prompts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If distance &lt; threshold, serve cached LLM response instantly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Up to 70% cut in repeated LLM API spend; sub-ms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17920" y="1051560"/>
            <a:ext cx="269748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217920" y="1051560"/>
            <a:ext cx="2697480" cy="45720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355080" y="1051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382512" y="1600200"/>
            <a:ext cx="23682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Short- and long-term memory in one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400800" y="2148840"/>
            <a:ext cx="236829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Lists / Streams = short-term working memory (current session)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Vector index = long-term semantic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4756"/>
              </a:buClr>
              <a:buSzPts val="1000"/>
              <a:buFont typeface="Calibri"/>
              <a:buChar char="●"/>
            </a:pPr>
            <a:r>
              <a:rPr b="0" i="0" lang="en-US" sz="100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TTL-based decay → agents forget stale context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4572000"/>
            <a:ext cx="8275320" cy="27432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48640" y="4572000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FF1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CFF1E"/>
                </a:solidFill>
                <a:latin typeface="Calibri"/>
                <a:ea typeface="Calibri"/>
                <a:cs typeface="Calibri"/>
                <a:sym typeface="Calibri"/>
              </a:rPr>
              <a:t>In production with high query redundancy, semantic caching savings often offset the entire Redis cluster cost.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6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cube.png" id="238" name="Google Shape;2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02920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960120" y="2011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06  ·  ENTERPRISE ECONOMICS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6012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Scalability, TCO and Competitive Positioning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0040" y="868680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57200" y="1051560"/>
            <a:ext cx="41148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051560"/>
            <a:ext cx="54864" cy="237744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21792" y="11247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Redis Flex  —  RAM + NVMe data tiering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21792" y="15544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Hot keys (RAM)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057400" y="1719072"/>
            <a:ext cx="237744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2057400" y="1719072"/>
            <a:ext cx="2258568" cy="182880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057400" y="188366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queried vectors, indices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21792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Warm (RAM/NVMe)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057400" y="2267712"/>
            <a:ext cx="237744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2057400" y="2267712"/>
            <a:ext cx="1307592" cy="182880"/>
          </a:xfrm>
          <a:prstGeom prst="rect">
            <a:avLst/>
          </a:prstGeom>
          <a:solidFill>
            <a:srgbClr val="F59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057400" y="243230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recent sessions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21792" y="26517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Cold (NVMe SSD)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057400" y="2816352"/>
            <a:ext cx="2377440" cy="18288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2057400" y="2816352"/>
            <a:ext cx="594360" cy="18288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057400" y="298094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6678"/>
                </a:solidFill>
                <a:latin typeface="Calibri"/>
                <a:ea typeface="Calibri"/>
                <a:cs typeface="Calibri"/>
                <a:sym typeface="Calibri"/>
              </a:rPr>
              <a:t>archived embeddings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21792" y="315468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38"/>
              </a:buClr>
              <a:buSzPts val="900"/>
              <a:buFont typeface="Calibri"/>
              <a:buNone/>
            </a:pPr>
            <a:r>
              <a:rPr b="1" i="1" lang="en-US" sz="900" u="none" cap="none" strike="noStrike">
                <a:solidFill>
                  <a:srgbClr val="FF4438"/>
                </a:solidFill>
                <a:latin typeface="Calibri"/>
                <a:ea typeface="Calibri"/>
                <a:cs typeface="Calibri"/>
                <a:sym typeface="Calibri"/>
              </a:rPr>
              <a:t>Up to 90% infra-cost reduction vs. pure RAM provisioning  ·  ~10K ops/sec/core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663440" y="1051560"/>
            <a:ext cx="406908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663440" y="1051560"/>
            <a:ext cx="54864" cy="237744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828032" y="112471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Decision matrix  —  when to choose which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9"/>
          <p:cNvGraphicFramePr/>
          <p:nvPr/>
        </p:nvGraphicFramePr>
        <p:xfrm>
          <a:off x="4828032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{AB1ED90E-E0F1-4CD5-A14D-AD2DB827000F}</a:tableStyleId>
              </a:tblPr>
              <a:tblGrid>
                <a:gridCol w="1143000"/>
                <a:gridCol w="2651750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3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when…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3341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Redis 8.x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 + session + vectors already on Redis  ·  sub-ms p99 latency demands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Pinecone (SaaS)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Zero-ops, multi-tenant, spiky workloads  ·  isolated AI stack acceptable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Milvus / Weaviate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Tens of billions of vectors  ·  GPU-accelerated  ·  dedicated platform team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 + pgvector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475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A47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OLTP workload  ·  small-to-medium vector sets in same DB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D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9"/>
          <p:cNvSpPr/>
          <p:nvPr/>
        </p:nvSpPr>
        <p:spPr>
          <a:xfrm>
            <a:off x="457200" y="3611880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57200" y="3611880"/>
            <a:ext cx="54864" cy="1188720"/>
          </a:xfrm>
          <a:prstGeom prst="rect">
            <a:avLst/>
          </a:prstGeom>
          <a:solidFill>
            <a:srgbClr val="5A66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21792" y="36850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3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63341"/>
                </a:solidFill>
                <a:latin typeface="Calibri"/>
                <a:ea typeface="Calibri"/>
                <a:cs typeface="Calibri"/>
                <a:sym typeface="Calibri"/>
              </a:rPr>
              <a:t>Cluster sharding behaviour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21792" y="395935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75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756"/>
                </a:solidFill>
                <a:latin typeface="Calibri"/>
                <a:ea typeface="Calibri"/>
                <a:cs typeface="Calibri"/>
                <a:sym typeface="Calibri"/>
              </a:rPr>
              <a:t>Up to 1,000 nodes via Redis Cluster.  Writes (VADD/VREM) scale linearly via consistent hashing. Reads (VSIM) require scatter-gather across all shards — every shard returns its local top-K, the proxy merges. Plan shard counts carefully.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663440" y="3611880"/>
            <a:ext cx="4069080" cy="1188720"/>
          </a:xfrm>
          <a:prstGeom prst="rect">
            <a:avLst/>
          </a:prstGeom>
          <a:solidFill>
            <a:srgbClr val="163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846320" y="36850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FF1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CFF1E"/>
                </a:solidFill>
                <a:latin typeface="Calibri"/>
                <a:ea typeface="Calibri"/>
                <a:cs typeface="Calibri"/>
                <a:sym typeface="Calibri"/>
              </a:rPr>
              <a:t>VectorDBBench results  (Recall ≥ 0.98)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846320" y="3977640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+62% throughput </a:t>
            </a: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vs. #2 on deep-image-96-angular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+21% throughput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vs. #2 on dbpedia-openai-1M-angular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320040" y="49194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Redis as a Vector Database  ·  Architecting for Real-Time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7955280" y="49194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5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A95A4"/>
                </a:solidFill>
                <a:latin typeface="Calibri"/>
                <a:ea typeface="Calibri"/>
                <a:cs typeface="Calibri"/>
                <a:sym typeface="Calibri"/>
              </a:rPr>
              <a:t>7 / 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34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loquent-friendly-cori/mnt/outputs/assets/redis_logo_trimmed.png" id="278" name="Google Shape;2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02920"/>
            <a:ext cx="182880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/>
          <p:nvPr/>
        </p:nvSpPr>
        <p:spPr>
          <a:xfrm>
            <a:off x="548640" y="13258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48640" y="17830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FF1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CFF1E"/>
                </a:solidFill>
                <a:latin typeface="Calibri"/>
                <a:ea typeface="Calibri"/>
                <a:cs typeface="Calibri"/>
                <a:sym typeface="Calibri"/>
              </a:rPr>
              <a:t>Architecting Redis as the unified real-time AI data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48640" y="2240280"/>
            <a:ext cx="3931920" cy="10058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713232" y="240487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713232" y="2404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325880" y="23317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Unify the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325880" y="265176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Eliminate the standalone-vector-DB trap.  Cache, session and vectors share one in-memory address space.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663440" y="2240280"/>
            <a:ext cx="3931920" cy="10058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4828032" y="240487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828032" y="2404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440680" y="233172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 8 is the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440680" y="265176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Vector Sets, JSON and Search are now in the core — −87% latency, +144% QPS, native ACLs.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48640" y="3429000"/>
            <a:ext cx="3931920" cy="10058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713232" y="35935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713232" y="3593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325880" y="35204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the right ANN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325880" y="384048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FLAT for tiny datasets, HNSW for production, SVS-VAMANA for billion-scale memory savings.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663440" y="3429000"/>
            <a:ext cx="3931920" cy="10058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4828032" y="35935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828032" y="3593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440680" y="35204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TCO wins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440680" y="384048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3DD"/>
                </a:solidFill>
                <a:latin typeface="Calibri"/>
                <a:ea typeface="Calibri"/>
                <a:cs typeface="Calibri"/>
                <a:sym typeface="Calibri"/>
              </a:rPr>
              <a:t>Redis Flex tiering + Semantic Cache often pay for the entire cluster.  Start there tomorrow.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F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548640" y="4663440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   ·   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572000" y="4663440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docs.redisvl.com  ·  redis.io/blog  ·  github.com/redis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