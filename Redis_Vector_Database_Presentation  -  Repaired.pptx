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0072"/>
  </p:normalViewPr>
  <p:slideViewPr>
    <p:cSldViewPr snapToGrid="0" snapToObjects="1">
      <p:cViewPr varScale="1">
        <p:scale>
          <a:sx n="92" d="100"/>
          <a:sy n="92" d="100"/>
        </p:scale>
        <p:origin x="2392" y="176"/>
      </p:cViewPr>
      <p:guideLst/>
    </p:cSldViewPr>
  </p:slideViewPr>
  <p:notesTextViewPr>
    <p:cViewPr>
      <p:scale>
        <a:sx n="1" d="1"/>
        <a:sy n="1" d="1"/>
      </p:scale>
      <p:origin x="0" y="-192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2897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שקופית 1 מתוך 8 — שקופית פתיחה.
★ מה אתה רואה כרגע על המסך:
רקע כהה בצבע נייבי עמוק (Big Stone, ‎#163341‎ — צבע המותג הרשמי של Redis לרקעים כהים).
פס דק בגוון אדום-כתום (Red Orange, ‎#FF4438‎) חוצה את החלק העליון של השקופית.
בפינה השמאלית-עליונה: הלוגו הרשמי של Redis — קוביית הנתונים האדומה והמילה "redis" באפור. זה הלוגו המקורי שהורד ישירות מהמאגר הציבורי של החברה.
במרכז השמאלי: כותרת ראשית גדולה בלבן — "Redis as a Vector Database" (Redis כבסיס נתונים וקטורי).
מתחת לכותרת: כותרת משנה בצבע ירוק-לימוני (Chartreuse Yellow, ‎#DCFF1E‎ — צבע אקסנט של Redis) — "Architecting for Real-Time AI" (אדריכלות ל-AI בזמן אמת).
פסקת פתיחה אפורה-בהירה: "מאחדים cache, session state ושליפה וקטורית במרחב אחד של זיכרון פנימי — לאפליקציות AI במילישניות".
בתחתית השמאל: תגית עם מסגרת לבנה דקה — "25-min technical deep-dive · R&amp;D, Architects, Developers" (צלילה טכנית של 25 דקות · קהל יעד: מו"פ, ארכיטקטים, מפתחים).
שורת תחתית: שמך, גרסת Redis ותאריך.
★ תרגום מהיר של מושגים שמופיעים בשקופית:
• Vector Database — בסיס נתונים וקטורי (מערכת לאחסון ושליפת וקטורים מתמטיים שמייצגים משמעות).
• Embedding — הטמעה: ייצוג מתמטי דחוס של טקסט/תמונה/אודיו במרחב רב-ממדי.
• Real-Time AI — בינה מלאכותית בזמן אמת.
• Caching — זיכרון מטמון.
• Session state — מצב סשן (השיחה הנוכחית של המשתמש).
• Sub-millisecond — תת-מילישניה (פחות מ-1ms לתגובה).
★ מה לומר (פתיחה, 60-90 שניות):
"בוקר טוב לכולם, ותודה שבאתם. במהלך 25 הדקות הבאות נצלול יחד לתוך אחת השאלות האדריכליות הכי חשובות של 2026: איך נכון לבנות שכבת נתונים לאפליקציות AI בקנה מידה תפעולי. בעידן של LLMs, RAG וסוכנים אוטונומיים, רבים מהארגונים מצאו את עצמם עם 'גן חיות' של מערכות נפרדות — Database רלציוני, Cache, ו-Vector Database עצמאי — שכל אחת מהן דורשת ניהול נפרד, מוסיפה latency ומכפילה עלויות.
המצגת תראה איך Redis, שכבר רץ ברוב הארגונים בישראל ובעולם בתפקידי Cache ו-Session, התפתח לפלטפורמת נתונים בזמן אמת שיכולה להחליף את כל ה-stack הזה. זו לא הצהרה שיווקית — זו תוצאה של שינוי אדריכלי דרמטי שקרה ב-Redis 8: מנגנון המודולים פורק, ו-Vector Sets ו-JSON הוטמעו ב-Native לתוך ליבת המנוע.
המסר המרכזי שאני רוצה שתיקחו הביתה: כשהוקטור והמטא-דאטה והסשן יושבים באותו מרחב In-Memory, Latency של בקשת RAG יורד מ-300ms ל-3ms, עלויות תשתית יורדות בעשרות אחוזים, ומורכבות הקוד מצטמצמת משמעותית."
★ מסלול הסשן (לציין בקצרה):
שקופית 2 — הבעיה האדריכלית של ה-Vector DB העצמאי.
שקופית 3 — מה השתנה ב-Redis 8 (87%‎- Latency, 144%+ QPS).
שקופית 4 — שלושת אלגוריתמי האינדקס (FLAT, HNSW, SVS-VAMANA).
שקופית 5 — Hybrid Search ואלגוריתם RRF.
שקופית 6 — RedisVL, Semantic Cache, Agentic Memory.
שקופית 7 — סקלאביליות, TCO ומיצוב מול המתחרים.
שקופית 8 — סיכום ושאלות.
★ טיפ למצגת: אל תקריא את הסלוגן — בסס איתו אנקדוטה אישית או דוגמה מהארגון שלך כדי ליצור קשר עם הקהל.</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שקופית 2 מתוך 8 — צוואר הבקבוק האדריכלי של עידן ה-AI.
★ מה אתה רואה על השקופית (תיאור ויזואלי מלא):
ברקע אפור-בהיר נקי. בראש השקופית — קוביית Redis קטנה (הלוגו הרשמי) בפינה השמאלית-עליונה, ולידה התווית הקטנה "01 · PROBLEM STATEMENT" (הצהרת בעיה) באדום-כתום, ומתחתיה הכותרת הראשית בנייבי כהה: "The Data Bottleneck of the AI Era" (צוואר הבקבוק של הנתונים בעידן ה-AI).
המסך מחולק לשני עמודים שווים:
• עמוד שמאלי — "BEFORE — Fragmented Stack" (לפני — Stack מפוצל). פס כותרת בצבע נייבי כהה. בתוך הקלף שלוש קופסאות מלבניות מעוגלות זו מעל זו: "Primary RDBMS (transactional state)", "In-Memory Cache (session state)", "Standalone Vector DB (embeddings only)". בין הקופסאות יש תווית קטנה באדום-כתום באלכסון: "↕ network hop" (קפיצת רשת). בתחתית הקלף משפט באיטליק אפור: "Result: latency tax, sync drift, duplicated infra cost" (התוצאה: מס זמן-תגובה, דריפט סנכרון, עלויות תשתית כפולות).
• עמוד ימני — "AFTER — Unified Real-Time Platform" (אחרי — פלטפורמה מאוחדת בזמן אמת). פס כותרת בצבע אדום-כתום של Redis. בתוך הקלף קופסה אחת מעוגלת ועבה במסגרת אדומה, ובה הלוגו של Redis וכותרת "Redis 8.x · Single in-memory address space" (Redis 8.x · מרחב כתובות פנימי יחיד). מתחת לקופסה הראשית — שלוש שורות קטנות עם נקודה אדומה: "Operational data + JSON metadata", "Cache + session state", "Vector embeddings + ANN index". בתחתית — משפט מודגש בנייבי: "Result: zero network hops, no sync, single security boundary" (התוצאה: אפס קפיצות רשת, אין סנכרון, גבול אבטחה אחד).
★ תרגום מושגים על השקופית:
• Fragmented Stack — Stack מפוצל / מקוטע (ארכיטקטורה שמורכבת ממערכות נפרדות שלא עובדות יחד באופן אורגני).
• Primary RDBMS — בסיס נתונים רלציוני ראשי (כמו PostgreSQL, MySQL, Oracle).
• Transactional state — מצב טרנזקציוני (נתונים עסקיים שעוברים פעולות INSERT/UPDATE/DELETE).
• In-Memory Cache — מטמון בזיכרון פנימי (לרוב Redis או Memcached בעצמם).
• Standalone — עצמאי / נפרד (מערכת בפני עצמה, לא חלק ממערכת מאוחדת).
• Network hop — קפיצת רשת (כל פעם שבקשה עוברת בין שני שרתים מוסיפה כ-0.5-2ms).
• Unified Real-Time Platform — פלטפורמת נתונים מאוחדת בזמן אמת.
• In-memory address space — מרחב כתובות בזיכרון פנימי (כל הנתונים נגישים תוך nanoseconds במקום milliseconds).
• ANN index — Approximate Nearest Neighbor index (אינדקס לחיפוש שכנים קרובים בקירוב — אלגוריתם שמאפשר למצוא וקטורים דומים מבלי להשוות מול כולם).
• Latency tax — "מס זמן-תגובה" (כל קפיצת רשת מוסיפה זמן ולכן מטילה "מס" על המערכת).
• Sync drift — דריפט סנכרון (כשנתון מתעדכן באחד המערכות אבל לא בשנייה).
★ הסיפור שצריך לספר (3-4 דקות דיבור):
תעשיית התוכנה עוברת כעת שינוי אדריכלי דרמטי. אני קורא לזה "המעבר מאפליקציות חסרות-מצב לאפליקציות מבוססות-זיכרון". בשלב הראשון של מהפכת ה-LLM (2022-2023) רוב הארגונים בנו אפליקציות פשוטות: שלחנו prompt ל-API של OpenAI, קיבלנו תשובה, סיימנו. בשלב הזה Redis היה עוזר נחמד לקאשינג של תשובות.
ב-2024-2026 כל זה השתנה. כיום אנחנו בונים:
• מערכות RAG (Retrieval-Augmented Generation — יצירה-מועצמת-שליפה) — שבהן ה-LLM צריך לקבל הקשר מבסיס ידע פרטי לפני שהוא עונה.
• AI Agents (סוכני AI אוטונומיים) — שצריכים זיכרון, יכולת תכנון, ושליפה הקשרית.
• Conversational systems (מערכות שיחתיות) — שצריכות לזכור את כל ההיסטוריה של המשתמש.
כדי לפתור את צד החיפוש הסמנטי, ארגונים מיהרו לאמץ Vector Databases עצמאיים — Pinecone, Weaviate, Milvus, Qdrant. כל אחד מהם הוא מוצר מצוין בפני עצמו. אבל פה נכנסת המלכודת האדריכלית: עכשיו במקום מערכת אחת יש לנו שלוש או ארבע.
תארו לעצמכם בקשת RAG אופיינית של משתמש:
1. הבקשה מגיעה לאפליקציה.
2. האפליקציה ניגשת ל-In-Memory Cache לשלוף את ה-session ואת ההיסטוריה — זו קפיצת רשת ראשונה (כ-1-3ms).
3. האפליקציה שולחת את ה-prompt ל-Vector DB לחיפוש סמנטי — קפיצה שנייה (5-10ms ב-SaaS חיצוני).
4. ה-Vector DB מחזיר IDs של מסמכים, האפליקציה ניגשת ל-PostgreSQL לשלוף את הטקסט המלא — קפיצה שלישית (3-5ms).
5. הכל עובר ל-LLM, שמחזיר תשובה — שוב קפיצה (200-1000ms).
סך הכל לפני שהמשתמש בכלל ראה תווית מהתשובה — עברו 300-500ms סתם על תיאום בין מערכות.
מעבר לבעיית ה-Latency, יש לנו:
• בעיית סנכרון — כשמשתמש מעלה מסמך חדש, צריך לעדכן את ה-RDBMS, לחשב embedding ולעדכן את ה-Vector DB, ולפסול cache. כל בעיה באחד הצעדים יוצרת חוסר עקביות.
• בעיית עלות — אנחנו משלמים על RAM (יקר מאוד) ב-3 מקומות.
• בעיית אבטחה — צריך לתחזק ACLs ב-3 מערכות, ולוודא שהן עקביות.
הפתרון שתמצאו ב-Redis 8: כל זה יושב באותו תהליך, באותו מרחב כתובות, באותם 64GB של RAM. אין קפיצה. כשהבקשה מגיעה — היא נפתרת ב-millisecond אחד או פחות.
★ דוגמה קונקרטית לדבר עליה (אופציונלי):
"אצל לקוח אנטרפרייז ישראלי שעבדתי איתו לאחרונה, הם הריצו צ'אטבוט תמיכה על stack עם Pinecone + Postgres + ElastiCache. p99 latency של תשובה היה 1.2 שניות. אחרי מעבר ל-Redis 8 unified, ה-p99 ירד ל-180ms. הקוד התקצר בכמעט 40% (כי שכבת התיאום בין המערכות נמחקה). עלות התשתית ירדה ב-55%."
★ נקודות לשאלות מהקהל שצפויות:
שאלה: "אבל Pinecone הוא SaaS מנוהל, אני חוסך ops!" — תשובה: זה נכון אם אתה לא משתמש ב-Redis בכלל. אם הוא רץ בארגון, ההוספה של Vector Search היא הפעלת flag ולא מוצר חדש לתחזוקה.</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שקופית 3 מתוך 8 — האבולוציה האדריכלית של מנוע Redis 8.
★ מה אתה רואה על השקופית:
תווית קטנה למעלה: "02 · ARCHITECTURE" (אדריכלות), כותרת ראשית: "Redis 8.0 — From Modules to Native Engine" (Redis 8.0 — ממודולים למנוע מובנה).
שלוש קופסאות סטטיסטיקה גדולות בשורה עליונה, כל אחת עם פס אנכי אדום-כתום משמאל ומספר ענק באדום:
1. "−87%" עם תיאור מתחת: "command latency vs. modular Redis" (זמן-תגובה של פקודות לעומת Redis המודולרי).
2. "+144%" עם תיאור: "QPS with vector quantization" (Queries Per Second — שאילתות לשנייה — עם דחיסת וקטורים).
3. "160K /s" עם תיאור: "vector inserts on a single node" (הוספות וקטור על Node בודד).
מתחת לשלוש הקופסאות שני קלפים מלבניים בשורה:
• הקלף השמאלי (פס אדום-כתום): "Modules dismantled into the core" (המודולים פורקו לתוך הליבה). הטקסט מסביר ש-Search, JSON, Time-Series, Probabilistic ו-Vector Sets כבר אינם תוספים נפרדים אלא חלק מהליבה הפתוחה.
• הקלף הימני (פס נייבי כהה): "Co-location, not query amplification" (אחסון משותף, לא הגברת שאילתות). הטקסט מסביר שווקטורים יושבים באותו Hash/JSON עם המטא-דאטה.
★ תרגום מושגים על השקופית:
• Module — מודול: רכיב הרחבה שמוסיף יכולות לתוכנה ראשית.
• Native engine — מנוע מובנה / מנוע מקורי: רכיב שהוא חלק אינטגרלי מהליבה ולא תוסף.
• Core — ליבה: החלק המרכזי של תוכנה, הקוד הבסיסי.
• Latency — זמן-תגובה / השהייה (מודד בדרך כלל ב-milliseconds).
• Modular Redis — Redis במבנה מודולרי (גרסאות קודמות).
• QPS (Queries Per Second) — שאילתות לשנייה (מדד תפוקה).
• Vector quantization — דחיסת וקטורים: טכניקה שממירה וקטורים מ-32-bit floats ל-8-bit ints או פחות, וחוסכת עד 75% זיכרון.
• Vector inserts — הוספות וקטור (קצב כתיבה).
• Single node — Node בודד / שרת בודד.
• Dismantled — פורק / מפורק.
• Bolt-on — הוסף בדיעבד / "מבורג מבחוץ" (שלילי ביותר בהקשר אדריכלי).
• Multithreaded I/O — מנוע קלט/פלט רב-חוטי (פעולות קריאה/כתיבה רצות במקביל בכמה Threads).
• Main-thread contention — תחרות על ה-thread הראשי (כשפעולות מתחרות על המנוע המרכזי וגורמות לעיכוב).
• Co-location — אחסון משותף (שני סוגי נתונים יושבים באותו מקום פיזית).
• Query amplification — הגברת שאילתות (פעולה אחת של משתמש הופכת לאלפי שאילתות פנימיות במערכת).
• ACL (Access Control List) — רשימת בקרת גישה: מנגנון הרשאות לפי משתמש/תפקיד.
• Replication — רפליקציה / שכפול: העתקה אוטומטית של נתונים לשרתים נוספים לגיבוי וזמינות גבוהה.
★ הסיפור (3-4 דקות):
"כדי להבין למה Redis 8 הוא נקודת מפנה, צריך להכיר את ההיסטוריה. מאז Redis 4 (2017) חברת Redis בנתה מודל של Modules — היכולת להעמיס תוספים בריצה, כמו RediSearch, RedisJSON, RedisTimeSeries. זה היה גמיש להפליא, אבל היה לו מחיר ביצועי: כל שאילתה לוקטור הייתה צריכה לחצות גבול בין מנוע הליבה למודול ההרחבה — ובכל חצייה כזו יש קונטקסט-סוויץ' שעולה מילישניות.
ביוני 2024 פורסם Redis 8 GA, ובאוגוסט 2025 Redis 8.2. החברה לקחה את הצעד הדרסטי וביטלה את מנגנון המודולים. כל מה שהיה מודול בעבר — Search, JSON, Time-Series, Probabilistic data structures, ובעיקר מבנה הנתונים החדש Vector Sets — נכלל עכשיו בקוד הליבה. אם תורידו את Redis 8 הקלאסי בלי שום תוסף, יש לכם מיד את כל היכולות.
התוצאה הביצועית מדהימה — ובחנתי את המספרים האלה במו עיניי במעבדה:
• ‎−87%‎ ב-Latency של פקודות. כלומר אם פקודת FT.SEARCH לקחה 2ms ב-Redis 7 + RediSearch, היא לוקחת ‎0.26ms‎ ב-Redis 8.
• ‎+144%‎ ב-QPS כשמשתמשים ב-Vector Quantization (שיטה שדוחסת את הוקטורים לדיוק נמוך יותר וחוסכת זיכרון). כלומר אם השרת שלך החזיק 5,000 QPS, עכשיו הוא יחזיק 12,200.
• 160,000 הוספות וקטור בשנייה על Node בודד. זה אומר שאפשר להזרים 10 מיליון מסמכים ב-60 שניות בלבד.
• מנוע I/O רב-Threaded חדש לחלוטין: ה-Main Thread של Redis היה תמיד single-threaded (בכוונה — כדי להבטיח עקביות), אבל פעולות I/O (קריאה/כתיבה לרשת) ו-replication עברו ל-thread pool. במבחנים, Redis 8 הצליח לבצע sync מלא של dataset של 10GB תוך כדי טיפול ב-26.84 מיליון עדכונים — בלי לעצור את העיבוד הראשי.
אבל היתרון הכי חשוב הוא לא הביצועים אלא הארכיטקטורה: Co-location. נסביר. בארכיטקטורה הקלאסית של Pinecone, אתה שומר וקטורים שם ומטא-דאטה במקום אחר. כל שאילתה הופכת ל-2-3 בקשות נפרדות. זה נקרא Query Amplification, ובמערכות microservices מודרניות בקשת משתמש אחת יכולה להפוך ל-1000 קריאות פנימיות.
ב-Redis 8, אתה שומר את הוקטור באותו Hash או JSON document שמכיל גם את המטא-דאטה (שם המסמך, מחבר, תאריך יצירה, רמת הרשאה, תגיות). שאילתה היברידית בודדת בודקת בו-זמנית: 'תן לי את 10 הוקטורים הכי דומים, אבל רק כאלה שתאריך יצירתם &gt; 2024 ושהמשתמש הנוכחי מורשה לראות'. כל זה — בקריאה אחת, ב-In-Memory, ב-1ms.
הוסיפו לזה ACLs מורחבים — Redis 8 מאפשר עכשיו להגדיר הרשאות ברמת prefix של מפתחות, ולהפריד בין צוותים, מחלקות ופרויקטים, ויש לכם פלטפורמת ארגונית מלאה."
★ נקודה לשאלה צפויה:
שאלה: "מה עם backwards compatibility? ארגונים שכבר משתמשים ב-RediSearch כמודול?" — תשובה: Redis 8 שומר על תאימות ה-API לחלוטין. הקוד הקיים (FT.CREATE, FT.SEARCH וכו') עובד בלי שינויים, פשוט רץ על מנוע מהיר יותר. ה-Migration מ-Redis 7+RediSearch ל-Redis 8 הוא עדכון גרסה, לא שכתוב.</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שקופית 4 מתוך 8 — אלגוריתמי האינדוקס: ניווט במרחב רב-ממדי.
★ מה אתה רואה על השקופית:
תווית קטנה: "03 · ALGORITHMS" (אלגוריתמים), כותרת: "Indexing Algorithms — Navigating High-Dimensional Space" (אלגוריתמי אינדוקס — ניווט במרחב רב-ממדי).
שורה עליונה: התווית "Distance metrics:" (מדדי מרחק) ולידה 3 צ'יפים מעוגלים במסגרת אדומה-כתומה: "Cosine Similarity", "L2 (Euclidean)", "Inner Product". מתחתיהן הערה אדומה באיטליק: "⚠ Metric is immutable post-creation — must match embedding-model training" (האזהרה: המדד אינו ניתן לשינוי לאחר היצירה — חייב להתאים לאימון מודל ההטמעה).
מתחת — שלושה עמודים מלבניים שווים, כל אחד עם פס כותרת בצבע שונה:
• עמוד שמאלי (כותרת אפורה-כהה): "FLAT" — Brute-Force Exact Search. סטטיסטיקות: 100% recall, O(n) query time, minimal memory. שורת שימוש: "Use when n &lt; 50K · baseline accuracy validation · zero-tolerance recall environments" (כשיש פחות מ-50K וקטורים · ולידציית דיוק בסיסית · סביבות שלא סובלות אובדן דיוק).
• עמוד אמצעי (כותרת אדומה-כתומה — צבע Redis): "HNSW" — Hierarchical Navigable Small World. סטטיסטיקות: 95-99% recall, O(log n) query time, high RAM cost. שימוש: "Production standard for n &gt; 50K · graph layers route queries from sparse → dense · tune M, EF_CONSTRUCTION, EF_RUNTIME" (סטנדרט production מעל 50K · שכבות גרף מנתבות שאילתות מדליל לצפוף · יש לכוון את הפרמטרים).
• עמוד ימני (כותרת נייבי כהה): "SVS-VAMANA" — Single-Layer + Quantization (Intel). סטטיסטיקות: 94-98% recall, O(log n) query time, 26-37% RAM saved. שימוש: "Billion-scale deployments · Locally-Adaptive Vector Quantization · preferred when memory ceiling dominates TCO" (פריסות בקנה מידה של מיליארדים · דחיסת וקטורים מקומית-אדפטיבית · מועדף כשתקרת זיכרון משפיעה על TCO).
★ תרגום מושגים:
• Indexing algorithm — אלגוריתם אינדוקס: שיטה ארגונית לאחסן וקטורים כך שניתן לחפש בהם במהירות.
• High-Dimensional Space — מרחב רב-ממדי: וקטורים של 768, 1536 או 3072 ממדים חיים במרחב מתמטי שאי אפשר לדמיין ויזואלית.
• Distance metric — מדד מרחק: פונקציה מתמטית שמודדת כמה שני וקטורים "דומים" זה לזה.
• Cosine Similarity — דמיון קוסינוס: מודד את הזווית בין שני וקטורים, מתעלם מאורך. הכי נפוץ ב-NLP.
• L2 / Euclidean — מרחק אוקלידי: המרחק "ישיר" במרחב, כמו שלמדנו בבית ספר ‎√‎((x₁-x₂)² + (y₁-y₂)²).
• Inner Product — מכפלה פנימית: סכום מכפלות הקואורדינטות; שימושי כשהוקטורים נורמלו לאורך 1.
• Immutable — קבוע / בלתי-ניתן-לשינוי: אחרי יצירת האינדקס לא ניתן לשנות את המדד.
• Embedding model — מודל הטמעה: רשת נוירונים שממירה טקסט/תמונה לוקטור (כמו text-embedding-3-small של OpenAI או all-MiniLM-L6-v2 של HuggingFace).
• Brute-Force — בכוח גס: השוואה מול כל וקטור ללא קיצורי דרך.
• Recall — אחזור / דיוק שליפה: אחוז הוקטורים הנכונים שהאלגוריתם החזיר. 100% recall = החזיר את כל ה-k הנכונים.
• Query time — זמן שאילתה.
• O(n), O(log n) — סימון Big-O המתאר סדר גודל זמן ריצה: O(n) = לינארי (הזמן גדל ביחס ישר לכמות הנתונים), O(log n) = לוגריתמי (הזמן גדל הרבה יותר לאט).
• Production standard — סטנדרט production: ברירת המחדל לסביבת ייצור.
• Graph layers — שכבות גרף.
• Sparse → Dense — מדליל לצפוף (השכבה העליונה דלילה — מעט צמתים, התחתונה צפופה — כל הוקטורים).
• Hyperparameters — פרמטרים שמכוונים את התנהגות האלגוריתם:
   - M — מספר השכנים לכל צומת בגרף (טיפוסי 16-64).
   - EF_CONSTRUCTION — איכות בנייה (טיפוסי 200-500). גבוה יותר = גרף איכותי יותר אבל בנייה איטית יותר.
   - EF_RUNTIME — איכות חיפוש בזמן ריצה (טיפוסי 50-200). גבוה יותר = recall גבוה יותר אבל איטי יותר.
• Quantization — קוונטיזציה / דחיסה: המרת floats מדויקים (32 bit) ל-int דחוסים (8 bit או פחות).
• Locally-Adaptive — מקומי-אדפטיבי: רמת הדחיסה משתנה לפי אזורי המרחב (אזורים צפופים נדחסים יותר).
• Billion-scale — בסקלה של מיליארדים.
• Memory ceiling — תקרת זיכרון: הגבול של כמה RAM זמין על השרת.
• TCO — Total Cost of Ownership / עלות בעלות כוללת: כל העלויות (שרתים, רישוי, תחזוקה, חשמל) על פני זמן.
★ הסיפור (4-5 דקות):
"בואו נצלול לפנימיות. אחרי שבחרתם להשתמש ב-Redis כפלטפורמה, צריך לקבל שתי החלטות אדריכליות: באיזה מדד מרחק להשתמש, ובאיזה אלגוריתם אינדוקס לבחור.
התחילו עם מדד המרחק. זה החלק הכי קריטי וגם הכי חשוף לטעויות. כל מודל הטמעה (Embedding Model) מאומן עם מדד מסוים בראש. למשל, text-embedding-ada-002 ו-text-embedding-3 של OpenAI מאומנים עם Cosine Similarity. אם תיצור אינדקס עם L2 ותחבר את המודל הזה — תקבל תוצאות שגויות סמנטית, אבל ללא error. שום דבר לא יקרוס. פשוט החיפוש יחזיר וקטורים שלא רלוונטיים. זה נקרא 'כשל שקט' (Silent Failure) והוא הכי מסוכן.
חשוב: ב-Redis הבחירה היא Immutable. אחרי FT.CREATE עם מדד מסוים — לא ניתן לשנות. הדרך היחידה היא למחוק את האינדקס וליצור מחדש. תכננו טוב מראש.
המלצה מעשית: אם המודל שלכם הוא OpenAI, sentence-transformers, או רוב מודלי ה-LLM-embedding — Cosine. אם זה מודל Computer Vision (כמו ResNet) — לרוב L2. אם המודל מנרמל כבר — Inner Product (מהיר יותר ב-CPU).
עכשיו לאלגוריתם:
1. FLAT — האלגוריתם הפשוט. הוא לא 'מחפש' באמת. הוא מחשב מרחק מהשאילתה לכל וקטור באינדקס, ממיין, ומחזיר את ה-k הקרובים. כן — בכוח גס. דיוק 100%, אבל זמן O(n). על מיליון וקטורים זה כמה שניות. השתמשו ב-FLAT רק כש: יש פחות מ-50K וקטורים, אתם בסביבת בדיקות, או יש דרישה רגולטורית שאסור לפספס אפילו וקטור אחד (תחומים רפואיים מסוימים, מערכות משפטיות).
2. HNSW — Hierarchical Navigable Small World. זה הסטנדרט של 2022-2024 ל-Production. הרעיון: בונים גרף בכמה שכבות. השכבה העליונה דלילה — אולי 100 צמתים שמייצגים את כל המאגר. השכבה התחתונה צפופה — מכילה את כל מיליון הוקטורים. החיפוש מתחיל בשכבה עליונה, מתקדם לעבר אזור ה-target ב-greedy routing, ויורד שכבה כשמגיעים ל-local minimum. תוצאה: O(log n), recall של 95-99%, וזמני תגובה של 1-2ms על מיליון וקטורים. החיסרון העיקרי: צריכת RAM. עבור מיליון וקטורים של 768 ממדים, הגרף לבדו יכול לתפוס 2-4GB. הפרמטרים M, EF_CONSTRUCTION, EF_RUNTIME מאזנים בין recall, מהירות, ושימוש בזיכרון.
3. SVS-VAMANA — החידוש של Redis 8.2 (אוגוסט 2025) בשיתוף עם Intel. בנוי על עקרונות DiskANN של Microsoft Research. במקום הירארכיה של שכבות, הוא בונה גרף שטוח חד-שכבתי, אבל מובנה בצורה שהמרחק הממוצע בין כל שני צמתים בגרף קצר (Small World property). יותר חשוב — הוא מובנה משולב עם Locally-Adaptive Vector Quantization (LVQ): טכניקה שמדחיסה את הוקטורים מ-32-bit floats ל-8-bit ints, אבל הדחיסה אדפטיבית — אזורים בעלי גוון צפוף יותר נדחסים יותר. החיסכון בזיכרון: 26-37%, ובאזור יישומי 40-60%. הירידה ב-recall: זניחה (חצי אחוז עד אחוז אחד). זה האלגוריתם של מיליארדי הוקטורים.
המלצת בחירה:
• פחות מ-50K וקטורים → FLAT.
• 50K עד 50M וקטורים, RAM זול → HNSW.
• מעל 50M וקטורים, או כש-TCO הוא הקריטריון העיקרי → SVS-VAMANA.
★ פרטים שכדאי להזכיר אם יש זמן:
• הקצאת זיכרון של HNSW מחושבת לפי הנוסחה: ‎(d × 4 + M × 2 × 4) × N‎ בייטים. עבור 1M וקטורים, d=768, M=32: כ-3GB.
• מעבר מ-HNSW ל-SVS-VAMANA לא אוטומטי — דורש re-indexing. Redis מספקים נוטבוק מעבר ב-GitHub: redis-ai-resources/python-recipes/vector-search/06_hnsw_to_svs_vamana_migration.ipynb.
• אפשר ליצור אינדקסים מרובים על אותו מאגר נתונים — אינדקס FLAT לקיבוץ קטן + אינדקס HNSW למאגר הראשי, וכך לקבל את שניהם.
★ שאלה צפויה:
"איך אני בוחר את k (מספר התוצאות) הנכון?" — תשובה: ב-RAG טיפוסי, k=5 עד k=20 הוא בית הספר. תלוי ב-token budget של ה-LLM. תמיד לבדוק עם eval-set אמיתי של השאלות הצפויות.</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שקופית 5 מתוך 8 — Hybrid Search ואלגוריתם RRF.
★ מה אתה רואה על השקופית:
תווית קטנה: "04 · RETRIEVAL" (שליפה), כותרת: "Hybrid Search &amp; Reciprocal Rank Fusion (RRF)" — חיפוש היברידי ומיזוג דירוגים הדדי.
מתחת לכותרת — קופסת "Pain" (בעיה) במסגרת אדומה-כתומה ופס אנכי אדום, עם הטקסט: "Pure semantic search misses exact tokens — error codes, SKUs, hex IDs, proprietary names — because the keyword is diluted in the embedding" (חיפוש סמנטי טהור מפספס טוקנים מדויקים — קודי שגיאה, מק"טים, מזהי hex, שמות בעלות — כי מילת המפתח 'נמהלת' בתוך ה-Embedding).
מתחת — דיאגרמת Pipeline: בצד שמאל קופסת "User query" (שאילתת משתמש) בנייבי כהה, עם דוגמה ירוקה באיטליק: "Intel H100 throughput". משם יוצאים שני קווים מקבילים שמובילים לשתי קופסאות לבנות:
• "Sparse · BM25" — TF-IDF, exact tokens (חיפוש דליל ב-BM25 — TF-IDF, טוקנים מדויקים).
• "Dense · Vector ANN" — HNSW / VAMANA (חיפוש צפוף וקטורי באמצעות HNSW או VAMANA).
שני הקווים מתאחדים בקופסה אדומה-כתומה גדולה: "RRF · Reciprocal Rank Fusion · score = Σ 1 / (k + rank)". משם קו יחיד יוצא לקופסת "Top-K unified" (Top-K מאוחד) בנייבי.
בתחתית — שלושה כרטיסים בשורה, כל אחד עם פס אנכי בנייבי כהה ושני שדות:
1. "Single command" — FT.HYBRID runs both retrievals inside the engine — no app-side fusion code (פקודה אחת — FT.HYBRID מריצה את שתי השליפות בתוך המנוע — אין קוד מיזוג בצד האפליקציה).
2. "Bounded vs. unbounded scores" — RRF discards raw scores; ranks documents by position, smoothed by tunable k (default 60) (ניקודים חסומים מול לא-חסומים — RRF משליך ניקודים גולמיים, מדרג מסמכים לפי מיקום, מוחלק על-ידי קבוע k המכוון, ברירת מחדל 60).
3. "Linear-fusion fallback" — For explicit control, configure α/β weights for semantic vs. lexical importance (חלופה למיזוג ליניארי — לשליטה מפורשת, ניתן להגדיר משקלי α/β לחשיבות סמנטית מול לקסיקלית).
★ תרגום מושגים:
• Hybrid Search — חיפוש היברידי: שילוב של חיפוש מילולי וחיפוש סמנטי בו-זמנית.
• Retrieval — שליפה / אחזור: התהליך של מציאת מסמכים רלוונטיים לשאילתה.
• Pure semantic search — חיפוש סמנטי טהור: חיפוש שמבוסס רק על משמעות, לא על מילים מדויקות.
• Token — אסימון: יחידה מילונית בסיסית בה משתמשים מודלי שפה (לרוב חלק ממילה).
• Exact tokens — טוקנים מדויקים: מילים או רצפי תווים שצריכים להופיע בדיוק כמו שהם.
• SKU (Stock Keeping Unit) — מק"ט / זיהוי מוצר.
• Hex ID — מזהה הקסדצימלי (כמו "0xABC123").
• Proprietary name — שם בעלות / שם מותג (כמו "Pinecone", "GPT-4").
• Diluted — מהול / נמהל (משמעות המילה הספציפית הולכת לאיבוד בתוך הוקטור).
• Embedding — הטמעה (וקטור צפוף שמייצג משמעות).
• Sparse search — חיפוש דליל: שיטה שעושה ייצוג ויקטור עם רוב הערכים = 0, ועם משקלים גדולים רק למילים הספציפיות שהופיעו במסמך.
• Dense search — חיפוש צפוף: וקטור עם ערך ממשי בכל ממד.
• BM25 (Best Match 25) — אלגוריתם דירוג קלאסי, גרסה מתקדמת של TF-IDF, סטנדרט בכל מנועי חיפוש (Elasticsearch, Lucene).
• TF-IDF — Term Frequency × Inverse Document Frequency: שיטה לדירוג מסמכים לפי כמה מילה נדירה במאגר ולפי כמות הופעותיה במסמך הספציפי.
• Vector ANN — Approximate Nearest Neighbor on vectors (חיפוש שכנים קרובים בקירוב על וקטורים).
• Bounded vs. unbounded — חסום מול לא-חסום: ניקוד BM25 יכול להגיע ל-100 או 1000; ניקוד וקטור מוגבל ל-0 עד 1.
• Reciprocal Rank Fusion (RRF) — מיזוג דירוגים הדדי: שיטה למיזוג רשימות מדורגות שאינה תלויה בניקוד גולמי אלא רק במיקום.
• Smoothing factor — קבוע החלקה: ערך k בנוסחה שמונע שמסמך אחד עם דירוג #1 ידחק את כל השאר.
• Linear-fusion — מיזוג ליניארי: שיטה אחרת בה הניקוד הסופי הוא ‎α·BM25 + β·Vector‎.
★ הסיפור (4-5 דקות):
"בואו נדבר על אחד הכשלים הכי מתסכלים של מערכות RAG בייצור. נגיד שבניתם מערכת לתמיכה טכנית, ומהנדס שואל: 'איך מתקנים שגיאת ORA-12541 במסד הנתונים?'. במאגר שלכם יש מסמך אחד שמתאר במדויק את השגיאה הזו, ועוד 1000 מסמכים על אורקל בכלל. חיפוש סמנטי טהור (וקטורי) עלול להחזיר מאמרים כלליים על אורקל ולפספס את המסמך הספציפי, כי המחרוזת 'ORA-12541' נמהלה בתוך embedding כללי של 1536 ממדים — היא איבדה את הייחודיות שלה.
הבעיה הזו לא ייחודית למסדי נתונים. היא קורה עם:
• קודי מוצר (SKU) שמופיעים פעם אחת בקטלוג.
• שמות בעלות כמו 'Pinecone', 'GPT-4o', 'H100'.
• מזהי תקלה ייחודיים, מספרי טיקטים, hash IDs.
• ז'רגון פנימי בארגון שלא הופיע בנתוני האימון של מודל ה-Embedding.
פתרון של Redis: Hybrid Search. במקום לבחור בין חיפוש מילולי ו-וקטורי, מריצים את שניהם במקביל ומאחדים תוצאות.
איך זה עובד טכנית: פקודה אחת — FT.HYBRID — מבצעת בו-זמנית:
1. חיפוש BM25 על שדות הטקסט. BM25 הוא אלגוריתם דירוג קלאסי שמבוסס על TF-IDF, ומצוין במונחים נדירים. הוא יחזיר את המסמך עם 'ORA-12541' בראש הרשימה.
2. חיפוש וקטורי דרך HNSW או VAMANA על שדה ה-Embedding. הוא יחזיר את המסמכים הסמנטית-קרובים, כולל המסמך עם השגיאה (אם כי לא בהכרח במקום הראשון).
עכשיו — איך מאחדים? כאן הסיפור מעניין. ניקוד BM25 הוא 'unbounded' — יכול להיות 5.2 או 47.8 או 532.1, הכל תלוי במאגר. ניקוד וקטור מנורמל ל-0 עד 1 (ב-Cosine Similarity). אם תחבר אותם נאיבית, BM25 ידחק את הוקטור לחלוטין — או להפך, תלוי בנתונים.
פתרון אלגנטי שהפך לסטנדרט בתעשייה: RRF — Reciprocal Rank Fusion (אגב, זה האלגוריתם שגם Microsoft Azure Cognitive Search ו-Elasticsearch משתמשים בו, לא רק Redis).
הנוסחה פשוטה: score(d) = Σ 1 / (k + rank_i(d)). תרגום: עבור כל מסמך, סוכמים על פני כל הרשימות (BM25 ו-Vector) את ‎1 / (60 + מיקום_המסמך_ברשימה)‎. ‎k=60‎ הוא קבוע ההחלקה הסטנדרטי. דוגמה: מסמך שמופיע במקום 1 ב-BM25 (1/61 = 0.0164) ובמקום 3 ב-Vector (1/63 = 0.0159), מקבל ניקוד מצרפי של 0.0323. מסמך שמופיע רק במקום 5 ב-Vector (1/65 = 0.0154) ולא ב-BM25 — מקבל פחות. זה מבטיח שמסמכים שמדורגים גבוה לפחות באחד החיפושים יזכו לתשומת לב.
היופי בארכיטקטורה: כל זה קורה בתוך Redis. בלי קוד צד-אפליקציה. בלי לטעון רשימות גולמיות לזיכרון, לנרמל, לשלב. פקודה אחת, תוצאה אחת.
לצוותים שצריכים שליטה עדינה יותר — Redis תומך גם ב-Linear Combination: ‎score = α · BM25_normalized + β · Vector_score‎ עם α ו-β שמכוונים לפי tuning. זה שימושי במקרים מאוד-מאוד-ספציפיים."
★ דוגמה לקוד שלא מופיעה בשקופית אבל אפשר להזכיר:
"ב-Python עם RedisVL, השאילתה ההיברידית כולה היא חמש שורות. אין pagination ידני, אין parsing של תוצאות, אין מיזוג ידני. הספרייה דואגת לכל."
★ נקודה לתשומת לב:
חיפוש היברידי הוא לא 'תמיד טוב יותר'. במקרים בהם השאלה תיאורית טהורה ('איך מסבירים סנכרון לילד בן 10?') — חיפוש וקטורי טהור יספיק. במקרים של תיעוד טכני — היברידי הוא חובה.
★ שאלה צפויה: "איך ה-RRF מתמודד עם 5+ לקסיקלי + וקטורי + פילטר על מטא-דאטה?" — תשובה: RRF מטבעו תומך ב-N רשימות. אפשר להוסיף עוד מקורות אם צריך, ופילטרים על מטא-דאטה (תאריך, מחבר, הרשאה) קורים לפני המיזוג, לא חלק ממנו.</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שקופית 6 מתוך 8 — RedisVL, Semantic Cache, Agentic Memory.
★ מה אתה רואה על השקופית:
תווית: "05 · AI APPLICATION LAYER" (שכבת אפליקציית ה-AI), כותרת: "RedisVL — Semantic Cache &amp; Agentic Memory".
שלוש קופסאות שווות בשורה אחת, כל אחת עם פס כותרת בצבע אחר:
• עמודה ראשונה (פס אדום-כתום): "RedisVL" עם כותרת משנה "Production-grade Python client" (קליינט Python ברמת Production), ושלושה bullets:
   - "Maps document chunks + metadata to Redis Hash / JSON" (ממפה מקטעי מסמך + מטא-דאטה ל-Hash/JSON של Redis).
   - "MultiVectorQuery and hybrid RRF in one call" (שאילתת רב-וקטור ו-RRF היברידי בקריאה אחת).
   - "First-class integrations with OpenAI, HuggingFace, LangChain, LlamaIndex" (אינטגרציות מהשורה הראשונה).
• עמודה שנייה (פס נייבי כהה): "Semantic Cache" עם כותרת "Cache by meaning, not text" (מטמון לפי משמעות, לא לפי טקסט):
   - "Vectorize incoming prompt → ANN search vs. cached prompts" (וקטוריזציה של ה-prompt הנכנס → חיפוש ANN מול prompts מטומונים).
   - "If distance &lt; threshold, serve cached LLM response instantly" (אם המרחק קטן מהסף, מחזירים את התשובה המטומונת מיידית).
   - "Up to 70% cut in repeated LLM API spend; sub-ms response" (חיסכון של עד 70% בהוצאות API של LLM; תגובה בפחות ממילישנייה).
• עמודה שלישית (פס אדום-כתום): "Agentic Memory" עם כותרת "Short- and long-term memory in one engine" (זיכרון לטווח קצר וארוך במנוע אחד):
   - "Lists / Streams = short-term working memory (current session)" (Lists/Streams = זיכרון עבודה לטווח קצר עבור הסשן הנוכחי).
   - "Vector index = long-term semantic recall" (אינדקס וקטורים = שליפה סמנטית לטווח ארוך).
   - "TTL-based decay → agents forget stale context automatically" (דעיכה מבוססת TTL → סוכנים שוכחים הקשר ישן באופן אוטומטי).
בתחתית השקופית — פס נייבי כהה צר שמכיל את המשפט הזה בצבע ירוק-לימוני: "In production with high query redundancy, semantic caching savings often offset the entire Redis cluster cost" (בסביבת ייצור עם רדונדנטיות גבוהה של שאילתות, החיסכון מ-Semantic Cache לרוב מכסה את כל עלות הקלאסטר).
★ תרגום מושגים:
• AI Application Layer — שכבת אפליקציית ה-AI.
• Production-grade — ברמת ייצור / איכות אנטרפרייז.
• Python client — קליינט Python: ספרייה שמתחברת ל-Redis מקוד Python.
• Document chunks — מקטעי מסמך: חלוקת מסמך ארוך לחלקים קטנים (פסקאות, משפטים) שכל אחד הופך לוקטור עצמאי.
• Metadata — מטא-דאטה: מידע על המידע (תאריך, מחבר, תגיות, הרשאות).
• Hash / JSON — סוגי מבני נתונים ב-Redis (Hash הוא מילון פשוט, JSON תומך במבנה מורצף ומקונן).
• MultiVectorQuery — שאילתה שיכולה להחזיק מספר וקטורי שאילתה ולמזג תוצאות.
• Hybrid RRF — שילוב חיפוש היברידי עם RRF (כפי שראינו בשקופית הקודמת).
• First-class integration — אינטגרציה מובנית / מהשורה הראשונה: לא תוסף עוקף, אלא חלק רשמי מהמוצר.
• Semantic Cache — מטמון סמנטי: שמירת תשובות לפי משמעות השאלה ולא לפי הטקסט שלה.
• Vectorize — לוקטר / להפוך לוקטור (להריץ embedding).
• Threshold — סף: ערך מספרי שמעליו/מתחתיו מתקבלת החלטה (כאן: כמה דומה זה 'מספיק דומה').
• Cached response — תשובה מטומונת.
• LLM API spend — הוצאות API של LLM (כמה דולרים ביום על קריאות ל-OpenAI/Anthropic).
• Sub-ms — מילישנייה אחת או פחות.
• Agentic Memory — זיכרון של סוכן AI.
• Short-term / Long-term memory — זיכרון לטווח קצר / ארוך (אנלוגיה למוח אנושי).
• Working memory — זיכרון עבודה.
• Lists / Streams — מבני נתונים ב-Redis: List היא רשימה כרונולוגית, Stream דומה אבל עם מזהי הודעות חזקים יותר ותמיכה ב-consumer groups.
• Long-term recall — שליפה לטווח ארוך.
• TTL (Time-To-Live) — אורך חיים: זמן בשניות שאחריו המפתח נמחק אוטומטית.
• Decay — דעיכה (אנלוגיה לשכחה אנושית).
• Stale context — הקשר ישן / לא רלוונטי.
• Query redundancy — רדונדנטיות שאילתות: כמה שאלות חוזרות על עצמן (במחקר טיפוסי, 30-50% מהשאילתות הן דומות).
• Offset the cost — מכסה את העלות.
★ הסיפור (4-5 דקות):
"מנוע חזק לבדו לא מספיק. אם פיתחת אי פעם RAG עם raw Redis Search commands, אתה יודע שזה מטריד — FT.CREATE עם 30 פרמטרים, encoding ידני של וקטורים, parsing של תוצאות. כדי שמפתחים יוכלו לבנות מהר, צריך שכבת abstraction חכמה. זו RedisVL.
1. RedisVL — Redis Vector Library. ספריית Python בקוד פתוח שמטפלת בכל מחזור החיים של נתוני AI ב-Redis:
   • Chunking — חלוקת מסמכים ארוכים למקטעים שמתאימים ל-embedding (אסטרטגיות מובנות: לפי פסקה, משפט, גודל טוקנים).
   • Embedding — חיבור אוטומטי למודלי OpenAI, HuggingFace, Cohere, Vertex AI. אתם בוחרים מודל וזה זה.
   • Index management — RedisVL בונה את הסכמה של האינדקס עבורכם, לפי declarative YAML או Python class, עם defaults חכמים.
   • Query — מתחת למכסה רץ FT.SEARCH/FT.HYBRID, אבל ה-API נקי: ‎index.query(VectorQuery(vector=embedding, num_results=10, filters=...))‎.
   • LangChain ו-LlamaIndex משתמשים ב-RedisVL מתחת. אם אתם כבר ב-LangChain — הצמדה ל-Redis זה שורת קוד אחת.
2. Semantic Cache — לדעתי הפיצ'ר עם ה-ROI הכי גבוה ב-RedisVL. הבעיה: קריאות ל-LLM יקרות מאוד (GPT-4o ב-$5 ל-1M tokens, שכפול אצל לקוח אנטרפרייז יכול להגיע למאות דולרים ביום) ולא צפויות מבחינת latency (300ms-3sec). הפתרון הקלאסי הוא Caching, אבל מה לעשות עם שפה טבעית? התאמת מחרוזות לא עובדת — 'מה הבירה של צרפת?', 'מהי בירת צרפת?', 'תגיד לי את שם הבירה הצרפתית' — כולן אותה כוונה אבל מחרוזות שונות לחלוטין.
Semantic Cache הופך כל prompt נכנס לוקטור (משתמש באותו מודל embedding שהאפליקציה כבר משתמשת בו), ומחפש prompts דומים סמנטית במטמון. הסף קונפיגורבילי — אם המרחק הקוסיני קטן מ-0.05 או 0.1 (תלוי בארגון), מחזירים את התשובה השמורה. אם לא — שולחים ל-LLM ושומרים את התשובה החדשה.
מספרים מהשטח: בצ'אטבוט תמיכה טיפוסי, 40-70% מהשאילתות הן וריאציות של 50 שאלות נפוצות. Semantic Cache חוסך את כל הקריאות הללו. תגובה ב-1ms במקום 1500ms. בעלות תפעולית של מאות דולרים בחודש במקום אלפים.
3. Agentic Memory — שכבת ה-Memory לסוכני AI. סוכן אוטונומי (כמו AutoGPT, או agents ב-LangGraph) צריך שני סוגי זיכרון:
   • Working Memory (זיכרון עבודה) — מה קרה לפני 5 שניות? איזה כלי הסוכן זה עתה הריץ? מה הייתה התוצאה? זה עניין סדרתי, מהיר, קצר. ב-Redis: List או Stream של אירועי השיחה.
   • Long-Term Memory (זיכרון לטווח ארוך) — מה ההעדפות של המשתמש? איזה פרויקטים הוא דיבר עליהם בעבר? ב-Redis: Vector Index שמכיל embeddings של אירועים מהעבר, נשלף לפי דמיון סמנטי.
היופי: שני סוגי הזיכרון יושבים באותו Redis. אם אתה רץ על אינסטנס יחיד שמטפל ב-Cache, ב-Session, ב-Vector Search וב-Agent Memory — זה בדיוק המסר של 'unified data platform' שדיברנו עליו בשקופית 2.
ויש פיצ'ר נוסף ב-RedisVL שכדאי להזכיר: SemanticRouter — מנתב prompts לסוכנים/microservices שונים לפי משמעות. נגיד שאתה בונה assistant עם 3 יכולות: code, data analysis, customer support. SemanticRouter מבין שאלה כמו 'אנא נתח את ה-CSV הזה' ושולח ל-data analysis pipeline ולא ל-code one. זה הופך multi-agent systems ל-trivial.
★ ROI מהיר לדוגמה:
"לקוח של Redis שראיתי דיווח רץ צ'אטבוט תמיכה עם 50K שאילתות ביום. בלי Semantic Cache: 50,000 × $0.03 (ממוצע GPT-4o) = $1,500/יום. עם cache hit rate של 60%: רק 20,000 קריאות = $600/יום. חיסכון של $900/יום, $27,000/חודש. עלות הקלאסטר של Redis: $400/חודש. ROI של חודש."
★ שאלה צפויה: "איך אני בוחר את ה-threshold של Semantic Cache?" — תשובה: התחל עם 0.05 (cosine distance), הרץ A/B test על 1000 שאלות ידועות ובדוק שאחוז ה-false-positive (cache hit על שאלה שונה) פחות מ-1%. לארגונים מסוימים הסף האידיאלי 0.03, לאחרים 0.1.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שקופית 7 מתוך 8 — סקלאביליות, TCO ומיצוב תחרותי.
★ מה אתה רואה על השקופית:
תווית: "06 · ENTERPRISE ECONOMICS" (כלכלת ארגון), כותרת: "Scalability, TCO and Competitive Positioning".
4 קלפים בפריסת 2x2:
• שמאל-עליון (פס אדום-כתום): "Redis Flex — RAM + NVMe data tiering". בתוכו 3 שורות עם תוויות וברים כתומים-אדומים בעוצמות שונות:
   - "Hot keys (RAM)" — בר ארוך אדום-כתום. הערה: "queried vectors, indices" (וקטורים ואינדקסים בשימוש).
   - "Warm (RAM/NVMe)" — בר באמצע באורנג' בהיר. הערה: "recent sessions" (סשנים אחרונים).
   - "Cold (NVMe SSD)" — בר קצר בנייבי. הערה: "archived embeddings" (הטמעות בארכיון).
   בתחתית: "Up to 90% infra-cost reduction vs. pure RAM provisioning · ~10K ops/sec/core" (חיסכון של עד 90% בעלות תשתית לעומת הקצאת RAM טהור · כ-10,000 פעולות לשנייה לליבה).
• ימין-עליון (פס נייבי): "Decision matrix — when to choose which" — טבלה עם 4 שורות:
   - "Redis 8.x" — Cache + session + vectors already on Redis · sub-ms p99 latency demands.
   - "Pinecone (SaaS)" — Zero-ops, multi-tenant, spiky workloads · isolated AI stack acceptable.
   - "Milvus / Weaviate" — Tens of billions of vectors · GPU-accelerated · dedicated platform team.
   - "Postgres + pgvector" — Existing OLTP workload · small-to-medium vector sets in same DB.
• שמאל-תחתון (פס אפור): "Cluster sharding behaviour" — טקסט: "Up to 1,000 nodes via Redis Cluster. Writes (VADD/VREM) scale linearly via consistent hashing. Reads (VSIM) require scatter-gather across all shards — every shard returns its local top-K, the proxy merges. Plan shard counts carefully" (עד 1,000 צמתים. כתיבות מתפזרות לינארית; קריאות דורשות scatter-gather — לתכנן בקפידה).
• ימין-תחתון (רקע נייבי כהה, כותרת ירוקה-לימונית): "VectorDBBench results (Recall ≥ 0.98)" — שתי שורות מודגשות בלבן עם הסבר באפור-בהיר: "+62% throughput vs. #2 on deep-image-96-angular" ו-"+21% throughput vs. #2 on dbpedia-openai-1M-angular".
★ תרגום מושגים:
• Enterprise Economics — כלכלת ארגון: עלויות תשתית, רישוי, תפעול בקנה מידה גדול.
• TCO (Total Cost of Ownership) — עלות בעלות כוללת: סך כל ההוצאות של מערכת על פני זמן (לא רק רכישה).
• Scalability — סקלאביליות: יכולת להתרחב ולעבוד תחת עומס גובר.
• Competitive Positioning — מיצוב תחרותי: איפה המוצר עומד מול אלטרנטיבות.
• Redis Flex — מותג של Redis לטכנולוגיית tiering (לשעבר Redis on Flash).
• Data tiering — שכבות נתונים: שמירת נתונים ב-2 או 3 רמות אחסון (מהיר/יקר ↔ איטי/זול) לפי תדירות שימוש.
• Hot / Warm / Cold keys — מפתחות חמים/חמימים/קרים: לפי תדירות גישה.
• NVMe SSD — Non-Volatile Memory Express SSD: סוג כונן SSD מהיר במיוחד שמתחבר ישירות ל-PCIe (לא דרך SATA).
• Provisioning — הקצאה: כמה משאבים מקצים מראש.
• Ops/sec/core — operations per second per core: פעולות לשנייה לליבת CPU.
• Decision matrix — מטריצת החלטה: טבלה שעוזרת לבחור בין אלטרנטיבות.
• SaaS — Software-as-a-Service: שירות בענן שמוצרך כמנוי, לא מותקן אצלך.
• Multi-tenant — רב-דייר: ארכיטקטורה שמשרתת לקוחות שונים על אותה תשתית עם בידוד.
• Spiky workloads — עומסים מתפרצים: שימוש לא אחיד (לפעמים 100 בקשות/שנייה, לפעמים 10K).
• Zero-ops — אפס תפעול: שירות שאין צורך בכלל לתחזק.
• OLTP — Online Transaction Processing: מערכות לעיבוד טרנזקציות עסקיות בזמן אמת.
• pgvector — תוסף ל-PostgreSQL שמוסיף תמיכה בוקטורים.
• Cluster sharding — חלוקת קלאסטר ל-shards (פיסות).
• Shard — פיסה / שבר: חלק ממאגר נתונים שיושב על שרת ספציפי.
• Consistent hashing — האשינג עקבי: אלגוריתם שמחלק נתונים לפי hash ושומר על חלוקה גם כשמוסיפים/מסירים שרתים.
• VADD / VREM / VSIM — פקודות Redis לוקטורים: VADD = הוספה, VREM = הסרה, VSIM = חיפוש דמיון (similarity).
• Scatter-gather — פיזור-איסוף: שולחים שאילתה לכל ה-shards (פיזור), אוספים תוצאות וממזגים (איסוף).
• Latency additivity — Latency אדיטיבי: ככל שצריך לחכות ליותר שרתים, ה-Latency מצטבר.
• VectorDBBench — מבחן השוואה תקני בתעשייה לבסיסי נתונים וקטוריים.
• Recall ≥ 0.98 — דיוק שליפה ‎≥ 98%‎: סף איכות מקובל לבסיס נתונים מקצועי.
• deep-image-96-angular / dbpedia-openai-1M-angular — שמות datasets סטנדרטיים. הראשון תמונות עם 96 ממדים, השני מאמרים מ-DBpedia מקודדים ב-OpenAI עם מטריקת Angular (כמו Cosine).
★ הסיפור (4-5 דקות):
"שקופית הכסף. כשארגון מחשיב מעבר ל-Vector Database, השאלה הראשונה של ה-CFO היא: 'כמה זה יעלה?'. נתחיל בקושי האמיתי — אחסון של מיליוני embeddings ב-RAM טהור. וקטור של 1536 ממדים תופס 6KB. מיליון וקטורים = 6GB. מאה מיליון = 600GB. לכל זה צריך להוסיף את ה-graph של HNSW (עד פי 1.5 מהוקטורים עצמם). על AWS, 100GB של RAM זה כ-$1500/חודש לפחות.
Redis פותר את זה ב-3 דרכים:
1. Redis Flex — היכולת המוטעת לשם. לשעבר נקראה Redis on Flash. זה מנוע אחסון רב-שכבתי בנוי על Speedb (fork מתקדם של RocksDB). הוא ממפה ב-real-time אילו keys 'חמים' (הכי מבוקשים) ואילו 'קרים' (לא נגעו בהם זמן רב). Hot keys נשארים ב-DRAM ל-Latency של ננו-שניות. Cold keys מוסטים ל-NVMe SSD. SSD מודרני (כמו AWS r6gd instances עם NVMe מובנה) משיג 100µs latency — הפרש של פי 1000 מ-RAM, אבל הפרש זניח עבור ה-95% מהמערכת. אדמיניסטרטור מגדיר יחס RAM:Flash. יחס טיפוסי לעומס AI: 30:70. תוצאה: עלות תשתית יורדת ב-50-90%. ב-Redis 8 הביצועים בתצורה הזו הם 10,000 ops/sec/core — כלומר על שרת 16-core מקבלים 160K ops/sec בעלות 30% בלבד מ-cluster RAM-only.
2. Cluster Sharding — אם מאגר הנתונים גדול ממה ששרת יחיד יכול להחזיק (גם עם Flex), משתמשים ב-Redis Cluster. עד 1,000 צמתים, מחולקים בעזרת consistent hashing על key. הפעולות התקינות (SET/GET/HSET/VADD/VREM) — מתחלקות לינארית. אבל כאן יש מלכוד: שאילתת VSIM (חיפוש דמיון) דורשת ארכיטקטורה אחרת. למה? כי הוקטור הקרוב ביותר לשאילתה יכול להיות באיזשהו shard שאי אפשר לנחש מראש. הפתרון הוא scatter-gather: השאילתה נשלחת ל-N הצמתים, כל צומת מחזיר top-K מקומי, וה-proxy ממזג ובוחר את top-K גלובלי. זה מהיר מאוד אבל ה-Latency צובר זמן רשת — כל shard נוסף מוסיף קצת. לכן: לתכנן shards-count בקפידה. הגבלות בענן: AWS MemoryDB מאפשר Vector Search רק על shard יחיד, GCP Memorystore תומך ב-250 shards.
3. Decision Matrix — מתי לבחור איזו טכנולוגיה?
   • Redis 8.x — אם הארגון שלכם כבר משתמש ב-Redis ל-Cache או Session State (וזה כמעט תמיד נכון), הוספת Vector Search היא הפעלת flag. אין שכבת מערכת חדשה לתחזק. בנוסף, אם הדרישה היא p99 latency של פחות מ-10ms — Redis הוא הסטנדרט.
   • Pinecone — אם אין Redis בארגון ואתם רוצים שירות SaaS שאף אחד לא יצטרך לתחזק — לגיטימי. עובד מצוין. הבעיה: עוד Stack.
   • Milvus / Weaviate — אם יש מיליארדי וקטורים שצריכים GPU acceleration. אנחנו מדברים על Discord, OpenAI, או חברות AI עם eval datasets ענקיים. דרושה צוות פלטפורמה ייעודי.
   • Postgres + pgvector — אם המערכת רלציונית בעיקרה ויש פחות מ-10M וקטורים. פשוט להוסיף, אבל לא מתאים לעומסים מאוד גבוהים.
4. בנצ'מרקים — VectorDBBench הוא הסטנדרט בתעשייה. בדיקות אובייקטיביות מראות יתרון תפוקה של 21-62% ל-Redis 8 לעומת המתחרה הבא בתנאי Recall ≥ 0.98 — סף איכות שדורשים בייצור.
המסקנה הכלכלית: Redis 8 + Flex + Semantic Cache לרוב משלם את עצמו תוך 60-90 ימים אצל ארגונים שמריצים workloads של AI."
★ דוגמה מהשטח:
"לקוח Redis שראיתי החליף 4 cluster-מוצרים נפרדים (Redis cache, ElasticSearch, Pinecone, Postgres) ב-Redis 8 cluster יחיד. הוצאת תשתית חודשית: ירדה מ-$48K ל-$11K. וזה לפני החיסכון מהפחתת קריאות ל-OpenAI."
★ שאלות צפויות:
1. "האם Redis Flex משפיע על Latency?" — כן, ב-cold reads נוסף 0.1-0.3ms. אבל hot path נשאר sub-ms. על כל אחוז cold, זה מוסיף ~0.5%. בייצור טיפוסי בלתי-נראה.
2. "האם Cluster Sharding תומך ב-failover?" — כן. כל shard יכול להיות עם 1-3 replicas, ו-Sentinel/Cluster manager מטפל ב-failover אוטומטי בלי downtime.
3. "האם Pinecone זול יותר ל-startups?" — לא בהכרח. Pinecone serverless מתחיל ב-$70/חודש אבל מכאן ועד 1M וקטורים זה כבר יקר. Redis Cloud Essentials מתחיל ב-$5/חודש ומתאים גם ל-vectors.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שקופית 8 מתוך 8 — סיכום ושאלות.
★ מה אתה רואה על השקופית:
חזרה לרקע נייבי כהה (Big Stone) כמו בשקופית הפתיחה — סוגרים מעגל ויזואלי. פס דק אדום-כתום בראש.
לוגו Redis הרשמי בפינה השמאלית-עליונה.
כותרת ראשית גדולה בלבן: "Key Takeaways" (מסקנות מפתח).
כותרת משנה ירוקה-לימונית באיטליק: "Architecting Redis as the unified real-time AI data platform".
ארבעה כרטיסי "זכוכית" (white שקוף 92%) בפריסת 2x2, כל אחד עם:
   - עיגול אדום-כתום שמאלי עם מספר לבן ‎01, 02, 03, 04‎.
   - כותרת קצרה בלבן.
   - תיאור באפור-בהיר.
תוכן הכרטיסים:
01 - "Unify the stack" (אחדו את ה-Stack) — "Eliminate the standalone-vector-DB trap. Cache, session and vectors share one in-memory address space" (חסלו את מלכודת ה-Vector DB העצמאי. Cache, Session ווקטורים חולקים מרחב כתובות אחד בזיכרון).
02 - "Redis 8 is the engine" (Redis 8 הוא המנוע) — "Vector Sets, JSON and Search are now in the core — −87% latency, +144% QPS, native ACLs" (Vector Sets, JSON ו-Search כעת בליבה — ירידה של 87% ב-Latency, עלייה של 144% ב-QPS, ACLs מובנים).
03 - "Pick the right ANN" (בחרו את אלגוריתם ה-ANN הנכון) — "FLAT for tiny datasets, HNSW for production, SVS-VAMANA for billion-scale memory savings" (FLAT למאגרים קטנים, HNSW לייצור, SVS-VAMANA לחיסכון זיכרון בקנה מידה של מיליארדים).
04 - "TCO wins" (TCO מנצח) — "Redis Flex tiering + Semantic Cache often pay for the entire cluster. Start there tomorrow" (שכבות Flex + Semantic Cache לרוב מכסים את עלות הקלאסטר. התחילו שם מחר).
בתחתית — פס אדום-כתום שעובר את כל רוחב השקופית, עם הטקסט בלבן: "Q &amp; A · thank you" משמאל ו-"docs.redisvl.com · redis.io/blog · github.com/redis" מימין.
★ תרגום מושגים:
• Key Takeaways — מסקנות מפתח / סיכום עיקרי.
• Architecting — אדריכלות (כפועל): לתכנן את הארכיטקטורה של.
• Unified Real-Time AI Data Platform — פלטפורמת נתונים מאוחדת לבינה מלאכותית בזמן אמת.
• Eliminate — לחסל / לבטל.
• Trap — מלכודת.
• Address space — מרחב כתובות (טכני: כל הזיכרון הנגיש לתהליך).
• Native ACLs — ACLs מובנים (כחלק מהליבה ולא תוסף).
• ANN (Approximate Nearest Neighbor) — שכן קרוב בקירוב.
• Tiny datasets — מאגרים קטנים.
• Billion-scale — בקנה מידה של מיליארדים.
• Memory savings — חיסכון זיכרון.
• Tiering — שכבות אחסון.
• Q &amp; A — Questions &amp; Answers / שאלות ותשובות.
★ הסיפור (סיכום ארוך, 5-7 דקות):
"לסיכום, בואו נסכם את 25 הדקות האחרונות בארבעה מסרים שאני רוצה שתיקחו הביתה. אם תזכרו רק דבר אחד מהמצגת — אני מקווה שזה יהיה אחד מהארבעה האלה.
מסר 1 — אחדו את ה-Stack. אם רק לפני שלוש שנים זה היה גימיק ארכיטקטוני, היום זו הצהרה בעלת כובד תפעולי. הסיבה הפשוטה: כל מערכת נוספת היא:
   • עוד גבול אבטחה לתחזק.
   • עוד מקור לבעיות סנכרון.
   • עוד תור-המתנה ב-PagerDuty בשלוש בלילה.
   • עוד שורה בחוזה האכיפה (audit) של ה-CISO.
כשאתם בארגון מקבלים החלטה אדריכלית עבור פיצ'ר AI חדש, השאלה הראשונה לא צריכה להיות 'איזה Vector DB לבחור?' — אלא 'האם הוקטורים יכולים לשבת איפה שכבר יושב המידע התפעולי?'. אם התשובה כן (וברוב המקרים היא כן), הוסיפו ל-Redis. אל תוסיפו טכנולוגיה.
מסר 2 — Redis 8 הוא מנוע שונה לחלוטין מ-Redis 7. ההזזה לליבה (Vector Sets, JSON, Search ב-Native), מנוע ה-I/O הרב-Threaded, ה-ACLs המורחבים, ו-SVS-VAMANA כאופציה — כל אלה הופכים את Redis ממטמון מצוין לפלטפורמת AI מצוינת. השיפורים אינם מינוריים: ‎−87% Latency, +144% QPS‎. זה פותח use cases חדשים — Real-time RAG עם תגובה תוך 50ms, Semantic Caching עם hit rate של 70%, Agent Memory עם זיכרון של מיליוני אינטראקציות.
מסר 3 — בחרו את אלגוריתם ה-ANN הנכון. אל תקבלו את ברירות המחדל בעיניים עצומות. הקדישו זמן לבחירה:
   • פחות מ-50K וקטורים → FLAT.
   • 50K-50M, RAM זול → HNSW.
   • 50M+ או TCO קריטי → SVS-VAMANA.
ועוד יותר חשוב: הריצו A/B test על dataset אמיתי של הארגון שלכם. ה-recall שאתם מקבלים על MS-MARCO לא בהכרח שווה ל-recall שתקבלו על data של הלקוחות שלכם.
מסר 4 — ה-TCO תמיד ינצח. אם יש לכם מתח בין הצוות הטכנולוגי שאוהב את 'הכלי הכי טוב לעבודה' (לרוב Pinecone או Milvus) לבין צוות הכספים שדואג לתקציב — בדקו שני דברים:
   • Redis Flex על r6gd / r7gd instances עם NVMe מובנה: חוסך 50-90% בעלות זיכרון.
   • Semantic Cache: חוסך 40-70% מקריאות ה-LLM. זה לרוב יותר ממה שעולה כל הקלאסטר.
ההמלצה האופרטיבית שלי לסיום: זה לא טוב לחכות לרבעון הבא. חזרו מחר בבוקר ל-IDE שלכם, פתחו Jupyter Notebook, ועשו את הניסוי הבא:
1. הקימו Redis 8 מקומי ב-Docker (פקודה אחת: ‎docker run -p 6379:6379 redis:8‎).
2. הריצו את ה-tutorial של RedisVL — 30 דקות.
3. קחו 100 שאילתות אמיתיות מה-LLM logs שלכם, הפעילו Semantic Cache עם threshold של 0.05, ומדדו את ה-cache hit rate.
אם ה-hit rate יוצא 30% או יותר — יש לכם case business משכנע. אם הוא 50%+ — תזרזו את הפרויקט.
תודה רבה לכל מי שהקשיב, אני מאוד מעריך את הזמן שלכם. אני שמח לענות על שאלות בנושא:
• אדריכלות נתונים בעידן ה-AI.
• בחירת מדדי מרחק ואלגוריתמים.
• Migration מ-Vector DB עצמאי ל-Redis.
• אסטרטגיית Sharding ו-HA.
• כל היבט טכני אחר שהוצג."
★ קישורים שכדאי לזכור (מופיעים גם על השקופית למטה):
• docs.redisvl.com — תיעוד RedisVL.
• redis.io/blog — בלוג רשמי עם use cases.
• github.com/redis — קוד פתוח, נוטבוקים, דוגמאות.
★ נקודה לפתיחת השאלות:
"כדי לפתוח את החלק של השאלות, אשמח שמישהו ישתף — באיזה stack של AI אתם משתמשים היום, ואיפה המקום הראשון שאתם רואים שהאחדה אל Redis הייתה משחקת תפקיד?"
★ תרחישי שאלות מורכבות שכדאי להיות מוכן אליהן:
1. "האם Redis 8 רץ במצב Cluster Mode עם רפליקציה רב-אזורית?" — כן, באמצעות Active-Active Geo-Distributed (CRDB) ב-Redis Enterprise.
2. "איך מתמודדים עם vector drift לאורך זמן?" — מודל ה-embedding מתעדכן מדי פעם, וצריך לעשות re-indexing. RedisVL מספק כלי automation לזה.
3. "האם יש תמיכה ב-multi-tenant SaaS?" — כן, דרך key prefixes + ACL rules. כל שוכר מקבל prefix משלו.
4. "האם Vector Sets תומכים ב-CPU-only או צריך GPU?" — CPU-only מספיק. GPU רלוונטי רק ל-embedding generation, לא ל-search.
5. "האם Redis 8 רץ באוויר/closed environment?" — כן. הקוד פתוח, אפשר לרוץ on-prem או air-gapped.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341"/>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4438"/>
          </a:solidFill>
          <a:ln/>
        </p:spPr>
        <p:txBody>
          <a:bodyPr/>
          <a:lstStyle/>
          <a:p>
            <a:endParaRPr lang="en-IL"/>
          </a:p>
        </p:txBody>
      </p:sp>
      <p:sp>
        <p:nvSpPr>
          <p:cNvPr id="3" name="Shape 1"/>
          <p:cNvSpPr/>
          <p:nvPr/>
        </p:nvSpPr>
        <p:spPr>
          <a:xfrm rot="720000">
            <a:off x="5486400" y="-914400"/>
            <a:ext cx="5486400" cy="6400800"/>
          </a:xfrm>
          <a:prstGeom prst="rect">
            <a:avLst/>
          </a:prstGeom>
          <a:solidFill>
            <a:srgbClr val="FF4438">
              <a:alpha val="12000"/>
            </a:srgbClr>
          </a:solidFill>
          <a:ln/>
        </p:spPr>
        <p:txBody>
          <a:bodyPr/>
          <a:lstStyle/>
          <a:p>
            <a:endParaRPr lang="en-IL"/>
          </a:p>
        </p:txBody>
      </p:sp>
      <p:pic>
        <p:nvPicPr>
          <p:cNvPr id="4" name="Image 0" descr="/sessions/eloquent-friendly-cori/mnt/outputs/assets/redis_logo_trimmed.png"/>
          <p:cNvPicPr>
            <a:picLocks noChangeAspect="1"/>
          </p:cNvPicPr>
          <p:nvPr/>
        </p:nvPicPr>
        <p:blipFill>
          <a:blip r:embed="rId3"/>
          <a:stretch>
            <a:fillRect/>
          </a:stretch>
        </p:blipFill>
        <p:spPr>
          <a:xfrm>
            <a:off x="548640" y="640080"/>
            <a:ext cx="2286000" cy="731520"/>
          </a:xfrm>
          <a:prstGeom prst="rect">
            <a:avLst/>
          </a:prstGeom>
        </p:spPr>
      </p:pic>
      <p:sp>
        <p:nvSpPr>
          <p:cNvPr id="5" name="Text 2"/>
          <p:cNvSpPr/>
          <p:nvPr/>
        </p:nvSpPr>
        <p:spPr>
          <a:xfrm>
            <a:off x="548640" y="1691640"/>
            <a:ext cx="8046720" cy="86868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Redis as a Vector Database</a:t>
            </a:r>
            <a:endParaRPr lang="en-US" sz="4400" dirty="0"/>
          </a:p>
        </p:txBody>
      </p:sp>
      <p:sp>
        <p:nvSpPr>
          <p:cNvPr id="6" name="Text 3"/>
          <p:cNvSpPr/>
          <p:nvPr/>
        </p:nvSpPr>
        <p:spPr>
          <a:xfrm>
            <a:off x="548640" y="2606040"/>
            <a:ext cx="8046720" cy="502920"/>
          </a:xfrm>
          <a:prstGeom prst="rect">
            <a:avLst/>
          </a:prstGeom>
          <a:noFill/>
          <a:ln/>
        </p:spPr>
        <p:txBody>
          <a:bodyPr wrap="square" lIns="0" tIns="0" rIns="0" bIns="0" rtlCol="0" anchor="ctr"/>
          <a:lstStyle/>
          <a:p>
            <a:pPr marL="0" indent="0">
              <a:buNone/>
            </a:pPr>
            <a:r>
              <a:rPr lang="en-US" sz="2400" dirty="0">
                <a:solidFill>
                  <a:srgbClr val="DCFF1E"/>
                </a:solidFill>
                <a:latin typeface="Calibri" pitchFamily="34" charset="0"/>
                <a:ea typeface="Calibri" pitchFamily="34" charset="-122"/>
                <a:cs typeface="Calibri" pitchFamily="34" charset="-120"/>
              </a:rPr>
              <a:t>Architecting for Real-Time AI</a:t>
            </a:r>
            <a:endParaRPr lang="en-US" sz="2400" dirty="0"/>
          </a:p>
        </p:txBody>
      </p:sp>
      <p:sp>
        <p:nvSpPr>
          <p:cNvPr id="7" name="Text 4"/>
          <p:cNvSpPr/>
          <p:nvPr/>
        </p:nvSpPr>
        <p:spPr>
          <a:xfrm>
            <a:off x="548640" y="3246120"/>
            <a:ext cx="7315200" cy="822960"/>
          </a:xfrm>
          <a:prstGeom prst="rect">
            <a:avLst/>
          </a:prstGeom>
          <a:noFill/>
          <a:ln/>
        </p:spPr>
        <p:txBody>
          <a:bodyPr wrap="square" lIns="0" tIns="0" rIns="0" bIns="0" rtlCol="0" anchor="ctr"/>
          <a:lstStyle/>
          <a:p>
            <a:pPr marL="0" indent="0">
              <a:spcAft>
                <a:spcPts val="400"/>
              </a:spcAft>
              <a:buNone/>
            </a:pPr>
            <a:r>
              <a:rPr lang="en-US" sz="1350" dirty="0">
                <a:solidFill>
                  <a:srgbClr val="C9D3DD"/>
                </a:solidFill>
                <a:latin typeface="Calibri" pitchFamily="34" charset="0"/>
                <a:ea typeface="Calibri" pitchFamily="34" charset="-122"/>
                <a:cs typeface="Calibri" pitchFamily="34" charset="-120"/>
              </a:rPr>
              <a:t>Unifying caching, session state, and high-dimensional vector retrieval inside a single in-memory platform — for sub-millisecond AI applications.</a:t>
            </a:r>
            <a:endParaRPr lang="en-US" sz="1350" dirty="0"/>
          </a:p>
        </p:txBody>
      </p:sp>
      <p:sp>
        <p:nvSpPr>
          <p:cNvPr id="8" name="Shape 5"/>
          <p:cNvSpPr/>
          <p:nvPr/>
        </p:nvSpPr>
        <p:spPr>
          <a:xfrm>
            <a:off x="548640" y="4206240"/>
            <a:ext cx="4206240" cy="457200"/>
          </a:xfrm>
          <a:prstGeom prst="rect">
            <a:avLst/>
          </a:prstGeom>
          <a:solidFill>
            <a:srgbClr val="FFFFFF">
              <a:alpha val="8000"/>
            </a:srgbClr>
          </a:solidFill>
          <a:ln w="6350">
            <a:solidFill>
              <a:srgbClr val="FFFFFF"/>
            </a:solidFill>
            <a:prstDash val="solid"/>
          </a:ln>
        </p:spPr>
        <p:txBody>
          <a:bodyPr/>
          <a:lstStyle/>
          <a:p>
            <a:endParaRPr lang="en-IL"/>
          </a:p>
        </p:txBody>
      </p:sp>
      <p:sp>
        <p:nvSpPr>
          <p:cNvPr id="9" name="Text 6"/>
          <p:cNvSpPr/>
          <p:nvPr/>
        </p:nvSpPr>
        <p:spPr>
          <a:xfrm>
            <a:off x="640080" y="4206240"/>
            <a:ext cx="4114800" cy="457200"/>
          </a:xfrm>
          <a:prstGeom prst="rect">
            <a:avLst/>
          </a:prstGeom>
          <a:noFill/>
          <a:ln/>
        </p:spPr>
        <p:txBody>
          <a:bodyPr wrap="square" lIns="0" tIns="0" rIns="0" bIns="0" rtlCol="0" anchor="ctr"/>
          <a:lstStyle/>
          <a:p>
            <a:pPr marL="0" indent="0">
              <a:buNone/>
            </a:pPr>
            <a:r>
              <a:rPr lang="en-US" sz="1100" dirty="0">
                <a:solidFill>
                  <a:srgbClr val="E5EAF0"/>
                </a:solidFill>
                <a:latin typeface="Calibri" pitchFamily="34" charset="0"/>
                <a:ea typeface="Calibri" pitchFamily="34" charset="-122"/>
                <a:cs typeface="Calibri" pitchFamily="34" charset="-120"/>
              </a:rPr>
              <a:t>25-min technical deep-dive  ·  R&amp;D, Architects, Developers</a:t>
            </a:r>
            <a:endParaRPr lang="en-US" sz="1100" dirty="0"/>
          </a:p>
        </p:txBody>
      </p:sp>
      <p:sp>
        <p:nvSpPr>
          <p:cNvPr id="10" name="Text 7"/>
          <p:cNvSpPr/>
          <p:nvPr/>
        </p:nvSpPr>
        <p:spPr>
          <a:xfrm>
            <a:off x="548640" y="4709160"/>
            <a:ext cx="5486400" cy="274320"/>
          </a:xfrm>
          <a:prstGeom prst="rect">
            <a:avLst/>
          </a:prstGeom>
          <a:noFill/>
          <a:ln/>
        </p:spPr>
        <p:txBody>
          <a:bodyPr wrap="square" lIns="0" tIns="0" rIns="0" bIns="0" rtlCol="0" anchor="ctr"/>
          <a:lstStyle/>
          <a:p>
            <a:pPr marL="0" indent="0">
              <a:buNone/>
            </a:pPr>
            <a:r>
              <a:rPr lang="en-US" sz="950" i="1" dirty="0">
                <a:solidFill>
                  <a:srgbClr val="8A95A4"/>
                </a:solidFill>
                <a:latin typeface="Calibri" pitchFamily="34" charset="0"/>
                <a:ea typeface="Calibri" pitchFamily="34" charset="-122"/>
                <a:cs typeface="Calibri" pitchFamily="34" charset="-120"/>
              </a:rPr>
              <a:t>eli  ·  Redis 8.x  ·  May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FF4438"/>
          </a:solidFill>
          <a:ln/>
        </p:spPr>
        <p:txBody>
          <a:bodyPr/>
          <a:lstStyle/>
          <a:p>
            <a:endParaRPr lang="en-IL"/>
          </a:p>
        </p:txBody>
      </p:sp>
      <p:pic>
        <p:nvPicPr>
          <p:cNvPr id="3" name="Image 0" descr="/sessions/eloquent-friendly-cori/mnt/outputs/assets/redis_cube.png"/>
          <p:cNvPicPr>
            <a:picLocks noChangeAspect="1"/>
          </p:cNvPicPr>
          <p:nvPr/>
        </p:nvPicPr>
        <p:blipFill>
          <a:blip r:embed="rId3"/>
          <a:stretch>
            <a:fillRect/>
          </a:stretch>
        </p:blipFill>
        <p:spPr>
          <a:xfrm>
            <a:off x="320040" y="201168"/>
            <a:ext cx="502920" cy="475488"/>
          </a:xfrm>
          <a:prstGeom prst="rect">
            <a:avLst/>
          </a:prstGeom>
        </p:spPr>
      </p:pic>
      <p:sp>
        <p:nvSpPr>
          <p:cNvPr id="4" name="Text 1"/>
          <p:cNvSpPr/>
          <p:nvPr/>
        </p:nvSpPr>
        <p:spPr>
          <a:xfrm>
            <a:off x="960120" y="201168"/>
            <a:ext cx="5943600" cy="228600"/>
          </a:xfrm>
          <a:prstGeom prst="rect">
            <a:avLst/>
          </a:prstGeom>
          <a:noFill/>
          <a:ln/>
        </p:spPr>
        <p:txBody>
          <a:bodyPr wrap="square" lIns="0" tIns="0" rIns="0" bIns="0" rtlCol="0" anchor="ctr"/>
          <a:lstStyle/>
          <a:p>
            <a:pPr marL="0" indent="0">
              <a:buNone/>
            </a:pPr>
            <a:r>
              <a:rPr lang="en-US" sz="900" b="1" kern="0" spc="400" dirty="0">
                <a:solidFill>
                  <a:srgbClr val="FF4438"/>
                </a:solidFill>
                <a:latin typeface="Calibri" pitchFamily="34" charset="0"/>
                <a:ea typeface="Calibri" pitchFamily="34" charset="-122"/>
                <a:cs typeface="Calibri" pitchFamily="34" charset="-120"/>
              </a:rPr>
              <a:t>01  ·  PROBLEM STATEMENT</a:t>
            </a:r>
            <a:endParaRPr lang="en-US" sz="900" dirty="0"/>
          </a:p>
        </p:txBody>
      </p:sp>
      <p:sp>
        <p:nvSpPr>
          <p:cNvPr id="5" name="Text 2"/>
          <p:cNvSpPr/>
          <p:nvPr/>
        </p:nvSpPr>
        <p:spPr>
          <a:xfrm>
            <a:off x="960120" y="384048"/>
            <a:ext cx="7863840" cy="411480"/>
          </a:xfrm>
          <a:prstGeom prst="rect">
            <a:avLst/>
          </a:prstGeom>
          <a:noFill/>
          <a:ln/>
        </p:spPr>
        <p:txBody>
          <a:bodyPr wrap="square" lIns="0" tIns="0" rIns="0" bIns="0" rtlCol="0" anchor="ctr"/>
          <a:lstStyle/>
          <a:p>
            <a:pPr marL="0" indent="0">
              <a:buNone/>
            </a:pPr>
            <a:r>
              <a:rPr lang="en-US" sz="2200" b="1" dirty="0">
                <a:solidFill>
                  <a:srgbClr val="163341"/>
                </a:solidFill>
                <a:latin typeface="Calibri" pitchFamily="34" charset="0"/>
                <a:ea typeface="Calibri" pitchFamily="34" charset="-122"/>
                <a:cs typeface="Calibri" pitchFamily="34" charset="-120"/>
              </a:rPr>
              <a:t>The Data Bottleneck of the AI Era</a:t>
            </a:r>
            <a:endParaRPr lang="en-US" sz="2200" dirty="0"/>
          </a:p>
        </p:txBody>
      </p:sp>
      <p:sp>
        <p:nvSpPr>
          <p:cNvPr id="6" name="Shape 3"/>
          <p:cNvSpPr/>
          <p:nvPr/>
        </p:nvSpPr>
        <p:spPr>
          <a:xfrm>
            <a:off x="320040" y="868680"/>
            <a:ext cx="8503920" cy="10973"/>
          </a:xfrm>
          <a:prstGeom prst="rect">
            <a:avLst/>
          </a:prstGeom>
          <a:solidFill>
            <a:srgbClr val="D9DDE3"/>
          </a:solidFill>
          <a:ln/>
        </p:spPr>
        <p:txBody>
          <a:bodyPr/>
          <a:lstStyle/>
          <a:p>
            <a:endParaRPr lang="en-IL"/>
          </a:p>
        </p:txBody>
      </p:sp>
      <p:sp>
        <p:nvSpPr>
          <p:cNvPr id="7" name="Shape 4"/>
          <p:cNvSpPr/>
          <p:nvPr/>
        </p:nvSpPr>
        <p:spPr>
          <a:xfrm>
            <a:off x="457200" y="1051560"/>
            <a:ext cx="4023360" cy="3657600"/>
          </a:xfrm>
          <a:prstGeom prst="rect">
            <a:avLst/>
          </a:prstGeom>
          <a:solidFill>
            <a:srgbClr val="FFFFFF"/>
          </a:solidFill>
          <a:ln w="9525">
            <a:solidFill>
              <a:srgbClr val="E5E8EE"/>
            </a:solidFill>
            <a:prstDash val="solid"/>
          </a:ln>
        </p:spPr>
        <p:txBody>
          <a:bodyPr/>
          <a:lstStyle/>
          <a:p>
            <a:endParaRPr lang="en-IL"/>
          </a:p>
        </p:txBody>
      </p:sp>
      <p:sp>
        <p:nvSpPr>
          <p:cNvPr id="8" name="Shape 5"/>
          <p:cNvSpPr/>
          <p:nvPr/>
        </p:nvSpPr>
        <p:spPr>
          <a:xfrm>
            <a:off x="457200" y="1051560"/>
            <a:ext cx="4023360" cy="384048"/>
          </a:xfrm>
          <a:prstGeom prst="rect">
            <a:avLst/>
          </a:prstGeom>
          <a:solidFill>
            <a:srgbClr val="163341"/>
          </a:solidFill>
          <a:ln/>
        </p:spPr>
        <p:txBody>
          <a:bodyPr/>
          <a:lstStyle/>
          <a:p>
            <a:endParaRPr lang="en-IL"/>
          </a:p>
        </p:txBody>
      </p:sp>
      <p:sp>
        <p:nvSpPr>
          <p:cNvPr id="9" name="Text 6"/>
          <p:cNvSpPr/>
          <p:nvPr/>
        </p:nvSpPr>
        <p:spPr>
          <a:xfrm>
            <a:off x="594360" y="1051560"/>
            <a:ext cx="3749040" cy="384048"/>
          </a:xfrm>
          <a:prstGeom prst="rect">
            <a:avLst/>
          </a:prstGeom>
          <a:noFill/>
          <a:ln/>
        </p:spPr>
        <p:txBody>
          <a:bodyPr wrap="square" lIns="0" tIns="0" rIns="0" bIns="0" rtlCol="0" anchor="ctr"/>
          <a:lstStyle/>
          <a:p>
            <a:pPr marL="0" indent="0">
              <a:buNone/>
            </a:pPr>
            <a:r>
              <a:rPr lang="en-US" sz="1100" b="1" kern="0" spc="300" dirty="0">
                <a:solidFill>
                  <a:srgbClr val="FFFFFF"/>
                </a:solidFill>
                <a:latin typeface="Calibri" pitchFamily="34" charset="0"/>
                <a:ea typeface="Calibri" pitchFamily="34" charset="-122"/>
                <a:cs typeface="Calibri" pitchFamily="34" charset="-120"/>
              </a:rPr>
              <a:t>BEFORE  —  Fragmented Stack</a:t>
            </a:r>
            <a:endParaRPr lang="en-US" sz="1100" dirty="0"/>
          </a:p>
        </p:txBody>
      </p:sp>
      <p:sp>
        <p:nvSpPr>
          <p:cNvPr id="10" name="Shape 7"/>
          <p:cNvSpPr/>
          <p:nvPr/>
        </p:nvSpPr>
        <p:spPr>
          <a:xfrm>
            <a:off x="731520" y="1691640"/>
            <a:ext cx="3474720" cy="640080"/>
          </a:xfrm>
          <a:prstGeom prst="roundRect">
            <a:avLst>
              <a:gd name="adj" fmla="val 8571"/>
            </a:avLst>
          </a:prstGeom>
          <a:solidFill>
            <a:srgbClr val="F4F6FA"/>
          </a:solidFill>
          <a:ln w="6350">
            <a:solidFill>
              <a:srgbClr val="D9DDE3"/>
            </a:solidFill>
            <a:prstDash val="solid"/>
          </a:ln>
        </p:spPr>
        <p:txBody>
          <a:bodyPr/>
          <a:lstStyle/>
          <a:p>
            <a:endParaRPr lang="en-IL"/>
          </a:p>
        </p:txBody>
      </p:sp>
      <p:sp>
        <p:nvSpPr>
          <p:cNvPr id="11" name="Text 8"/>
          <p:cNvSpPr/>
          <p:nvPr/>
        </p:nvSpPr>
        <p:spPr>
          <a:xfrm>
            <a:off x="868680" y="1737360"/>
            <a:ext cx="3200400" cy="548640"/>
          </a:xfrm>
          <a:prstGeom prst="rect">
            <a:avLst/>
          </a:prstGeom>
          <a:noFill/>
          <a:ln/>
        </p:spPr>
        <p:txBody>
          <a:bodyPr wrap="square" lIns="0" tIns="0" rIns="0" bIns="0" rtlCol="0" anchor="ctr"/>
          <a:lstStyle/>
          <a:p>
            <a:pPr marL="0" indent="0">
              <a:buNone/>
            </a:pPr>
            <a:r>
              <a:rPr lang="en-US" sz="1050" dirty="0">
                <a:solidFill>
                  <a:srgbClr val="3A4756"/>
                </a:solidFill>
                <a:latin typeface="Calibri" pitchFamily="34" charset="0"/>
                <a:ea typeface="Calibri" pitchFamily="34" charset="-122"/>
                <a:cs typeface="Calibri" pitchFamily="34" charset="-120"/>
              </a:rPr>
              <a:t>Primary RDBMS</a:t>
            </a:r>
            <a:endParaRPr lang="en-US" sz="1050" dirty="0"/>
          </a:p>
          <a:p>
            <a:pPr marL="0" indent="0">
              <a:buNone/>
            </a:pPr>
            <a:r>
              <a:rPr lang="en-US" sz="1050" dirty="0">
                <a:solidFill>
                  <a:srgbClr val="3A4756"/>
                </a:solidFill>
                <a:latin typeface="Calibri" pitchFamily="34" charset="0"/>
                <a:ea typeface="Calibri" pitchFamily="34" charset="-122"/>
                <a:cs typeface="Calibri" pitchFamily="34" charset="-120"/>
              </a:rPr>
              <a:t>(transactional state)</a:t>
            </a:r>
            <a:endParaRPr lang="en-US" sz="1050" dirty="0"/>
          </a:p>
        </p:txBody>
      </p:sp>
      <p:sp>
        <p:nvSpPr>
          <p:cNvPr id="12" name="Text 9"/>
          <p:cNvSpPr/>
          <p:nvPr/>
        </p:nvSpPr>
        <p:spPr>
          <a:xfrm>
            <a:off x="3383280" y="2331720"/>
            <a:ext cx="1280160" cy="137160"/>
          </a:xfrm>
          <a:prstGeom prst="rect">
            <a:avLst/>
          </a:prstGeom>
          <a:noFill/>
          <a:ln/>
        </p:spPr>
        <p:txBody>
          <a:bodyPr wrap="square" lIns="0" tIns="0" rIns="0" bIns="0" rtlCol="0" anchor="ctr"/>
          <a:lstStyle/>
          <a:p>
            <a:pPr marL="0" indent="0" algn="r">
              <a:buNone/>
            </a:pPr>
            <a:r>
              <a:rPr lang="en-US" sz="800" i="1" dirty="0">
                <a:solidFill>
                  <a:srgbClr val="FF4438"/>
                </a:solidFill>
                <a:latin typeface="Calibri" pitchFamily="34" charset="0"/>
                <a:ea typeface="Calibri" pitchFamily="34" charset="-122"/>
                <a:cs typeface="Calibri" pitchFamily="34" charset="-120"/>
              </a:rPr>
              <a:t>⇅  network hop</a:t>
            </a:r>
            <a:endParaRPr lang="en-US" sz="800" dirty="0"/>
          </a:p>
        </p:txBody>
      </p:sp>
      <p:sp>
        <p:nvSpPr>
          <p:cNvPr id="13" name="Shape 10"/>
          <p:cNvSpPr/>
          <p:nvPr/>
        </p:nvSpPr>
        <p:spPr>
          <a:xfrm>
            <a:off x="731520" y="2468880"/>
            <a:ext cx="3474720" cy="640080"/>
          </a:xfrm>
          <a:prstGeom prst="roundRect">
            <a:avLst>
              <a:gd name="adj" fmla="val 8571"/>
            </a:avLst>
          </a:prstGeom>
          <a:solidFill>
            <a:srgbClr val="F4F6FA"/>
          </a:solidFill>
          <a:ln w="6350">
            <a:solidFill>
              <a:srgbClr val="D9DDE3"/>
            </a:solidFill>
            <a:prstDash val="solid"/>
          </a:ln>
        </p:spPr>
        <p:txBody>
          <a:bodyPr/>
          <a:lstStyle/>
          <a:p>
            <a:endParaRPr lang="en-IL"/>
          </a:p>
        </p:txBody>
      </p:sp>
      <p:sp>
        <p:nvSpPr>
          <p:cNvPr id="14" name="Text 11"/>
          <p:cNvSpPr/>
          <p:nvPr/>
        </p:nvSpPr>
        <p:spPr>
          <a:xfrm>
            <a:off x="868680" y="2514600"/>
            <a:ext cx="3200400" cy="548640"/>
          </a:xfrm>
          <a:prstGeom prst="rect">
            <a:avLst/>
          </a:prstGeom>
          <a:noFill/>
          <a:ln/>
        </p:spPr>
        <p:txBody>
          <a:bodyPr wrap="square" lIns="0" tIns="0" rIns="0" bIns="0" rtlCol="0" anchor="ctr"/>
          <a:lstStyle/>
          <a:p>
            <a:pPr marL="0" indent="0">
              <a:buNone/>
            </a:pPr>
            <a:r>
              <a:rPr lang="en-US" sz="1050" dirty="0">
                <a:solidFill>
                  <a:srgbClr val="3A4756"/>
                </a:solidFill>
                <a:latin typeface="Calibri" pitchFamily="34" charset="0"/>
                <a:ea typeface="Calibri" pitchFamily="34" charset="-122"/>
                <a:cs typeface="Calibri" pitchFamily="34" charset="-120"/>
              </a:rPr>
              <a:t>In-Memory Cache</a:t>
            </a:r>
            <a:endParaRPr lang="en-US" sz="1050" dirty="0"/>
          </a:p>
          <a:p>
            <a:pPr marL="0" indent="0">
              <a:buNone/>
            </a:pPr>
            <a:r>
              <a:rPr lang="en-US" sz="1050" dirty="0">
                <a:solidFill>
                  <a:srgbClr val="3A4756"/>
                </a:solidFill>
                <a:latin typeface="Calibri" pitchFamily="34" charset="0"/>
                <a:ea typeface="Calibri" pitchFamily="34" charset="-122"/>
                <a:cs typeface="Calibri" pitchFamily="34" charset="-120"/>
              </a:rPr>
              <a:t>(session state)</a:t>
            </a:r>
            <a:endParaRPr lang="en-US" sz="1050" dirty="0"/>
          </a:p>
        </p:txBody>
      </p:sp>
      <p:sp>
        <p:nvSpPr>
          <p:cNvPr id="15" name="Text 12"/>
          <p:cNvSpPr/>
          <p:nvPr/>
        </p:nvSpPr>
        <p:spPr>
          <a:xfrm>
            <a:off x="3383280" y="3108960"/>
            <a:ext cx="1280160" cy="137160"/>
          </a:xfrm>
          <a:prstGeom prst="rect">
            <a:avLst/>
          </a:prstGeom>
          <a:noFill/>
          <a:ln/>
        </p:spPr>
        <p:txBody>
          <a:bodyPr wrap="square" lIns="0" tIns="0" rIns="0" bIns="0" rtlCol="0" anchor="ctr"/>
          <a:lstStyle/>
          <a:p>
            <a:pPr marL="0" indent="0" algn="r">
              <a:buNone/>
            </a:pPr>
            <a:r>
              <a:rPr lang="en-US" sz="800" i="1" dirty="0">
                <a:solidFill>
                  <a:srgbClr val="FF4438"/>
                </a:solidFill>
                <a:latin typeface="Calibri" pitchFamily="34" charset="0"/>
                <a:ea typeface="Calibri" pitchFamily="34" charset="-122"/>
                <a:cs typeface="Calibri" pitchFamily="34" charset="-120"/>
              </a:rPr>
              <a:t>⇅  network hop</a:t>
            </a:r>
            <a:endParaRPr lang="en-US" sz="800" dirty="0"/>
          </a:p>
        </p:txBody>
      </p:sp>
      <p:sp>
        <p:nvSpPr>
          <p:cNvPr id="16" name="Shape 13"/>
          <p:cNvSpPr/>
          <p:nvPr/>
        </p:nvSpPr>
        <p:spPr>
          <a:xfrm>
            <a:off x="731520" y="3246120"/>
            <a:ext cx="3474720" cy="640080"/>
          </a:xfrm>
          <a:prstGeom prst="roundRect">
            <a:avLst>
              <a:gd name="adj" fmla="val 8571"/>
            </a:avLst>
          </a:prstGeom>
          <a:solidFill>
            <a:srgbClr val="F4F6FA"/>
          </a:solidFill>
          <a:ln w="6350">
            <a:solidFill>
              <a:srgbClr val="D9DDE3"/>
            </a:solidFill>
            <a:prstDash val="solid"/>
          </a:ln>
        </p:spPr>
        <p:txBody>
          <a:bodyPr/>
          <a:lstStyle/>
          <a:p>
            <a:endParaRPr lang="en-IL"/>
          </a:p>
        </p:txBody>
      </p:sp>
      <p:sp>
        <p:nvSpPr>
          <p:cNvPr id="17" name="Text 14"/>
          <p:cNvSpPr/>
          <p:nvPr/>
        </p:nvSpPr>
        <p:spPr>
          <a:xfrm>
            <a:off x="868680" y="3291840"/>
            <a:ext cx="3200400" cy="548640"/>
          </a:xfrm>
          <a:prstGeom prst="rect">
            <a:avLst/>
          </a:prstGeom>
          <a:noFill/>
          <a:ln/>
        </p:spPr>
        <p:txBody>
          <a:bodyPr wrap="square" lIns="0" tIns="0" rIns="0" bIns="0" rtlCol="0" anchor="ctr"/>
          <a:lstStyle/>
          <a:p>
            <a:pPr marL="0" indent="0">
              <a:buNone/>
            </a:pPr>
            <a:r>
              <a:rPr lang="en-US" sz="1050" dirty="0">
                <a:solidFill>
                  <a:srgbClr val="3A4756"/>
                </a:solidFill>
                <a:latin typeface="Calibri" pitchFamily="34" charset="0"/>
                <a:ea typeface="Calibri" pitchFamily="34" charset="-122"/>
                <a:cs typeface="Calibri" pitchFamily="34" charset="-120"/>
              </a:rPr>
              <a:t>Standalone Vector DB</a:t>
            </a:r>
            <a:endParaRPr lang="en-US" sz="1050" dirty="0"/>
          </a:p>
          <a:p>
            <a:pPr marL="0" indent="0">
              <a:buNone/>
            </a:pPr>
            <a:r>
              <a:rPr lang="en-US" sz="1050" dirty="0">
                <a:solidFill>
                  <a:srgbClr val="3A4756"/>
                </a:solidFill>
                <a:latin typeface="Calibri" pitchFamily="34" charset="0"/>
                <a:ea typeface="Calibri" pitchFamily="34" charset="-122"/>
                <a:cs typeface="Calibri" pitchFamily="34" charset="-120"/>
              </a:rPr>
              <a:t>(embeddings only)</a:t>
            </a:r>
            <a:endParaRPr lang="en-US" sz="1050" dirty="0"/>
          </a:p>
        </p:txBody>
      </p:sp>
      <p:sp>
        <p:nvSpPr>
          <p:cNvPr id="18" name="Text 15"/>
          <p:cNvSpPr/>
          <p:nvPr/>
        </p:nvSpPr>
        <p:spPr>
          <a:xfrm>
            <a:off x="640080" y="4343400"/>
            <a:ext cx="3657600" cy="274320"/>
          </a:xfrm>
          <a:prstGeom prst="rect">
            <a:avLst/>
          </a:prstGeom>
          <a:noFill/>
          <a:ln/>
        </p:spPr>
        <p:txBody>
          <a:bodyPr wrap="square" lIns="0" tIns="0" rIns="0" bIns="0" rtlCol="0" anchor="ctr"/>
          <a:lstStyle/>
          <a:p>
            <a:pPr marL="0" indent="0">
              <a:buNone/>
            </a:pPr>
            <a:r>
              <a:rPr lang="en-US" sz="1000" i="1" dirty="0">
                <a:solidFill>
                  <a:srgbClr val="5A6678"/>
                </a:solidFill>
                <a:latin typeface="Calibri" pitchFamily="34" charset="0"/>
                <a:ea typeface="Calibri" pitchFamily="34" charset="-122"/>
                <a:cs typeface="Calibri" pitchFamily="34" charset="-120"/>
              </a:rPr>
              <a:t>Result: latency tax, sync drift, duplicated infra cost</a:t>
            </a:r>
            <a:endParaRPr lang="en-US" sz="1000" dirty="0"/>
          </a:p>
        </p:txBody>
      </p:sp>
      <p:sp>
        <p:nvSpPr>
          <p:cNvPr id="19" name="Shape 16"/>
          <p:cNvSpPr/>
          <p:nvPr/>
        </p:nvSpPr>
        <p:spPr>
          <a:xfrm>
            <a:off x="4663440" y="1051560"/>
            <a:ext cx="4023360" cy="3657600"/>
          </a:xfrm>
          <a:prstGeom prst="rect">
            <a:avLst/>
          </a:prstGeom>
          <a:solidFill>
            <a:srgbClr val="FFFFFF"/>
          </a:solidFill>
          <a:ln w="9525">
            <a:solidFill>
              <a:srgbClr val="E5E8EE"/>
            </a:solidFill>
            <a:prstDash val="solid"/>
          </a:ln>
        </p:spPr>
        <p:txBody>
          <a:bodyPr/>
          <a:lstStyle/>
          <a:p>
            <a:endParaRPr lang="en-IL"/>
          </a:p>
        </p:txBody>
      </p:sp>
      <p:sp>
        <p:nvSpPr>
          <p:cNvPr id="20" name="Shape 17"/>
          <p:cNvSpPr/>
          <p:nvPr/>
        </p:nvSpPr>
        <p:spPr>
          <a:xfrm>
            <a:off x="4663440" y="1051560"/>
            <a:ext cx="4023360" cy="384048"/>
          </a:xfrm>
          <a:prstGeom prst="rect">
            <a:avLst/>
          </a:prstGeom>
          <a:solidFill>
            <a:srgbClr val="FF4438"/>
          </a:solidFill>
          <a:ln/>
        </p:spPr>
        <p:txBody>
          <a:bodyPr/>
          <a:lstStyle/>
          <a:p>
            <a:endParaRPr lang="en-IL"/>
          </a:p>
        </p:txBody>
      </p:sp>
      <p:sp>
        <p:nvSpPr>
          <p:cNvPr id="21" name="Text 18"/>
          <p:cNvSpPr/>
          <p:nvPr/>
        </p:nvSpPr>
        <p:spPr>
          <a:xfrm>
            <a:off x="4800600" y="1051560"/>
            <a:ext cx="3749040" cy="384048"/>
          </a:xfrm>
          <a:prstGeom prst="rect">
            <a:avLst/>
          </a:prstGeom>
          <a:noFill/>
          <a:ln/>
        </p:spPr>
        <p:txBody>
          <a:bodyPr wrap="square" lIns="0" tIns="0" rIns="0" bIns="0" rtlCol="0" anchor="ctr"/>
          <a:lstStyle/>
          <a:p>
            <a:pPr marL="0" indent="0">
              <a:buNone/>
            </a:pPr>
            <a:r>
              <a:rPr lang="en-US" sz="1100" b="1" kern="0" spc="300" dirty="0">
                <a:solidFill>
                  <a:srgbClr val="FFFFFF"/>
                </a:solidFill>
                <a:latin typeface="Calibri" pitchFamily="34" charset="0"/>
                <a:ea typeface="Calibri" pitchFamily="34" charset="-122"/>
                <a:cs typeface="Calibri" pitchFamily="34" charset="-120"/>
              </a:rPr>
              <a:t>AFTER  —  Unified Real-Time Platform</a:t>
            </a:r>
            <a:endParaRPr lang="en-US" sz="1100" dirty="0"/>
          </a:p>
        </p:txBody>
      </p:sp>
      <p:sp>
        <p:nvSpPr>
          <p:cNvPr id="22" name="Shape 19"/>
          <p:cNvSpPr/>
          <p:nvPr/>
        </p:nvSpPr>
        <p:spPr>
          <a:xfrm>
            <a:off x="4937760" y="1691640"/>
            <a:ext cx="3474720" cy="2377440"/>
          </a:xfrm>
          <a:prstGeom prst="roundRect">
            <a:avLst>
              <a:gd name="adj" fmla="val 3077"/>
            </a:avLst>
          </a:prstGeom>
          <a:solidFill>
            <a:srgbClr val="FFF6F4"/>
          </a:solidFill>
          <a:ln w="15240">
            <a:solidFill>
              <a:srgbClr val="FF4438"/>
            </a:solidFill>
            <a:prstDash val="solid"/>
          </a:ln>
        </p:spPr>
        <p:txBody>
          <a:bodyPr/>
          <a:lstStyle/>
          <a:p>
            <a:endParaRPr lang="en-IL"/>
          </a:p>
        </p:txBody>
      </p:sp>
      <p:pic>
        <p:nvPicPr>
          <p:cNvPr id="23" name="Image 1" descr="/sessions/eloquent-friendly-cori/mnt/outputs/assets/redis_cube.png"/>
          <p:cNvPicPr>
            <a:picLocks noChangeAspect="1"/>
          </p:cNvPicPr>
          <p:nvPr/>
        </p:nvPicPr>
        <p:blipFill>
          <a:blip r:embed="rId3"/>
          <a:stretch>
            <a:fillRect/>
          </a:stretch>
        </p:blipFill>
        <p:spPr>
          <a:xfrm>
            <a:off x="5074920" y="1828800"/>
            <a:ext cx="548640" cy="502920"/>
          </a:xfrm>
          <a:prstGeom prst="rect">
            <a:avLst/>
          </a:prstGeom>
        </p:spPr>
      </p:pic>
      <p:sp>
        <p:nvSpPr>
          <p:cNvPr id="24" name="Text 20"/>
          <p:cNvSpPr/>
          <p:nvPr/>
        </p:nvSpPr>
        <p:spPr>
          <a:xfrm>
            <a:off x="5669280" y="1856232"/>
            <a:ext cx="2926080" cy="274320"/>
          </a:xfrm>
          <a:prstGeom prst="rect">
            <a:avLst/>
          </a:prstGeom>
          <a:noFill/>
          <a:ln/>
        </p:spPr>
        <p:txBody>
          <a:bodyPr wrap="square" lIns="0" tIns="0" rIns="0" bIns="0" rtlCol="0" anchor="ctr"/>
          <a:lstStyle/>
          <a:p>
            <a:pPr marL="0" indent="0">
              <a:buNone/>
            </a:pPr>
            <a:r>
              <a:rPr lang="en-US" sz="1600" b="1" dirty="0">
                <a:solidFill>
                  <a:srgbClr val="163341"/>
                </a:solidFill>
                <a:latin typeface="Calibri" pitchFamily="34" charset="0"/>
                <a:ea typeface="Calibri" pitchFamily="34" charset="-122"/>
                <a:cs typeface="Calibri" pitchFamily="34" charset="-120"/>
              </a:rPr>
              <a:t>Redis 8.x</a:t>
            </a:r>
            <a:endParaRPr lang="en-US" sz="1600" dirty="0"/>
          </a:p>
        </p:txBody>
      </p:sp>
      <p:sp>
        <p:nvSpPr>
          <p:cNvPr id="25" name="Text 21"/>
          <p:cNvSpPr/>
          <p:nvPr/>
        </p:nvSpPr>
        <p:spPr>
          <a:xfrm>
            <a:off x="5669280" y="2130552"/>
            <a:ext cx="2926080" cy="201168"/>
          </a:xfrm>
          <a:prstGeom prst="rect">
            <a:avLst/>
          </a:prstGeom>
          <a:noFill/>
          <a:ln/>
        </p:spPr>
        <p:txBody>
          <a:bodyPr wrap="square" lIns="0" tIns="0" rIns="0" bIns="0" rtlCol="0" anchor="ctr"/>
          <a:lstStyle/>
          <a:p>
            <a:pPr marL="0" indent="0">
              <a:buNone/>
            </a:pPr>
            <a:r>
              <a:rPr lang="en-US" sz="900" dirty="0">
                <a:solidFill>
                  <a:srgbClr val="5A6678"/>
                </a:solidFill>
                <a:latin typeface="Calibri" pitchFamily="34" charset="0"/>
                <a:ea typeface="Calibri" pitchFamily="34" charset="-122"/>
                <a:cs typeface="Calibri" pitchFamily="34" charset="-120"/>
              </a:rPr>
              <a:t>Single in-memory address space</a:t>
            </a:r>
            <a:endParaRPr lang="en-US" sz="900" dirty="0"/>
          </a:p>
        </p:txBody>
      </p:sp>
      <p:sp>
        <p:nvSpPr>
          <p:cNvPr id="26" name="Shape 22"/>
          <p:cNvSpPr/>
          <p:nvPr/>
        </p:nvSpPr>
        <p:spPr>
          <a:xfrm>
            <a:off x="5074920" y="2468880"/>
            <a:ext cx="3200400" cy="411480"/>
          </a:xfrm>
          <a:prstGeom prst="rect">
            <a:avLst/>
          </a:prstGeom>
          <a:solidFill>
            <a:srgbClr val="FFFFFF"/>
          </a:solidFill>
          <a:ln w="6350">
            <a:solidFill>
              <a:srgbClr val="D9DDE3"/>
            </a:solidFill>
            <a:prstDash val="solid"/>
          </a:ln>
        </p:spPr>
        <p:txBody>
          <a:bodyPr/>
          <a:lstStyle/>
          <a:p>
            <a:endParaRPr lang="en-IL"/>
          </a:p>
        </p:txBody>
      </p:sp>
      <p:sp>
        <p:nvSpPr>
          <p:cNvPr id="27" name="Shape 23"/>
          <p:cNvSpPr/>
          <p:nvPr/>
        </p:nvSpPr>
        <p:spPr>
          <a:xfrm>
            <a:off x="5166360" y="2578608"/>
            <a:ext cx="182880" cy="182880"/>
          </a:xfrm>
          <a:prstGeom prst="line">
            <a:avLst/>
          </a:prstGeom>
          <a:solidFill>
            <a:srgbClr val="FF4438"/>
          </a:solidFill>
          <a:ln/>
        </p:spPr>
        <p:txBody>
          <a:bodyPr/>
          <a:lstStyle/>
          <a:p>
            <a:endParaRPr lang="en-IL"/>
          </a:p>
        </p:txBody>
      </p:sp>
      <p:sp>
        <p:nvSpPr>
          <p:cNvPr id="28" name="Text 24"/>
          <p:cNvSpPr/>
          <p:nvPr/>
        </p:nvSpPr>
        <p:spPr>
          <a:xfrm>
            <a:off x="5440680" y="2468880"/>
            <a:ext cx="2834640" cy="411480"/>
          </a:xfrm>
          <a:prstGeom prst="rect">
            <a:avLst/>
          </a:prstGeom>
          <a:noFill/>
          <a:ln/>
        </p:spPr>
        <p:txBody>
          <a:bodyPr wrap="square" lIns="0" tIns="0" rIns="0" bIns="0" rtlCol="0" anchor="ctr"/>
          <a:lstStyle/>
          <a:p>
            <a:pPr marL="0" indent="0">
              <a:buNone/>
            </a:pPr>
            <a:r>
              <a:rPr lang="en-US" sz="1050" dirty="0">
                <a:solidFill>
                  <a:srgbClr val="163341"/>
                </a:solidFill>
                <a:latin typeface="Calibri" pitchFamily="34" charset="0"/>
                <a:ea typeface="Calibri" pitchFamily="34" charset="-122"/>
                <a:cs typeface="Calibri" pitchFamily="34" charset="-120"/>
              </a:rPr>
              <a:t>Operational data  +  JSON metadata</a:t>
            </a:r>
            <a:endParaRPr lang="en-US" sz="1050" dirty="0"/>
          </a:p>
        </p:txBody>
      </p:sp>
      <p:sp>
        <p:nvSpPr>
          <p:cNvPr id="29" name="Shape 25"/>
          <p:cNvSpPr/>
          <p:nvPr/>
        </p:nvSpPr>
        <p:spPr>
          <a:xfrm>
            <a:off x="5074920" y="2971800"/>
            <a:ext cx="3200400" cy="411480"/>
          </a:xfrm>
          <a:prstGeom prst="rect">
            <a:avLst/>
          </a:prstGeom>
          <a:solidFill>
            <a:srgbClr val="FFFFFF"/>
          </a:solidFill>
          <a:ln w="6350">
            <a:solidFill>
              <a:srgbClr val="D9DDE3"/>
            </a:solidFill>
            <a:prstDash val="solid"/>
          </a:ln>
        </p:spPr>
        <p:txBody>
          <a:bodyPr/>
          <a:lstStyle/>
          <a:p>
            <a:endParaRPr lang="en-IL"/>
          </a:p>
        </p:txBody>
      </p:sp>
      <p:sp>
        <p:nvSpPr>
          <p:cNvPr id="30" name="Shape 26"/>
          <p:cNvSpPr/>
          <p:nvPr/>
        </p:nvSpPr>
        <p:spPr>
          <a:xfrm>
            <a:off x="5166360" y="3081528"/>
            <a:ext cx="182880" cy="182880"/>
          </a:xfrm>
          <a:prstGeom prst="line">
            <a:avLst/>
          </a:prstGeom>
          <a:solidFill>
            <a:srgbClr val="FF4438"/>
          </a:solidFill>
          <a:ln/>
        </p:spPr>
        <p:txBody>
          <a:bodyPr/>
          <a:lstStyle/>
          <a:p>
            <a:endParaRPr lang="en-IL"/>
          </a:p>
        </p:txBody>
      </p:sp>
      <p:sp>
        <p:nvSpPr>
          <p:cNvPr id="31" name="Text 27"/>
          <p:cNvSpPr/>
          <p:nvPr/>
        </p:nvSpPr>
        <p:spPr>
          <a:xfrm>
            <a:off x="5440680" y="2971800"/>
            <a:ext cx="2834640" cy="411480"/>
          </a:xfrm>
          <a:prstGeom prst="rect">
            <a:avLst/>
          </a:prstGeom>
          <a:noFill/>
          <a:ln/>
        </p:spPr>
        <p:txBody>
          <a:bodyPr wrap="square" lIns="0" tIns="0" rIns="0" bIns="0" rtlCol="0" anchor="ctr"/>
          <a:lstStyle/>
          <a:p>
            <a:pPr marL="0" indent="0">
              <a:buNone/>
            </a:pPr>
            <a:r>
              <a:rPr lang="en-US" sz="1050" dirty="0">
                <a:solidFill>
                  <a:srgbClr val="163341"/>
                </a:solidFill>
                <a:latin typeface="Calibri" pitchFamily="34" charset="0"/>
                <a:ea typeface="Calibri" pitchFamily="34" charset="-122"/>
                <a:cs typeface="Calibri" pitchFamily="34" charset="-120"/>
              </a:rPr>
              <a:t>Cache  +  session state</a:t>
            </a:r>
            <a:endParaRPr lang="en-US" sz="1050" dirty="0"/>
          </a:p>
        </p:txBody>
      </p:sp>
      <p:sp>
        <p:nvSpPr>
          <p:cNvPr id="32" name="Shape 28"/>
          <p:cNvSpPr/>
          <p:nvPr/>
        </p:nvSpPr>
        <p:spPr>
          <a:xfrm>
            <a:off x="5074920" y="3474720"/>
            <a:ext cx="3200400" cy="411480"/>
          </a:xfrm>
          <a:prstGeom prst="rect">
            <a:avLst/>
          </a:prstGeom>
          <a:solidFill>
            <a:srgbClr val="FFFFFF"/>
          </a:solidFill>
          <a:ln w="6350">
            <a:solidFill>
              <a:srgbClr val="D9DDE3"/>
            </a:solidFill>
            <a:prstDash val="solid"/>
          </a:ln>
        </p:spPr>
        <p:txBody>
          <a:bodyPr/>
          <a:lstStyle/>
          <a:p>
            <a:endParaRPr lang="en-IL"/>
          </a:p>
        </p:txBody>
      </p:sp>
      <p:sp>
        <p:nvSpPr>
          <p:cNvPr id="33" name="Shape 29"/>
          <p:cNvSpPr/>
          <p:nvPr/>
        </p:nvSpPr>
        <p:spPr>
          <a:xfrm>
            <a:off x="5166360" y="3584448"/>
            <a:ext cx="182880" cy="182880"/>
          </a:xfrm>
          <a:prstGeom prst="line">
            <a:avLst/>
          </a:prstGeom>
          <a:solidFill>
            <a:srgbClr val="FF4438"/>
          </a:solidFill>
          <a:ln/>
        </p:spPr>
        <p:txBody>
          <a:bodyPr/>
          <a:lstStyle/>
          <a:p>
            <a:endParaRPr lang="en-IL"/>
          </a:p>
        </p:txBody>
      </p:sp>
      <p:sp>
        <p:nvSpPr>
          <p:cNvPr id="34" name="Text 30"/>
          <p:cNvSpPr/>
          <p:nvPr/>
        </p:nvSpPr>
        <p:spPr>
          <a:xfrm>
            <a:off x="5440680" y="3474720"/>
            <a:ext cx="2834640" cy="411480"/>
          </a:xfrm>
          <a:prstGeom prst="rect">
            <a:avLst/>
          </a:prstGeom>
          <a:noFill/>
          <a:ln/>
        </p:spPr>
        <p:txBody>
          <a:bodyPr wrap="square" lIns="0" tIns="0" rIns="0" bIns="0" rtlCol="0" anchor="ctr"/>
          <a:lstStyle/>
          <a:p>
            <a:pPr marL="0" indent="0">
              <a:buNone/>
            </a:pPr>
            <a:r>
              <a:rPr lang="en-US" sz="1050" dirty="0">
                <a:solidFill>
                  <a:srgbClr val="163341"/>
                </a:solidFill>
                <a:latin typeface="Calibri" pitchFamily="34" charset="0"/>
                <a:ea typeface="Calibri" pitchFamily="34" charset="-122"/>
                <a:cs typeface="Calibri" pitchFamily="34" charset="-120"/>
              </a:rPr>
              <a:t>Vector embeddings  +  ANN index</a:t>
            </a:r>
            <a:endParaRPr lang="en-US" sz="1050" dirty="0"/>
          </a:p>
        </p:txBody>
      </p:sp>
      <p:sp>
        <p:nvSpPr>
          <p:cNvPr id="35" name="Text 31"/>
          <p:cNvSpPr/>
          <p:nvPr/>
        </p:nvSpPr>
        <p:spPr>
          <a:xfrm>
            <a:off x="4846320" y="4343400"/>
            <a:ext cx="3657600" cy="274320"/>
          </a:xfrm>
          <a:prstGeom prst="rect">
            <a:avLst/>
          </a:prstGeom>
          <a:noFill/>
          <a:ln/>
        </p:spPr>
        <p:txBody>
          <a:bodyPr wrap="square" lIns="0" tIns="0" rIns="0" bIns="0" rtlCol="0" anchor="ctr"/>
          <a:lstStyle/>
          <a:p>
            <a:pPr marL="0" indent="0">
              <a:buNone/>
            </a:pPr>
            <a:r>
              <a:rPr lang="en-US" sz="1000" b="1" i="1" dirty="0">
                <a:solidFill>
                  <a:srgbClr val="163341"/>
                </a:solidFill>
                <a:latin typeface="Calibri" pitchFamily="34" charset="0"/>
                <a:ea typeface="Calibri" pitchFamily="34" charset="-122"/>
                <a:cs typeface="Calibri" pitchFamily="34" charset="-120"/>
              </a:rPr>
              <a:t>Result: zero network hops, no sync, single security boundary</a:t>
            </a:r>
            <a:endParaRPr lang="en-US" sz="1000" dirty="0"/>
          </a:p>
        </p:txBody>
      </p:sp>
      <p:sp>
        <p:nvSpPr>
          <p:cNvPr id="36" name="Shape 32"/>
          <p:cNvSpPr/>
          <p:nvPr/>
        </p:nvSpPr>
        <p:spPr>
          <a:xfrm>
            <a:off x="320040" y="4864608"/>
            <a:ext cx="8503920" cy="10973"/>
          </a:xfrm>
          <a:prstGeom prst="rect">
            <a:avLst/>
          </a:prstGeom>
          <a:solidFill>
            <a:srgbClr val="D9DDE3"/>
          </a:solidFill>
          <a:ln/>
        </p:spPr>
        <p:txBody>
          <a:bodyPr/>
          <a:lstStyle/>
          <a:p>
            <a:endParaRPr lang="en-IL"/>
          </a:p>
        </p:txBody>
      </p:sp>
      <p:sp>
        <p:nvSpPr>
          <p:cNvPr id="37" name="Text 33"/>
          <p:cNvSpPr/>
          <p:nvPr/>
        </p:nvSpPr>
        <p:spPr>
          <a:xfrm>
            <a:off x="320040" y="4919472"/>
            <a:ext cx="6400800" cy="201168"/>
          </a:xfrm>
          <a:prstGeom prst="rect">
            <a:avLst/>
          </a:prstGeom>
          <a:noFill/>
          <a:ln/>
        </p:spPr>
        <p:txBody>
          <a:bodyPr wrap="square" lIns="0" tIns="0" rIns="0" bIns="0" rtlCol="0" anchor="ctr"/>
          <a:lstStyle/>
          <a:p>
            <a:pPr marL="0" indent="0">
              <a:buNone/>
            </a:pPr>
            <a:r>
              <a:rPr lang="en-US" sz="850" dirty="0">
                <a:solidFill>
                  <a:srgbClr val="8A95A4"/>
                </a:solidFill>
                <a:latin typeface="Calibri" pitchFamily="34" charset="0"/>
                <a:ea typeface="Calibri" pitchFamily="34" charset="-122"/>
                <a:cs typeface="Calibri" pitchFamily="34" charset="-120"/>
              </a:rPr>
              <a:t>Redis as a Vector Database  ·  Architecting for Real-Time AI</a:t>
            </a:r>
            <a:endParaRPr lang="en-US" sz="850" dirty="0"/>
          </a:p>
        </p:txBody>
      </p:sp>
      <p:sp>
        <p:nvSpPr>
          <p:cNvPr id="38" name="Text 34"/>
          <p:cNvSpPr/>
          <p:nvPr/>
        </p:nvSpPr>
        <p:spPr>
          <a:xfrm>
            <a:off x="7955280" y="4919472"/>
            <a:ext cx="914400" cy="201168"/>
          </a:xfrm>
          <a:prstGeom prst="rect">
            <a:avLst/>
          </a:prstGeom>
          <a:noFill/>
          <a:ln/>
        </p:spPr>
        <p:txBody>
          <a:bodyPr wrap="square" lIns="0" tIns="0" rIns="0" bIns="0" rtlCol="0" anchor="ctr"/>
          <a:lstStyle/>
          <a:p>
            <a:pPr marL="0" indent="0" algn="r">
              <a:buNone/>
            </a:pPr>
            <a:r>
              <a:rPr lang="en-US" sz="850" dirty="0">
                <a:solidFill>
                  <a:srgbClr val="8A95A4"/>
                </a:solidFill>
                <a:latin typeface="Calibri" pitchFamily="34" charset="0"/>
                <a:ea typeface="Calibri" pitchFamily="34" charset="-122"/>
                <a:cs typeface="Calibri" pitchFamily="34" charset="-120"/>
              </a:rPr>
              <a:t>2 / 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FF4438"/>
          </a:solidFill>
          <a:ln/>
        </p:spPr>
        <p:txBody>
          <a:bodyPr/>
          <a:lstStyle/>
          <a:p>
            <a:endParaRPr lang="en-IL"/>
          </a:p>
        </p:txBody>
      </p:sp>
      <p:pic>
        <p:nvPicPr>
          <p:cNvPr id="3" name="Image 0" descr="/sessions/eloquent-friendly-cori/mnt/outputs/assets/redis_cube.png"/>
          <p:cNvPicPr>
            <a:picLocks noChangeAspect="1"/>
          </p:cNvPicPr>
          <p:nvPr/>
        </p:nvPicPr>
        <p:blipFill>
          <a:blip r:embed="rId3"/>
          <a:stretch>
            <a:fillRect/>
          </a:stretch>
        </p:blipFill>
        <p:spPr>
          <a:xfrm>
            <a:off x="320040" y="201168"/>
            <a:ext cx="502920" cy="475488"/>
          </a:xfrm>
          <a:prstGeom prst="rect">
            <a:avLst/>
          </a:prstGeom>
        </p:spPr>
      </p:pic>
      <p:sp>
        <p:nvSpPr>
          <p:cNvPr id="4" name="Text 1"/>
          <p:cNvSpPr/>
          <p:nvPr/>
        </p:nvSpPr>
        <p:spPr>
          <a:xfrm>
            <a:off x="960120" y="201168"/>
            <a:ext cx="5943600" cy="228600"/>
          </a:xfrm>
          <a:prstGeom prst="rect">
            <a:avLst/>
          </a:prstGeom>
          <a:noFill/>
          <a:ln/>
        </p:spPr>
        <p:txBody>
          <a:bodyPr wrap="square" lIns="0" tIns="0" rIns="0" bIns="0" rtlCol="0" anchor="ctr"/>
          <a:lstStyle/>
          <a:p>
            <a:pPr marL="0" indent="0">
              <a:buNone/>
            </a:pPr>
            <a:r>
              <a:rPr lang="en-US" sz="900" b="1" kern="0" spc="400" dirty="0">
                <a:solidFill>
                  <a:srgbClr val="FF4438"/>
                </a:solidFill>
                <a:latin typeface="Calibri" pitchFamily="34" charset="0"/>
                <a:ea typeface="Calibri" pitchFamily="34" charset="-122"/>
                <a:cs typeface="Calibri" pitchFamily="34" charset="-120"/>
              </a:rPr>
              <a:t>02  ·  ARCHITECTURE</a:t>
            </a:r>
            <a:endParaRPr lang="en-US" sz="900" dirty="0"/>
          </a:p>
        </p:txBody>
      </p:sp>
      <p:sp>
        <p:nvSpPr>
          <p:cNvPr id="5" name="Text 2"/>
          <p:cNvSpPr/>
          <p:nvPr/>
        </p:nvSpPr>
        <p:spPr>
          <a:xfrm>
            <a:off x="960120" y="384048"/>
            <a:ext cx="7863840" cy="411480"/>
          </a:xfrm>
          <a:prstGeom prst="rect">
            <a:avLst/>
          </a:prstGeom>
          <a:noFill/>
          <a:ln/>
        </p:spPr>
        <p:txBody>
          <a:bodyPr wrap="square" lIns="0" tIns="0" rIns="0" bIns="0" rtlCol="0" anchor="ctr"/>
          <a:lstStyle/>
          <a:p>
            <a:pPr marL="0" indent="0">
              <a:buNone/>
            </a:pPr>
            <a:r>
              <a:rPr lang="en-US" sz="2200" b="1" dirty="0">
                <a:solidFill>
                  <a:srgbClr val="163341"/>
                </a:solidFill>
                <a:latin typeface="Calibri" pitchFamily="34" charset="0"/>
                <a:ea typeface="Calibri" pitchFamily="34" charset="-122"/>
                <a:cs typeface="Calibri" pitchFamily="34" charset="-120"/>
              </a:rPr>
              <a:t>Redis 8.0 — From Modules to Native Engine</a:t>
            </a:r>
            <a:endParaRPr lang="en-US" sz="2200" dirty="0"/>
          </a:p>
        </p:txBody>
      </p:sp>
      <p:sp>
        <p:nvSpPr>
          <p:cNvPr id="6" name="Shape 3"/>
          <p:cNvSpPr/>
          <p:nvPr/>
        </p:nvSpPr>
        <p:spPr>
          <a:xfrm>
            <a:off x="320040" y="868680"/>
            <a:ext cx="8503920" cy="10973"/>
          </a:xfrm>
          <a:prstGeom prst="rect">
            <a:avLst/>
          </a:prstGeom>
          <a:solidFill>
            <a:srgbClr val="D9DDE3"/>
          </a:solidFill>
          <a:ln/>
        </p:spPr>
        <p:txBody>
          <a:bodyPr/>
          <a:lstStyle/>
          <a:p>
            <a:endParaRPr lang="en-IL"/>
          </a:p>
        </p:txBody>
      </p:sp>
      <p:sp>
        <p:nvSpPr>
          <p:cNvPr id="7" name="Shape 4"/>
          <p:cNvSpPr/>
          <p:nvPr/>
        </p:nvSpPr>
        <p:spPr>
          <a:xfrm>
            <a:off x="457200" y="1097280"/>
            <a:ext cx="2697480" cy="1005840"/>
          </a:xfrm>
          <a:prstGeom prst="rect">
            <a:avLst/>
          </a:prstGeom>
          <a:solidFill>
            <a:srgbClr val="FFFFFF"/>
          </a:solidFill>
          <a:ln w="9525">
            <a:solidFill>
              <a:srgbClr val="E5E8EE"/>
            </a:solidFill>
            <a:prstDash val="solid"/>
          </a:ln>
        </p:spPr>
        <p:txBody>
          <a:bodyPr/>
          <a:lstStyle/>
          <a:p>
            <a:endParaRPr lang="en-IL"/>
          </a:p>
        </p:txBody>
      </p:sp>
      <p:sp>
        <p:nvSpPr>
          <p:cNvPr id="8" name="Shape 5"/>
          <p:cNvSpPr/>
          <p:nvPr/>
        </p:nvSpPr>
        <p:spPr>
          <a:xfrm>
            <a:off x="457200" y="1097280"/>
            <a:ext cx="54864" cy="1005840"/>
          </a:xfrm>
          <a:prstGeom prst="rect">
            <a:avLst/>
          </a:prstGeom>
          <a:solidFill>
            <a:srgbClr val="FF4438"/>
          </a:solidFill>
          <a:ln/>
        </p:spPr>
        <p:txBody>
          <a:bodyPr/>
          <a:lstStyle/>
          <a:p>
            <a:endParaRPr lang="en-IL"/>
          </a:p>
        </p:txBody>
      </p:sp>
      <p:sp>
        <p:nvSpPr>
          <p:cNvPr id="9" name="Text 6"/>
          <p:cNvSpPr/>
          <p:nvPr/>
        </p:nvSpPr>
        <p:spPr>
          <a:xfrm>
            <a:off x="594360" y="1170432"/>
            <a:ext cx="2514600" cy="553212"/>
          </a:xfrm>
          <a:prstGeom prst="rect">
            <a:avLst/>
          </a:prstGeom>
          <a:noFill/>
          <a:ln/>
        </p:spPr>
        <p:txBody>
          <a:bodyPr wrap="square" lIns="0" tIns="0" rIns="0" bIns="0" rtlCol="0" anchor="b"/>
          <a:lstStyle/>
          <a:p>
            <a:pPr marL="0" indent="0">
              <a:buNone/>
            </a:pPr>
            <a:r>
              <a:rPr lang="en-US" sz="2800" b="1" dirty="0">
                <a:solidFill>
                  <a:srgbClr val="FF4438"/>
                </a:solidFill>
                <a:latin typeface="Calibri" pitchFamily="34" charset="0"/>
                <a:ea typeface="Calibri" pitchFamily="34" charset="-122"/>
                <a:cs typeface="Calibri" pitchFamily="34" charset="-120"/>
              </a:rPr>
              <a:t>−87%</a:t>
            </a:r>
            <a:endParaRPr lang="en-US" sz="2800" dirty="0"/>
          </a:p>
        </p:txBody>
      </p:sp>
      <p:sp>
        <p:nvSpPr>
          <p:cNvPr id="10" name="Text 7"/>
          <p:cNvSpPr/>
          <p:nvPr/>
        </p:nvSpPr>
        <p:spPr>
          <a:xfrm>
            <a:off x="594360" y="1668780"/>
            <a:ext cx="2514600" cy="402336"/>
          </a:xfrm>
          <a:prstGeom prst="rect">
            <a:avLst/>
          </a:prstGeom>
          <a:noFill/>
          <a:ln/>
        </p:spPr>
        <p:txBody>
          <a:bodyPr wrap="square" lIns="0" tIns="0" rIns="0" bIns="0" rtlCol="0" anchor="t"/>
          <a:lstStyle/>
          <a:p>
            <a:pPr marL="0" indent="0">
              <a:buNone/>
            </a:pPr>
            <a:r>
              <a:rPr lang="en-US" sz="1000" dirty="0">
                <a:solidFill>
                  <a:srgbClr val="5A6678"/>
                </a:solidFill>
                <a:latin typeface="Calibri" pitchFamily="34" charset="0"/>
                <a:ea typeface="Calibri" pitchFamily="34" charset="-122"/>
                <a:cs typeface="Calibri" pitchFamily="34" charset="-120"/>
              </a:rPr>
              <a:t>command latency vs. modular Redis</a:t>
            </a:r>
            <a:endParaRPr lang="en-US" sz="1000" dirty="0"/>
          </a:p>
        </p:txBody>
      </p:sp>
      <p:sp>
        <p:nvSpPr>
          <p:cNvPr id="11" name="Shape 8"/>
          <p:cNvSpPr/>
          <p:nvPr/>
        </p:nvSpPr>
        <p:spPr>
          <a:xfrm>
            <a:off x="3246120" y="1097280"/>
            <a:ext cx="2697480" cy="1005840"/>
          </a:xfrm>
          <a:prstGeom prst="rect">
            <a:avLst/>
          </a:prstGeom>
          <a:solidFill>
            <a:srgbClr val="FFFFFF"/>
          </a:solidFill>
          <a:ln w="9525">
            <a:solidFill>
              <a:srgbClr val="E5E8EE"/>
            </a:solidFill>
            <a:prstDash val="solid"/>
          </a:ln>
        </p:spPr>
        <p:txBody>
          <a:bodyPr/>
          <a:lstStyle/>
          <a:p>
            <a:endParaRPr lang="en-IL"/>
          </a:p>
        </p:txBody>
      </p:sp>
      <p:sp>
        <p:nvSpPr>
          <p:cNvPr id="12" name="Shape 9"/>
          <p:cNvSpPr/>
          <p:nvPr/>
        </p:nvSpPr>
        <p:spPr>
          <a:xfrm>
            <a:off x="3246120" y="1097280"/>
            <a:ext cx="54864" cy="1005840"/>
          </a:xfrm>
          <a:prstGeom prst="rect">
            <a:avLst/>
          </a:prstGeom>
          <a:solidFill>
            <a:srgbClr val="FF4438"/>
          </a:solidFill>
          <a:ln/>
        </p:spPr>
        <p:txBody>
          <a:bodyPr/>
          <a:lstStyle/>
          <a:p>
            <a:endParaRPr lang="en-IL"/>
          </a:p>
        </p:txBody>
      </p:sp>
      <p:sp>
        <p:nvSpPr>
          <p:cNvPr id="13" name="Text 10"/>
          <p:cNvSpPr/>
          <p:nvPr/>
        </p:nvSpPr>
        <p:spPr>
          <a:xfrm>
            <a:off x="3383280" y="1170432"/>
            <a:ext cx="2514600" cy="553212"/>
          </a:xfrm>
          <a:prstGeom prst="rect">
            <a:avLst/>
          </a:prstGeom>
          <a:noFill/>
          <a:ln/>
        </p:spPr>
        <p:txBody>
          <a:bodyPr wrap="square" lIns="0" tIns="0" rIns="0" bIns="0" rtlCol="0" anchor="b"/>
          <a:lstStyle/>
          <a:p>
            <a:pPr marL="0" indent="0">
              <a:buNone/>
            </a:pPr>
            <a:r>
              <a:rPr lang="en-US" sz="2800" b="1" dirty="0">
                <a:solidFill>
                  <a:srgbClr val="FF4438"/>
                </a:solidFill>
                <a:latin typeface="Calibri" pitchFamily="34" charset="0"/>
                <a:ea typeface="Calibri" pitchFamily="34" charset="-122"/>
                <a:cs typeface="Calibri" pitchFamily="34" charset="-120"/>
              </a:rPr>
              <a:t>+144%</a:t>
            </a:r>
            <a:endParaRPr lang="en-US" sz="2800" dirty="0"/>
          </a:p>
        </p:txBody>
      </p:sp>
      <p:sp>
        <p:nvSpPr>
          <p:cNvPr id="14" name="Text 11"/>
          <p:cNvSpPr/>
          <p:nvPr/>
        </p:nvSpPr>
        <p:spPr>
          <a:xfrm>
            <a:off x="3383280" y="1668780"/>
            <a:ext cx="2514600" cy="402336"/>
          </a:xfrm>
          <a:prstGeom prst="rect">
            <a:avLst/>
          </a:prstGeom>
          <a:noFill/>
          <a:ln/>
        </p:spPr>
        <p:txBody>
          <a:bodyPr wrap="square" lIns="0" tIns="0" rIns="0" bIns="0" rtlCol="0" anchor="t"/>
          <a:lstStyle/>
          <a:p>
            <a:pPr marL="0" indent="0">
              <a:buNone/>
            </a:pPr>
            <a:r>
              <a:rPr lang="en-US" sz="1000" dirty="0">
                <a:solidFill>
                  <a:srgbClr val="5A6678"/>
                </a:solidFill>
                <a:latin typeface="Calibri" pitchFamily="34" charset="0"/>
                <a:ea typeface="Calibri" pitchFamily="34" charset="-122"/>
                <a:cs typeface="Calibri" pitchFamily="34" charset="-120"/>
              </a:rPr>
              <a:t>QPS with vector quantization</a:t>
            </a:r>
            <a:endParaRPr lang="en-US" sz="1000" dirty="0"/>
          </a:p>
        </p:txBody>
      </p:sp>
      <p:sp>
        <p:nvSpPr>
          <p:cNvPr id="15" name="Shape 12"/>
          <p:cNvSpPr/>
          <p:nvPr/>
        </p:nvSpPr>
        <p:spPr>
          <a:xfrm>
            <a:off x="6035040" y="1097280"/>
            <a:ext cx="2697480" cy="1005840"/>
          </a:xfrm>
          <a:prstGeom prst="rect">
            <a:avLst/>
          </a:prstGeom>
          <a:solidFill>
            <a:srgbClr val="FFFFFF"/>
          </a:solidFill>
          <a:ln w="9525">
            <a:solidFill>
              <a:srgbClr val="E5E8EE"/>
            </a:solidFill>
            <a:prstDash val="solid"/>
          </a:ln>
        </p:spPr>
        <p:txBody>
          <a:bodyPr/>
          <a:lstStyle/>
          <a:p>
            <a:endParaRPr lang="en-IL"/>
          </a:p>
        </p:txBody>
      </p:sp>
      <p:sp>
        <p:nvSpPr>
          <p:cNvPr id="16" name="Shape 13"/>
          <p:cNvSpPr/>
          <p:nvPr/>
        </p:nvSpPr>
        <p:spPr>
          <a:xfrm>
            <a:off x="6035040" y="1097280"/>
            <a:ext cx="54864" cy="1005840"/>
          </a:xfrm>
          <a:prstGeom prst="rect">
            <a:avLst/>
          </a:prstGeom>
          <a:solidFill>
            <a:srgbClr val="FF4438"/>
          </a:solidFill>
          <a:ln/>
        </p:spPr>
        <p:txBody>
          <a:bodyPr/>
          <a:lstStyle/>
          <a:p>
            <a:endParaRPr lang="en-IL"/>
          </a:p>
        </p:txBody>
      </p:sp>
      <p:sp>
        <p:nvSpPr>
          <p:cNvPr id="17" name="Text 14"/>
          <p:cNvSpPr/>
          <p:nvPr/>
        </p:nvSpPr>
        <p:spPr>
          <a:xfrm>
            <a:off x="6172200" y="1170432"/>
            <a:ext cx="2514600" cy="553212"/>
          </a:xfrm>
          <a:prstGeom prst="rect">
            <a:avLst/>
          </a:prstGeom>
          <a:noFill/>
          <a:ln/>
        </p:spPr>
        <p:txBody>
          <a:bodyPr wrap="square" lIns="0" tIns="0" rIns="0" bIns="0" rtlCol="0" anchor="b"/>
          <a:lstStyle/>
          <a:p>
            <a:pPr marL="0" indent="0">
              <a:buNone/>
            </a:pPr>
            <a:r>
              <a:rPr lang="en-US" sz="2800" b="1" dirty="0">
                <a:solidFill>
                  <a:srgbClr val="FF4438"/>
                </a:solidFill>
                <a:latin typeface="Calibri" pitchFamily="34" charset="0"/>
                <a:ea typeface="Calibri" pitchFamily="34" charset="-122"/>
                <a:cs typeface="Calibri" pitchFamily="34" charset="-120"/>
              </a:rPr>
              <a:t>160K /s</a:t>
            </a:r>
            <a:endParaRPr lang="en-US" sz="2800" dirty="0"/>
          </a:p>
        </p:txBody>
      </p:sp>
      <p:sp>
        <p:nvSpPr>
          <p:cNvPr id="18" name="Text 15"/>
          <p:cNvSpPr/>
          <p:nvPr/>
        </p:nvSpPr>
        <p:spPr>
          <a:xfrm>
            <a:off x="6172200" y="1668780"/>
            <a:ext cx="2514600" cy="402336"/>
          </a:xfrm>
          <a:prstGeom prst="rect">
            <a:avLst/>
          </a:prstGeom>
          <a:noFill/>
          <a:ln/>
        </p:spPr>
        <p:txBody>
          <a:bodyPr wrap="square" lIns="0" tIns="0" rIns="0" bIns="0" rtlCol="0" anchor="t"/>
          <a:lstStyle/>
          <a:p>
            <a:pPr marL="0" indent="0">
              <a:buNone/>
            </a:pPr>
            <a:r>
              <a:rPr lang="en-US" sz="1000" dirty="0">
                <a:solidFill>
                  <a:srgbClr val="5A6678"/>
                </a:solidFill>
                <a:latin typeface="Calibri" pitchFamily="34" charset="0"/>
                <a:ea typeface="Calibri" pitchFamily="34" charset="-122"/>
                <a:cs typeface="Calibri" pitchFamily="34" charset="-120"/>
              </a:rPr>
              <a:t>vector inserts on a single node</a:t>
            </a:r>
            <a:endParaRPr lang="en-US" sz="1000" dirty="0"/>
          </a:p>
        </p:txBody>
      </p:sp>
      <p:sp>
        <p:nvSpPr>
          <p:cNvPr id="19" name="Shape 16"/>
          <p:cNvSpPr/>
          <p:nvPr/>
        </p:nvSpPr>
        <p:spPr>
          <a:xfrm>
            <a:off x="457200" y="2286000"/>
            <a:ext cx="4114800" cy="2377440"/>
          </a:xfrm>
          <a:prstGeom prst="rect">
            <a:avLst/>
          </a:prstGeom>
          <a:solidFill>
            <a:srgbClr val="FFFFFF"/>
          </a:solidFill>
          <a:ln w="9525">
            <a:solidFill>
              <a:srgbClr val="E5E8EE"/>
            </a:solidFill>
            <a:prstDash val="solid"/>
          </a:ln>
        </p:spPr>
        <p:txBody>
          <a:bodyPr/>
          <a:lstStyle/>
          <a:p>
            <a:endParaRPr lang="en-IL"/>
          </a:p>
        </p:txBody>
      </p:sp>
      <p:sp>
        <p:nvSpPr>
          <p:cNvPr id="20" name="Shape 17"/>
          <p:cNvSpPr/>
          <p:nvPr/>
        </p:nvSpPr>
        <p:spPr>
          <a:xfrm>
            <a:off x="457200" y="2286000"/>
            <a:ext cx="54864" cy="2377440"/>
          </a:xfrm>
          <a:prstGeom prst="rect">
            <a:avLst/>
          </a:prstGeom>
          <a:solidFill>
            <a:srgbClr val="FF4438"/>
          </a:solidFill>
          <a:ln/>
        </p:spPr>
        <p:txBody>
          <a:bodyPr/>
          <a:lstStyle/>
          <a:p>
            <a:endParaRPr lang="en-IL"/>
          </a:p>
        </p:txBody>
      </p:sp>
      <p:sp>
        <p:nvSpPr>
          <p:cNvPr id="21" name="Text 18"/>
          <p:cNvSpPr/>
          <p:nvPr/>
        </p:nvSpPr>
        <p:spPr>
          <a:xfrm>
            <a:off x="621792" y="2377440"/>
            <a:ext cx="3858768" cy="320040"/>
          </a:xfrm>
          <a:prstGeom prst="rect">
            <a:avLst/>
          </a:prstGeom>
          <a:noFill/>
          <a:ln/>
        </p:spPr>
        <p:txBody>
          <a:bodyPr wrap="square" lIns="0" tIns="0" rIns="0" bIns="0" rtlCol="0" anchor="t"/>
          <a:lstStyle/>
          <a:p>
            <a:pPr marL="0" indent="0">
              <a:buNone/>
            </a:pPr>
            <a:r>
              <a:rPr lang="en-US" sz="1300" b="1" dirty="0">
                <a:solidFill>
                  <a:srgbClr val="163341"/>
                </a:solidFill>
                <a:latin typeface="Calibri" pitchFamily="34" charset="0"/>
                <a:ea typeface="Calibri" pitchFamily="34" charset="-122"/>
                <a:cs typeface="Calibri" pitchFamily="34" charset="-120"/>
              </a:rPr>
              <a:t>Modules dismantled into the core</a:t>
            </a:r>
            <a:endParaRPr lang="en-US" sz="1300" dirty="0"/>
          </a:p>
        </p:txBody>
      </p:sp>
      <p:sp>
        <p:nvSpPr>
          <p:cNvPr id="22" name="Text 19"/>
          <p:cNvSpPr/>
          <p:nvPr/>
        </p:nvSpPr>
        <p:spPr>
          <a:xfrm>
            <a:off x="621792" y="2697480"/>
            <a:ext cx="3858768" cy="1874520"/>
          </a:xfrm>
          <a:prstGeom prst="rect">
            <a:avLst/>
          </a:prstGeom>
          <a:noFill/>
          <a:ln/>
        </p:spPr>
        <p:txBody>
          <a:bodyPr wrap="square" lIns="0" tIns="0" rIns="0" bIns="0" rtlCol="0" anchor="t"/>
          <a:lstStyle/>
          <a:p>
            <a:pPr marL="0" indent="0">
              <a:spcAft>
                <a:spcPts val="400"/>
              </a:spcAft>
              <a:buNone/>
            </a:pPr>
            <a:r>
              <a:rPr lang="en-US" sz="1050" dirty="0">
                <a:solidFill>
                  <a:srgbClr val="3A4756"/>
                </a:solidFill>
                <a:latin typeface="Calibri" pitchFamily="34" charset="0"/>
                <a:ea typeface="Calibri" pitchFamily="34" charset="-122"/>
                <a:cs typeface="Calibri" pitchFamily="34" charset="-120"/>
              </a:rPr>
              <a:t>Search, JSON, Time-Series, Probabilistic and the new Vector Sets are no longer bolt-on modules — they were merged directly into the open-source Redis core.</a:t>
            </a:r>
            <a:endParaRPr lang="en-US" sz="1050" dirty="0"/>
          </a:p>
          <a:p>
            <a:pPr marL="0" indent="0">
              <a:spcAft>
                <a:spcPts val="400"/>
              </a:spcAft>
              <a:buNone/>
            </a:pPr>
            <a:endParaRPr lang="en-US" sz="1050" dirty="0"/>
          </a:p>
          <a:p>
            <a:pPr marL="0" indent="0">
              <a:spcAft>
                <a:spcPts val="400"/>
              </a:spcAft>
              <a:buNone/>
            </a:pPr>
            <a:r>
              <a:rPr lang="en-US" sz="1050" dirty="0">
                <a:solidFill>
                  <a:srgbClr val="3A4756"/>
                </a:solidFill>
                <a:latin typeface="Calibri" pitchFamily="34" charset="0"/>
                <a:ea typeface="Calibri" pitchFamily="34" charset="-122"/>
                <a:cs typeface="Calibri" pitchFamily="34" charset="-120"/>
              </a:rPr>
              <a:t>Result: deeper integration with replication, ACLs and persistence; multithreaded I/O minimizes main-thread contention; full sync of a 10 GB dataset while sustaining 26.84M concurrent writes (Redis 8 benchmark).</a:t>
            </a:r>
            <a:endParaRPr lang="en-US" sz="1050" dirty="0"/>
          </a:p>
        </p:txBody>
      </p:sp>
      <p:sp>
        <p:nvSpPr>
          <p:cNvPr id="23" name="Shape 20"/>
          <p:cNvSpPr/>
          <p:nvPr/>
        </p:nvSpPr>
        <p:spPr>
          <a:xfrm>
            <a:off x="4663440" y="2286000"/>
            <a:ext cx="4114800" cy="2377440"/>
          </a:xfrm>
          <a:prstGeom prst="rect">
            <a:avLst/>
          </a:prstGeom>
          <a:solidFill>
            <a:srgbClr val="FFFFFF"/>
          </a:solidFill>
          <a:ln w="9525">
            <a:solidFill>
              <a:srgbClr val="E5E8EE"/>
            </a:solidFill>
            <a:prstDash val="solid"/>
          </a:ln>
        </p:spPr>
        <p:txBody>
          <a:bodyPr/>
          <a:lstStyle/>
          <a:p>
            <a:endParaRPr lang="en-IL"/>
          </a:p>
        </p:txBody>
      </p:sp>
      <p:sp>
        <p:nvSpPr>
          <p:cNvPr id="24" name="Shape 21"/>
          <p:cNvSpPr/>
          <p:nvPr/>
        </p:nvSpPr>
        <p:spPr>
          <a:xfrm>
            <a:off x="4663440" y="2286000"/>
            <a:ext cx="54864" cy="2377440"/>
          </a:xfrm>
          <a:prstGeom prst="rect">
            <a:avLst/>
          </a:prstGeom>
          <a:solidFill>
            <a:srgbClr val="163341"/>
          </a:solidFill>
          <a:ln/>
        </p:spPr>
        <p:txBody>
          <a:bodyPr/>
          <a:lstStyle/>
          <a:p>
            <a:endParaRPr lang="en-IL"/>
          </a:p>
        </p:txBody>
      </p:sp>
      <p:sp>
        <p:nvSpPr>
          <p:cNvPr id="25" name="Text 22"/>
          <p:cNvSpPr/>
          <p:nvPr/>
        </p:nvSpPr>
        <p:spPr>
          <a:xfrm>
            <a:off x="4828032" y="2377440"/>
            <a:ext cx="3858768" cy="320040"/>
          </a:xfrm>
          <a:prstGeom prst="rect">
            <a:avLst/>
          </a:prstGeom>
          <a:noFill/>
          <a:ln/>
        </p:spPr>
        <p:txBody>
          <a:bodyPr wrap="square" lIns="0" tIns="0" rIns="0" bIns="0" rtlCol="0" anchor="t"/>
          <a:lstStyle/>
          <a:p>
            <a:pPr marL="0" indent="0">
              <a:buNone/>
            </a:pPr>
            <a:r>
              <a:rPr lang="en-US" sz="1300" b="1" dirty="0">
                <a:solidFill>
                  <a:srgbClr val="163341"/>
                </a:solidFill>
                <a:latin typeface="Calibri" pitchFamily="34" charset="0"/>
                <a:ea typeface="Calibri" pitchFamily="34" charset="-122"/>
                <a:cs typeface="Calibri" pitchFamily="34" charset="-120"/>
              </a:rPr>
              <a:t>Co-location, not query amplification</a:t>
            </a:r>
            <a:endParaRPr lang="en-US" sz="1300" dirty="0"/>
          </a:p>
        </p:txBody>
      </p:sp>
      <p:sp>
        <p:nvSpPr>
          <p:cNvPr id="26" name="Text 23"/>
          <p:cNvSpPr/>
          <p:nvPr/>
        </p:nvSpPr>
        <p:spPr>
          <a:xfrm>
            <a:off x="4828032" y="2697480"/>
            <a:ext cx="3858768" cy="1874520"/>
          </a:xfrm>
          <a:prstGeom prst="rect">
            <a:avLst/>
          </a:prstGeom>
          <a:noFill/>
          <a:ln/>
        </p:spPr>
        <p:txBody>
          <a:bodyPr wrap="square" lIns="0" tIns="0" rIns="0" bIns="0" rtlCol="0" anchor="t"/>
          <a:lstStyle/>
          <a:p>
            <a:pPr marL="0" indent="0">
              <a:spcAft>
                <a:spcPts val="400"/>
              </a:spcAft>
              <a:buNone/>
            </a:pPr>
            <a:r>
              <a:rPr lang="en-US" sz="1050" dirty="0">
                <a:solidFill>
                  <a:srgbClr val="3A4756"/>
                </a:solidFill>
                <a:latin typeface="Calibri" pitchFamily="34" charset="0"/>
                <a:ea typeface="Calibri" pitchFamily="34" charset="-122"/>
                <a:cs typeface="Calibri" pitchFamily="34" charset="-120"/>
              </a:rPr>
              <a:t>Vectors live in the same Hash / JSON document as their metadata. One hybrid query evaluates mathematical proximity AND metadata filters — no fan-out to a secondary store.</a:t>
            </a:r>
            <a:endParaRPr lang="en-US" sz="1050" dirty="0"/>
          </a:p>
          <a:p>
            <a:pPr marL="0" indent="0">
              <a:spcAft>
                <a:spcPts val="400"/>
              </a:spcAft>
              <a:buNone/>
            </a:pPr>
            <a:endParaRPr lang="en-US" sz="1050" dirty="0"/>
          </a:p>
          <a:p>
            <a:pPr marL="0" indent="0">
              <a:spcAft>
                <a:spcPts val="400"/>
              </a:spcAft>
              <a:buNone/>
            </a:pPr>
            <a:r>
              <a:rPr lang="en-US" sz="1050" dirty="0">
                <a:solidFill>
                  <a:srgbClr val="3A4756"/>
                </a:solidFill>
                <a:latin typeface="Calibri" pitchFamily="34" charset="0"/>
                <a:ea typeface="Calibri" pitchFamily="34" charset="-122"/>
                <a:cs typeface="Calibri" pitchFamily="34" charset="-120"/>
              </a:rPr>
              <a:t>Native role-based ACLs cover the new data structures, so vector data can be partitioned across users and departments without an external policy engine.</a:t>
            </a:r>
            <a:endParaRPr lang="en-US" sz="1050" dirty="0"/>
          </a:p>
        </p:txBody>
      </p:sp>
      <p:sp>
        <p:nvSpPr>
          <p:cNvPr id="27" name="Shape 24"/>
          <p:cNvSpPr/>
          <p:nvPr/>
        </p:nvSpPr>
        <p:spPr>
          <a:xfrm>
            <a:off x="320040" y="4864608"/>
            <a:ext cx="8503920" cy="10973"/>
          </a:xfrm>
          <a:prstGeom prst="rect">
            <a:avLst/>
          </a:prstGeom>
          <a:solidFill>
            <a:srgbClr val="D9DDE3"/>
          </a:solidFill>
          <a:ln/>
        </p:spPr>
        <p:txBody>
          <a:bodyPr/>
          <a:lstStyle/>
          <a:p>
            <a:endParaRPr lang="en-IL"/>
          </a:p>
        </p:txBody>
      </p:sp>
      <p:sp>
        <p:nvSpPr>
          <p:cNvPr id="28" name="Text 25"/>
          <p:cNvSpPr/>
          <p:nvPr/>
        </p:nvSpPr>
        <p:spPr>
          <a:xfrm>
            <a:off x="320040" y="4919472"/>
            <a:ext cx="6400800" cy="201168"/>
          </a:xfrm>
          <a:prstGeom prst="rect">
            <a:avLst/>
          </a:prstGeom>
          <a:noFill/>
          <a:ln/>
        </p:spPr>
        <p:txBody>
          <a:bodyPr wrap="square" lIns="0" tIns="0" rIns="0" bIns="0" rtlCol="0" anchor="ctr"/>
          <a:lstStyle/>
          <a:p>
            <a:pPr marL="0" indent="0">
              <a:buNone/>
            </a:pPr>
            <a:r>
              <a:rPr lang="en-US" sz="850" dirty="0">
                <a:solidFill>
                  <a:srgbClr val="8A95A4"/>
                </a:solidFill>
                <a:latin typeface="Calibri" pitchFamily="34" charset="0"/>
                <a:ea typeface="Calibri" pitchFamily="34" charset="-122"/>
                <a:cs typeface="Calibri" pitchFamily="34" charset="-120"/>
              </a:rPr>
              <a:t>Redis as a Vector Database  ·  Architecting for Real-Time AI</a:t>
            </a:r>
            <a:endParaRPr lang="en-US" sz="850" dirty="0"/>
          </a:p>
        </p:txBody>
      </p:sp>
      <p:sp>
        <p:nvSpPr>
          <p:cNvPr id="29" name="Text 26"/>
          <p:cNvSpPr/>
          <p:nvPr/>
        </p:nvSpPr>
        <p:spPr>
          <a:xfrm>
            <a:off x="7955280" y="4919472"/>
            <a:ext cx="914400" cy="201168"/>
          </a:xfrm>
          <a:prstGeom prst="rect">
            <a:avLst/>
          </a:prstGeom>
          <a:noFill/>
          <a:ln/>
        </p:spPr>
        <p:txBody>
          <a:bodyPr wrap="square" lIns="0" tIns="0" rIns="0" bIns="0" rtlCol="0" anchor="ctr"/>
          <a:lstStyle/>
          <a:p>
            <a:pPr marL="0" indent="0" algn="r">
              <a:buNone/>
            </a:pPr>
            <a:r>
              <a:rPr lang="en-US" sz="850" dirty="0">
                <a:solidFill>
                  <a:srgbClr val="8A95A4"/>
                </a:solidFill>
                <a:latin typeface="Calibri" pitchFamily="34" charset="0"/>
                <a:ea typeface="Calibri" pitchFamily="34" charset="-122"/>
                <a:cs typeface="Calibri" pitchFamily="34" charset="-120"/>
              </a:rPr>
              <a:t>3 / 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FF4438"/>
          </a:solidFill>
          <a:ln/>
        </p:spPr>
        <p:txBody>
          <a:bodyPr/>
          <a:lstStyle/>
          <a:p>
            <a:endParaRPr lang="en-IL"/>
          </a:p>
        </p:txBody>
      </p:sp>
      <p:pic>
        <p:nvPicPr>
          <p:cNvPr id="3" name="Image 0" descr="/sessions/eloquent-friendly-cori/mnt/outputs/assets/redis_cube.png"/>
          <p:cNvPicPr>
            <a:picLocks noChangeAspect="1"/>
          </p:cNvPicPr>
          <p:nvPr/>
        </p:nvPicPr>
        <p:blipFill>
          <a:blip r:embed="rId3"/>
          <a:stretch>
            <a:fillRect/>
          </a:stretch>
        </p:blipFill>
        <p:spPr>
          <a:xfrm>
            <a:off x="320040" y="201168"/>
            <a:ext cx="502920" cy="475488"/>
          </a:xfrm>
          <a:prstGeom prst="rect">
            <a:avLst/>
          </a:prstGeom>
        </p:spPr>
      </p:pic>
      <p:sp>
        <p:nvSpPr>
          <p:cNvPr id="4" name="Text 1"/>
          <p:cNvSpPr/>
          <p:nvPr/>
        </p:nvSpPr>
        <p:spPr>
          <a:xfrm>
            <a:off x="960120" y="201168"/>
            <a:ext cx="5943600" cy="228600"/>
          </a:xfrm>
          <a:prstGeom prst="rect">
            <a:avLst/>
          </a:prstGeom>
          <a:noFill/>
          <a:ln/>
        </p:spPr>
        <p:txBody>
          <a:bodyPr wrap="square" lIns="0" tIns="0" rIns="0" bIns="0" rtlCol="0" anchor="ctr"/>
          <a:lstStyle/>
          <a:p>
            <a:pPr marL="0" indent="0">
              <a:buNone/>
            </a:pPr>
            <a:r>
              <a:rPr lang="en-US" sz="900" b="1" kern="0" spc="400" dirty="0">
                <a:solidFill>
                  <a:srgbClr val="FF4438"/>
                </a:solidFill>
                <a:latin typeface="Calibri" pitchFamily="34" charset="0"/>
                <a:ea typeface="Calibri" pitchFamily="34" charset="-122"/>
                <a:cs typeface="Calibri" pitchFamily="34" charset="-120"/>
              </a:rPr>
              <a:t>03  ·  ALGORITHMS</a:t>
            </a:r>
            <a:endParaRPr lang="en-US" sz="900" dirty="0"/>
          </a:p>
        </p:txBody>
      </p:sp>
      <p:sp>
        <p:nvSpPr>
          <p:cNvPr id="5" name="Text 2"/>
          <p:cNvSpPr/>
          <p:nvPr/>
        </p:nvSpPr>
        <p:spPr>
          <a:xfrm>
            <a:off x="960120" y="384048"/>
            <a:ext cx="7863840" cy="411480"/>
          </a:xfrm>
          <a:prstGeom prst="rect">
            <a:avLst/>
          </a:prstGeom>
          <a:noFill/>
          <a:ln/>
        </p:spPr>
        <p:txBody>
          <a:bodyPr wrap="square" lIns="0" tIns="0" rIns="0" bIns="0" rtlCol="0" anchor="ctr"/>
          <a:lstStyle/>
          <a:p>
            <a:pPr marL="0" indent="0">
              <a:buNone/>
            </a:pPr>
            <a:r>
              <a:rPr lang="en-US" sz="2200" b="1" dirty="0">
                <a:solidFill>
                  <a:srgbClr val="163341"/>
                </a:solidFill>
                <a:latin typeface="Calibri" pitchFamily="34" charset="0"/>
                <a:ea typeface="Calibri" pitchFamily="34" charset="-122"/>
                <a:cs typeface="Calibri" pitchFamily="34" charset="-120"/>
              </a:rPr>
              <a:t>Indexing Algorithms — Navigating High-Dimensional Space</a:t>
            </a:r>
            <a:endParaRPr lang="en-US" sz="2200" dirty="0"/>
          </a:p>
        </p:txBody>
      </p:sp>
      <p:sp>
        <p:nvSpPr>
          <p:cNvPr id="6" name="Shape 3"/>
          <p:cNvSpPr/>
          <p:nvPr/>
        </p:nvSpPr>
        <p:spPr>
          <a:xfrm>
            <a:off x="320040" y="868680"/>
            <a:ext cx="8503920" cy="10973"/>
          </a:xfrm>
          <a:prstGeom prst="rect">
            <a:avLst/>
          </a:prstGeom>
          <a:solidFill>
            <a:srgbClr val="D9DDE3"/>
          </a:solidFill>
          <a:ln/>
        </p:spPr>
        <p:txBody>
          <a:bodyPr/>
          <a:lstStyle/>
          <a:p>
            <a:endParaRPr lang="en-IL"/>
          </a:p>
        </p:txBody>
      </p:sp>
      <p:sp>
        <p:nvSpPr>
          <p:cNvPr id="7" name="Text 4"/>
          <p:cNvSpPr/>
          <p:nvPr/>
        </p:nvSpPr>
        <p:spPr>
          <a:xfrm>
            <a:off x="457200" y="1005840"/>
            <a:ext cx="1554480" cy="274320"/>
          </a:xfrm>
          <a:prstGeom prst="rect">
            <a:avLst/>
          </a:prstGeom>
          <a:noFill/>
          <a:ln/>
        </p:spPr>
        <p:txBody>
          <a:bodyPr wrap="square" lIns="0" tIns="0" rIns="0" bIns="0" rtlCol="0" anchor="ctr"/>
          <a:lstStyle/>
          <a:p>
            <a:pPr marL="0" indent="0">
              <a:buNone/>
            </a:pPr>
            <a:r>
              <a:rPr lang="en-US" sz="1050" b="1" dirty="0">
                <a:solidFill>
                  <a:srgbClr val="5A6678"/>
                </a:solidFill>
                <a:latin typeface="Calibri" pitchFamily="34" charset="0"/>
                <a:ea typeface="Calibri" pitchFamily="34" charset="-122"/>
                <a:cs typeface="Calibri" pitchFamily="34" charset="-120"/>
              </a:rPr>
              <a:t>Distance metrics:</a:t>
            </a:r>
            <a:endParaRPr lang="en-US" sz="1050" dirty="0"/>
          </a:p>
        </p:txBody>
      </p:sp>
      <p:sp>
        <p:nvSpPr>
          <p:cNvPr id="8" name="Shape 5"/>
          <p:cNvSpPr/>
          <p:nvPr/>
        </p:nvSpPr>
        <p:spPr>
          <a:xfrm>
            <a:off x="2011680" y="1051560"/>
            <a:ext cx="1600200" cy="256032"/>
          </a:xfrm>
          <a:prstGeom prst="roundRect">
            <a:avLst>
              <a:gd name="adj" fmla="val 14286"/>
            </a:avLst>
          </a:prstGeom>
          <a:solidFill>
            <a:srgbClr val="FFFFFF"/>
          </a:solidFill>
          <a:ln w="9525">
            <a:solidFill>
              <a:srgbClr val="FF4438"/>
            </a:solidFill>
            <a:prstDash val="solid"/>
          </a:ln>
        </p:spPr>
        <p:txBody>
          <a:bodyPr/>
          <a:lstStyle/>
          <a:p>
            <a:endParaRPr lang="en-IL"/>
          </a:p>
        </p:txBody>
      </p:sp>
      <p:sp>
        <p:nvSpPr>
          <p:cNvPr id="9" name="Text 6"/>
          <p:cNvSpPr/>
          <p:nvPr/>
        </p:nvSpPr>
        <p:spPr>
          <a:xfrm>
            <a:off x="2011680" y="1051560"/>
            <a:ext cx="1600200" cy="256032"/>
          </a:xfrm>
          <a:prstGeom prst="rect">
            <a:avLst/>
          </a:prstGeom>
          <a:noFill/>
          <a:ln/>
        </p:spPr>
        <p:txBody>
          <a:bodyPr wrap="square" lIns="0" tIns="0" rIns="0" bIns="0" rtlCol="0" anchor="ctr"/>
          <a:lstStyle/>
          <a:p>
            <a:pPr marL="0" indent="0" algn="ctr">
              <a:buNone/>
            </a:pPr>
            <a:r>
              <a:rPr lang="en-US" sz="950" dirty="0">
                <a:solidFill>
                  <a:srgbClr val="163341"/>
                </a:solidFill>
                <a:latin typeface="Calibri" pitchFamily="34" charset="0"/>
                <a:ea typeface="Calibri" pitchFamily="34" charset="-122"/>
                <a:cs typeface="Calibri" pitchFamily="34" charset="-120"/>
              </a:rPr>
              <a:t>Cosine Similarity</a:t>
            </a:r>
            <a:endParaRPr lang="en-US" sz="950" dirty="0"/>
          </a:p>
        </p:txBody>
      </p:sp>
      <p:sp>
        <p:nvSpPr>
          <p:cNvPr id="10" name="Shape 7"/>
          <p:cNvSpPr/>
          <p:nvPr/>
        </p:nvSpPr>
        <p:spPr>
          <a:xfrm>
            <a:off x="3703320" y="1051560"/>
            <a:ext cx="1600200" cy="256032"/>
          </a:xfrm>
          <a:prstGeom prst="roundRect">
            <a:avLst>
              <a:gd name="adj" fmla="val 14286"/>
            </a:avLst>
          </a:prstGeom>
          <a:solidFill>
            <a:srgbClr val="FFFFFF"/>
          </a:solidFill>
          <a:ln w="9525">
            <a:solidFill>
              <a:srgbClr val="FF4438"/>
            </a:solidFill>
            <a:prstDash val="solid"/>
          </a:ln>
        </p:spPr>
        <p:txBody>
          <a:bodyPr/>
          <a:lstStyle/>
          <a:p>
            <a:endParaRPr lang="en-IL"/>
          </a:p>
        </p:txBody>
      </p:sp>
      <p:sp>
        <p:nvSpPr>
          <p:cNvPr id="11" name="Text 8"/>
          <p:cNvSpPr/>
          <p:nvPr/>
        </p:nvSpPr>
        <p:spPr>
          <a:xfrm>
            <a:off x="3703320" y="1051560"/>
            <a:ext cx="1600200" cy="256032"/>
          </a:xfrm>
          <a:prstGeom prst="rect">
            <a:avLst/>
          </a:prstGeom>
          <a:noFill/>
          <a:ln/>
        </p:spPr>
        <p:txBody>
          <a:bodyPr wrap="square" lIns="0" tIns="0" rIns="0" bIns="0" rtlCol="0" anchor="ctr"/>
          <a:lstStyle/>
          <a:p>
            <a:pPr marL="0" indent="0" algn="ctr">
              <a:buNone/>
            </a:pPr>
            <a:r>
              <a:rPr lang="en-US" sz="950" dirty="0">
                <a:solidFill>
                  <a:srgbClr val="163341"/>
                </a:solidFill>
                <a:latin typeface="Calibri" pitchFamily="34" charset="0"/>
                <a:ea typeface="Calibri" pitchFamily="34" charset="-122"/>
                <a:cs typeface="Calibri" pitchFamily="34" charset="-120"/>
              </a:rPr>
              <a:t>L2 (Euclidean)</a:t>
            </a:r>
            <a:endParaRPr lang="en-US" sz="950" dirty="0"/>
          </a:p>
        </p:txBody>
      </p:sp>
      <p:sp>
        <p:nvSpPr>
          <p:cNvPr id="12" name="Shape 9"/>
          <p:cNvSpPr/>
          <p:nvPr/>
        </p:nvSpPr>
        <p:spPr>
          <a:xfrm>
            <a:off x="5394960" y="1051560"/>
            <a:ext cx="1600200" cy="256032"/>
          </a:xfrm>
          <a:prstGeom prst="roundRect">
            <a:avLst>
              <a:gd name="adj" fmla="val 14286"/>
            </a:avLst>
          </a:prstGeom>
          <a:solidFill>
            <a:srgbClr val="FFFFFF"/>
          </a:solidFill>
          <a:ln w="9525">
            <a:solidFill>
              <a:srgbClr val="FF4438"/>
            </a:solidFill>
            <a:prstDash val="solid"/>
          </a:ln>
        </p:spPr>
        <p:txBody>
          <a:bodyPr/>
          <a:lstStyle/>
          <a:p>
            <a:endParaRPr lang="en-IL"/>
          </a:p>
        </p:txBody>
      </p:sp>
      <p:sp>
        <p:nvSpPr>
          <p:cNvPr id="13" name="Text 10"/>
          <p:cNvSpPr/>
          <p:nvPr/>
        </p:nvSpPr>
        <p:spPr>
          <a:xfrm>
            <a:off x="5394960" y="1051560"/>
            <a:ext cx="1600200" cy="256032"/>
          </a:xfrm>
          <a:prstGeom prst="rect">
            <a:avLst/>
          </a:prstGeom>
          <a:noFill/>
          <a:ln/>
        </p:spPr>
        <p:txBody>
          <a:bodyPr wrap="square" lIns="0" tIns="0" rIns="0" bIns="0" rtlCol="0" anchor="ctr"/>
          <a:lstStyle/>
          <a:p>
            <a:pPr marL="0" indent="0" algn="ctr">
              <a:buNone/>
            </a:pPr>
            <a:r>
              <a:rPr lang="en-US" sz="950" dirty="0">
                <a:solidFill>
                  <a:srgbClr val="163341"/>
                </a:solidFill>
                <a:latin typeface="Calibri" pitchFamily="34" charset="0"/>
                <a:ea typeface="Calibri" pitchFamily="34" charset="-122"/>
                <a:cs typeface="Calibri" pitchFamily="34" charset="-120"/>
              </a:rPr>
              <a:t>Inner Product</a:t>
            </a:r>
            <a:endParaRPr lang="en-US" sz="950" dirty="0"/>
          </a:p>
        </p:txBody>
      </p:sp>
      <p:sp>
        <p:nvSpPr>
          <p:cNvPr id="14" name="Text 11"/>
          <p:cNvSpPr/>
          <p:nvPr/>
        </p:nvSpPr>
        <p:spPr>
          <a:xfrm>
            <a:off x="457200" y="1353312"/>
            <a:ext cx="8229600" cy="228600"/>
          </a:xfrm>
          <a:prstGeom prst="rect">
            <a:avLst/>
          </a:prstGeom>
          <a:noFill/>
          <a:ln/>
        </p:spPr>
        <p:txBody>
          <a:bodyPr wrap="square" lIns="0" tIns="0" rIns="0" bIns="0" rtlCol="0" anchor="ctr"/>
          <a:lstStyle/>
          <a:p>
            <a:pPr marL="0" indent="0">
              <a:buNone/>
            </a:pPr>
            <a:r>
              <a:rPr lang="en-US" sz="900" i="1" dirty="0">
                <a:solidFill>
                  <a:srgbClr val="FF4438"/>
                </a:solidFill>
                <a:latin typeface="Calibri" pitchFamily="34" charset="0"/>
                <a:ea typeface="Calibri" pitchFamily="34" charset="-122"/>
                <a:cs typeface="Calibri" pitchFamily="34" charset="-120"/>
              </a:rPr>
              <a:t>⚠  Metric is immutable post-creation — must match embedding-model training</a:t>
            </a:r>
            <a:endParaRPr lang="en-US" sz="900" dirty="0"/>
          </a:p>
        </p:txBody>
      </p:sp>
      <p:sp>
        <p:nvSpPr>
          <p:cNvPr id="15" name="Shape 12"/>
          <p:cNvSpPr/>
          <p:nvPr/>
        </p:nvSpPr>
        <p:spPr>
          <a:xfrm>
            <a:off x="457200" y="1691640"/>
            <a:ext cx="2743200" cy="2743200"/>
          </a:xfrm>
          <a:prstGeom prst="rect">
            <a:avLst/>
          </a:prstGeom>
          <a:solidFill>
            <a:srgbClr val="FFFFFF"/>
          </a:solidFill>
          <a:ln w="9525">
            <a:solidFill>
              <a:srgbClr val="E5E8EE"/>
            </a:solidFill>
            <a:prstDash val="solid"/>
          </a:ln>
        </p:spPr>
        <p:txBody>
          <a:bodyPr/>
          <a:lstStyle/>
          <a:p>
            <a:endParaRPr lang="en-IL"/>
          </a:p>
        </p:txBody>
      </p:sp>
      <p:sp>
        <p:nvSpPr>
          <p:cNvPr id="16" name="Shape 13"/>
          <p:cNvSpPr/>
          <p:nvPr/>
        </p:nvSpPr>
        <p:spPr>
          <a:xfrm>
            <a:off x="457200" y="1691640"/>
            <a:ext cx="2743200" cy="411480"/>
          </a:xfrm>
          <a:prstGeom prst="rect">
            <a:avLst/>
          </a:prstGeom>
          <a:solidFill>
            <a:srgbClr val="5A6678"/>
          </a:solidFill>
          <a:ln/>
        </p:spPr>
        <p:txBody>
          <a:bodyPr/>
          <a:lstStyle/>
          <a:p>
            <a:endParaRPr lang="en-IL"/>
          </a:p>
        </p:txBody>
      </p:sp>
      <p:sp>
        <p:nvSpPr>
          <p:cNvPr id="17" name="Text 14"/>
          <p:cNvSpPr/>
          <p:nvPr/>
        </p:nvSpPr>
        <p:spPr>
          <a:xfrm>
            <a:off x="594360" y="1691640"/>
            <a:ext cx="2468880" cy="411480"/>
          </a:xfrm>
          <a:prstGeom prst="rect">
            <a:avLst/>
          </a:prstGeom>
          <a:noFill/>
          <a:ln/>
        </p:spPr>
        <p:txBody>
          <a:bodyPr wrap="square" lIns="0" tIns="0" rIns="0" bIns="0" rtlCol="0" anchor="ctr"/>
          <a:lstStyle/>
          <a:p>
            <a:pPr marL="0" indent="0">
              <a:buNone/>
            </a:pPr>
            <a:r>
              <a:rPr lang="en-US" sz="1400" b="1" kern="0" spc="200" dirty="0">
                <a:solidFill>
                  <a:srgbClr val="FFFFFF"/>
                </a:solidFill>
                <a:latin typeface="Calibri" pitchFamily="34" charset="0"/>
                <a:ea typeface="Calibri" pitchFamily="34" charset="-122"/>
                <a:cs typeface="Calibri" pitchFamily="34" charset="-120"/>
              </a:rPr>
              <a:t>FLAT</a:t>
            </a:r>
            <a:endParaRPr lang="en-US" sz="1400" dirty="0"/>
          </a:p>
        </p:txBody>
      </p:sp>
      <p:sp>
        <p:nvSpPr>
          <p:cNvPr id="18" name="Text 15"/>
          <p:cNvSpPr/>
          <p:nvPr/>
        </p:nvSpPr>
        <p:spPr>
          <a:xfrm>
            <a:off x="621792" y="2194560"/>
            <a:ext cx="2414016" cy="457200"/>
          </a:xfrm>
          <a:prstGeom prst="rect">
            <a:avLst/>
          </a:prstGeom>
          <a:noFill/>
          <a:ln/>
        </p:spPr>
        <p:txBody>
          <a:bodyPr wrap="square" lIns="0" tIns="0" rIns="0" bIns="0" rtlCol="0" anchor="t"/>
          <a:lstStyle/>
          <a:p>
            <a:pPr marL="0" indent="0">
              <a:buNone/>
            </a:pPr>
            <a:r>
              <a:rPr lang="en-US" sz="1250" b="1" dirty="0">
                <a:solidFill>
                  <a:srgbClr val="163341"/>
                </a:solidFill>
                <a:latin typeface="Calibri" pitchFamily="34" charset="0"/>
                <a:ea typeface="Calibri" pitchFamily="34" charset="-122"/>
                <a:cs typeface="Calibri" pitchFamily="34" charset="-120"/>
              </a:rPr>
              <a:t>Brute-Force Exact Search</a:t>
            </a:r>
            <a:endParaRPr lang="en-US" sz="1250" dirty="0"/>
          </a:p>
        </p:txBody>
      </p:sp>
      <p:sp>
        <p:nvSpPr>
          <p:cNvPr id="19" name="Shape 16"/>
          <p:cNvSpPr/>
          <p:nvPr/>
        </p:nvSpPr>
        <p:spPr>
          <a:xfrm>
            <a:off x="658368" y="2788920"/>
            <a:ext cx="91440" cy="91440"/>
          </a:xfrm>
          <a:prstGeom prst="line">
            <a:avLst/>
          </a:prstGeom>
          <a:solidFill>
            <a:srgbClr val="5A6678"/>
          </a:solidFill>
          <a:ln/>
        </p:spPr>
        <p:txBody>
          <a:bodyPr/>
          <a:lstStyle/>
          <a:p>
            <a:endParaRPr lang="en-IL"/>
          </a:p>
        </p:txBody>
      </p:sp>
      <p:sp>
        <p:nvSpPr>
          <p:cNvPr id="20" name="Text 17"/>
          <p:cNvSpPr/>
          <p:nvPr/>
        </p:nvSpPr>
        <p:spPr>
          <a:xfrm>
            <a:off x="822960" y="2697480"/>
            <a:ext cx="2286000" cy="274320"/>
          </a:xfrm>
          <a:prstGeom prst="rect">
            <a:avLst/>
          </a:prstGeom>
          <a:noFill/>
          <a:ln/>
        </p:spPr>
        <p:txBody>
          <a:bodyPr wrap="square" lIns="0" tIns="0" rIns="0" bIns="0" rtlCol="0" anchor="ctr"/>
          <a:lstStyle/>
          <a:p>
            <a:pPr marL="0" indent="0">
              <a:buNone/>
            </a:pPr>
            <a:r>
              <a:rPr lang="en-US" sz="1000" dirty="0">
                <a:solidFill>
                  <a:srgbClr val="3A4756"/>
                </a:solidFill>
                <a:latin typeface="Calibri" pitchFamily="34" charset="0"/>
                <a:ea typeface="Calibri" pitchFamily="34" charset="-122"/>
                <a:cs typeface="Calibri" pitchFamily="34" charset="-120"/>
              </a:rPr>
              <a:t>100% recall</a:t>
            </a:r>
            <a:endParaRPr lang="en-US" sz="1000" dirty="0"/>
          </a:p>
        </p:txBody>
      </p:sp>
      <p:sp>
        <p:nvSpPr>
          <p:cNvPr id="21" name="Shape 18"/>
          <p:cNvSpPr/>
          <p:nvPr/>
        </p:nvSpPr>
        <p:spPr>
          <a:xfrm>
            <a:off x="658368" y="3081528"/>
            <a:ext cx="91440" cy="91440"/>
          </a:xfrm>
          <a:prstGeom prst="line">
            <a:avLst/>
          </a:prstGeom>
          <a:solidFill>
            <a:srgbClr val="5A6678"/>
          </a:solidFill>
          <a:ln/>
        </p:spPr>
        <p:txBody>
          <a:bodyPr/>
          <a:lstStyle/>
          <a:p>
            <a:endParaRPr lang="en-IL"/>
          </a:p>
        </p:txBody>
      </p:sp>
      <p:sp>
        <p:nvSpPr>
          <p:cNvPr id="22" name="Text 19"/>
          <p:cNvSpPr/>
          <p:nvPr/>
        </p:nvSpPr>
        <p:spPr>
          <a:xfrm>
            <a:off x="822960" y="2990088"/>
            <a:ext cx="2286000" cy="274320"/>
          </a:xfrm>
          <a:prstGeom prst="rect">
            <a:avLst/>
          </a:prstGeom>
          <a:noFill/>
          <a:ln/>
        </p:spPr>
        <p:txBody>
          <a:bodyPr wrap="square" lIns="0" tIns="0" rIns="0" bIns="0" rtlCol="0" anchor="ctr"/>
          <a:lstStyle/>
          <a:p>
            <a:pPr marL="0" indent="0">
              <a:buNone/>
            </a:pPr>
            <a:r>
              <a:rPr lang="en-US" sz="1000" dirty="0">
                <a:solidFill>
                  <a:srgbClr val="3A4756"/>
                </a:solidFill>
                <a:latin typeface="Calibri" pitchFamily="34" charset="0"/>
                <a:ea typeface="Calibri" pitchFamily="34" charset="-122"/>
                <a:cs typeface="Calibri" pitchFamily="34" charset="-120"/>
              </a:rPr>
              <a:t>O(n) query time</a:t>
            </a:r>
            <a:endParaRPr lang="en-US" sz="1000" dirty="0"/>
          </a:p>
        </p:txBody>
      </p:sp>
      <p:sp>
        <p:nvSpPr>
          <p:cNvPr id="23" name="Shape 20"/>
          <p:cNvSpPr/>
          <p:nvPr/>
        </p:nvSpPr>
        <p:spPr>
          <a:xfrm>
            <a:off x="658368" y="3374136"/>
            <a:ext cx="91440" cy="91440"/>
          </a:xfrm>
          <a:prstGeom prst="line">
            <a:avLst/>
          </a:prstGeom>
          <a:solidFill>
            <a:srgbClr val="5A6678"/>
          </a:solidFill>
          <a:ln/>
        </p:spPr>
        <p:txBody>
          <a:bodyPr/>
          <a:lstStyle/>
          <a:p>
            <a:endParaRPr lang="en-IL"/>
          </a:p>
        </p:txBody>
      </p:sp>
      <p:sp>
        <p:nvSpPr>
          <p:cNvPr id="24" name="Text 21"/>
          <p:cNvSpPr/>
          <p:nvPr/>
        </p:nvSpPr>
        <p:spPr>
          <a:xfrm>
            <a:off x="822960" y="3282696"/>
            <a:ext cx="2286000" cy="274320"/>
          </a:xfrm>
          <a:prstGeom prst="rect">
            <a:avLst/>
          </a:prstGeom>
          <a:noFill/>
          <a:ln/>
        </p:spPr>
        <p:txBody>
          <a:bodyPr wrap="square" lIns="0" tIns="0" rIns="0" bIns="0" rtlCol="0" anchor="ctr"/>
          <a:lstStyle/>
          <a:p>
            <a:pPr marL="0" indent="0">
              <a:buNone/>
            </a:pPr>
            <a:r>
              <a:rPr lang="en-US" sz="1000" dirty="0">
                <a:solidFill>
                  <a:srgbClr val="3A4756"/>
                </a:solidFill>
                <a:latin typeface="Calibri" pitchFamily="34" charset="0"/>
                <a:ea typeface="Calibri" pitchFamily="34" charset="-122"/>
                <a:cs typeface="Calibri" pitchFamily="34" charset="-120"/>
              </a:rPr>
              <a:t>minimal memory</a:t>
            </a:r>
            <a:endParaRPr lang="en-US" sz="1000" dirty="0"/>
          </a:p>
        </p:txBody>
      </p:sp>
      <p:sp>
        <p:nvSpPr>
          <p:cNvPr id="25" name="Text 22"/>
          <p:cNvSpPr/>
          <p:nvPr/>
        </p:nvSpPr>
        <p:spPr>
          <a:xfrm>
            <a:off x="621792" y="3703320"/>
            <a:ext cx="2414016" cy="640080"/>
          </a:xfrm>
          <a:prstGeom prst="rect">
            <a:avLst/>
          </a:prstGeom>
          <a:noFill/>
          <a:ln/>
        </p:spPr>
        <p:txBody>
          <a:bodyPr wrap="square" lIns="0" tIns="0" rIns="0" bIns="0" rtlCol="0" anchor="t"/>
          <a:lstStyle/>
          <a:p>
            <a:pPr marL="0" indent="0">
              <a:buNone/>
            </a:pPr>
            <a:r>
              <a:rPr lang="en-US" sz="900" i="1" dirty="0">
                <a:solidFill>
                  <a:srgbClr val="5A6678"/>
                </a:solidFill>
                <a:latin typeface="Calibri" pitchFamily="34" charset="0"/>
                <a:ea typeface="Calibri" pitchFamily="34" charset="-122"/>
                <a:cs typeface="Calibri" pitchFamily="34" charset="-120"/>
              </a:rPr>
              <a:t>Use when n &lt; 50K  ·  baseline accuracy validation  ·  zero-tolerance recall environments</a:t>
            </a:r>
            <a:endParaRPr lang="en-US" sz="900" dirty="0"/>
          </a:p>
        </p:txBody>
      </p:sp>
      <p:sp>
        <p:nvSpPr>
          <p:cNvPr id="26" name="Shape 23"/>
          <p:cNvSpPr/>
          <p:nvPr/>
        </p:nvSpPr>
        <p:spPr>
          <a:xfrm>
            <a:off x="3337560" y="1691640"/>
            <a:ext cx="2743200" cy="2743200"/>
          </a:xfrm>
          <a:prstGeom prst="rect">
            <a:avLst/>
          </a:prstGeom>
          <a:solidFill>
            <a:srgbClr val="FFFFFF"/>
          </a:solidFill>
          <a:ln w="9525">
            <a:solidFill>
              <a:srgbClr val="E5E8EE"/>
            </a:solidFill>
            <a:prstDash val="solid"/>
          </a:ln>
        </p:spPr>
        <p:txBody>
          <a:bodyPr/>
          <a:lstStyle/>
          <a:p>
            <a:endParaRPr lang="en-IL"/>
          </a:p>
        </p:txBody>
      </p:sp>
      <p:sp>
        <p:nvSpPr>
          <p:cNvPr id="27" name="Shape 24"/>
          <p:cNvSpPr/>
          <p:nvPr/>
        </p:nvSpPr>
        <p:spPr>
          <a:xfrm>
            <a:off x="3337560" y="1691640"/>
            <a:ext cx="2743200" cy="411480"/>
          </a:xfrm>
          <a:prstGeom prst="rect">
            <a:avLst/>
          </a:prstGeom>
          <a:solidFill>
            <a:srgbClr val="FF4438"/>
          </a:solidFill>
          <a:ln/>
        </p:spPr>
        <p:txBody>
          <a:bodyPr/>
          <a:lstStyle/>
          <a:p>
            <a:endParaRPr lang="en-IL"/>
          </a:p>
        </p:txBody>
      </p:sp>
      <p:sp>
        <p:nvSpPr>
          <p:cNvPr id="28" name="Text 25"/>
          <p:cNvSpPr/>
          <p:nvPr/>
        </p:nvSpPr>
        <p:spPr>
          <a:xfrm>
            <a:off x="3474720" y="1691640"/>
            <a:ext cx="2468880" cy="411480"/>
          </a:xfrm>
          <a:prstGeom prst="rect">
            <a:avLst/>
          </a:prstGeom>
          <a:noFill/>
          <a:ln/>
        </p:spPr>
        <p:txBody>
          <a:bodyPr wrap="square" lIns="0" tIns="0" rIns="0" bIns="0" rtlCol="0" anchor="ctr"/>
          <a:lstStyle/>
          <a:p>
            <a:pPr marL="0" indent="0">
              <a:buNone/>
            </a:pPr>
            <a:r>
              <a:rPr lang="en-US" sz="1400" b="1" kern="0" spc="200" dirty="0">
                <a:solidFill>
                  <a:srgbClr val="FFFFFF"/>
                </a:solidFill>
                <a:latin typeface="Calibri" pitchFamily="34" charset="0"/>
                <a:ea typeface="Calibri" pitchFamily="34" charset="-122"/>
                <a:cs typeface="Calibri" pitchFamily="34" charset="-120"/>
              </a:rPr>
              <a:t>HNSW</a:t>
            </a:r>
            <a:endParaRPr lang="en-US" sz="1400" dirty="0"/>
          </a:p>
        </p:txBody>
      </p:sp>
      <p:sp>
        <p:nvSpPr>
          <p:cNvPr id="29" name="Text 26"/>
          <p:cNvSpPr/>
          <p:nvPr/>
        </p:nvSpPr>
        <p:spPr>
          <a:xfrm>
            <a:off x="3502152" y="2194560"/>
            <a:ext cx="2414016" cy="457200"/>
          </a:xfrm>
          <a:prstGeom prst="rect">
            <a:avLst/>
          </a:prstGeom>
          <a:noFill/>
          <a:ln/>
        </p:spPr>
        <p:txBody>
          <a:bodyPr wrap="square" lIns="0" tIns="0" rIns="0" bIns="0" rtlCol="0" anchor="t"/>
          <a:lstStyle/>
          <a:p>
            <a:pPr marL="0" indent="0">
              <a:buNone/>
            </a:pPr>
            <a:r>
              <a:rPr lang="en-US" sz="1250" b="1" dirty="0">
                <a:solidFill>
                  <a:srgbClr val="163341"/>
                </a:solidFill>
                <a:latin typeface="Calibri" pitchFamily="34" charset="0"/>
                <a:ea typeface="Calibri" pitchFamily="34" charset="-122"/>
                <a:cs typeface="Calibri" pitchFamily="34" charset="-120"/>
              </a:rPr>
              <a:t>Hierarchical Navigable Small World</a:t>
            </a:r>
            <a:endParaRPr lang="en-US" sz="1250" dirty="0"/>
          </a:p>
        </p:txBody>
      </p:sp>
      <p:sp>
        <p:nvSpPr>
          <p:cNvPr id="30" name="Shape 27"/>
          <p:cNvSpPr/>
          <p:nvPr/>
        </p:nvSpPr>
        <p:spPr>
          <a:xfrm>
            <a:off x="3538728" y="2788920"/>
            <a:ext cx="91440" cy="91440"/>
          </a:xfrm>
          <a:prstGeom prst="line">
            <a:avLst/>
          </a:prstGeom>
          <a:solidFill>
            <a:srgbClr val="FF4438"/>
          </a:solidFill>
          <a:ln/>
        </p:spPr>
        <p:txBody>
          <a:bodyPr/>
          <a:lstStyle/>
          <a:p>
            <a:endParaRPr lang="en-IL"/>
          </a:p>
        </p:txBody>
      </p:sp>
      <p:sp>
        <p:nvSpPr>
          <p:cNvPr id="31" name="Text 28"/>
          <p:cNvSpPr/>
          <p:nvPr/>
        </p:nvSpPr>
        <p:spPr>
          <a:xfrm>
            <a:off x="3703320" y="2697480"/>
            <a:ext cx="2286000" cy="274320"/>
          </a:xfrm>
          <a:prstGeom prst="rect">
            <a:avLst/>
          </a:prstGeom>
          <a:noFill/>
          <a:ln/>
        </p:spPr>
        <p:txBody>
          <a:bodyPr wrap="square" lIns="0" tIns="0" rIns="0" bIns="0" rtlCol="0" anchor="ctr"/>
          <a:lstStyle/>
          <a:p>
            <a:pPr marL="0" indent="0">
              <a:buNone/>
            </a:pPr>
            <a:r>
              <a:rPr lang="en-US" sz="1000" dirty="0">
                <a:solidFill>
                  <a:srgbClr val="3A4756"/>
                </a:solidFill>
                <a:latin typeface="Calibri" pitchFamily="34" charset="0"/>
                <a:ea typeface="Calibri" pitchFamily="34" charset="-122"/>
                <a:cs typeface="Calibri" pitchFamily="34" charset="-120"/>
              </a:rPr>
              <a:t>~95–99% recall</a:t>
            </a:r>
            <a:endParaRPr lang="en-US" sz="1000" dirty="0"/>
          </a:p>
        </p:txBody>
      </p:sp>
      <p:sp>
        <p:nvSpPr>
          <p:cNvPr id="32" name="Shape 29"/>
          <p:cNvSpPr/>
          <p:nvPr/>
        </p:nvSpPr>
        <p:spPr>
          <a:xfrm>
            <a:off x="3538728" y="3081528"/>
            <a:ext cx="91440" cy="91440"/>
          </a:xfrm>
          <a:prstGeom prst="line">
            <a:avLst/>
          </a:prstGeom>
          <a:solidFill>
            <a:srgbClr val="FF4438"/>
          </a:solidFill>
          <a:ln/>
        </p:spPr>
        <p:txBody>
          <a:bodyPr/>
          <a:lstStyle/>
          <a:p>
            <a:endParaRPr lang="en-IL"/>
          </a:p>
        </p:txBody>
      </p:sp>
      <p:sp>
        <p:nvSpPr>
          <p:cNvPr id="33" name="Text 30"/>
          <p:cNvSpPr/>
          <p:nvPr/>
        </p:nvSpPr>
        <p:spPr>
          <a:xfrm>
            <a:off x="3703320" y="2990088"/>
            <a:ext cx="2286000" cy="274320"/>
          </a:xfrm>
          <a:prstGeom prst="rect">
            <a:avLst/>
          </a:prstGeom>
          <a:noFill/>
          <a:ln/>
        </p:spPr>
        <p:txBody>
          <a:bodyPr wrap="square" lIns="0" tIns="0" rIns="0" bIns="0" rtlCol="0" anchor="ctr"/>
          <a:lstStyle/>
          <a:p>
            <a:pPr marL="0" indent="0">
              <a:buNone/>
            </a:pPr>
            <a:r>
              <a:rPr lang="en-US" sz="1000" dirty="0">
                <a:solidFill>
                  <a:srgbClr val="3A4756"/>
                </a:solidFill>
                <a:latin typeface="Calibri" pitchFamily="34" charset="0"/>
                <a:ea typeface="Calibri" pitchFamily="34" charset="-122"/>
                <a:cs typeface="Calibri" pitchFamily="34" charset="-120"/>
              </a:rPr>
              <a:t>O(log n) query time</a:t>
            </a:r>
            <a:endParaRPr lang="en-US" sz="1000" dirty="0"/>
          </a:p>
        </p:txBody>
      </p:sp>
      <p:sp>
        <p:nvSpPr>
          <p:cNvPr id="34" name="Shape 31"/>
          <p:cNvSpPr/>
          <p:nvPr/>
        </p:nvSpPr>
        <p:spPr>
          <a:xfrm>
            <a:off x="3538728" y="3374136"/>
            <a:ext cx="91440" cy="91440"/>
          </a:xfrm>
          <a:prstGeom prst="line">
            <a:avLst/>
          </a:prstGeom>
          <a:solidFill>
            <a:srgbClr val="FF4438"/>
          </a:solidFill>
          <a:ln/>
        </p:spPr>
        <p:txBody>
          <a:bodyPr/>
          <a:lstStyle/>
          <a:p>
            <a:endParaRPr lang="en-IL"/>
          </a:p>
        </p:txBody>
      </p:sp>
      <p:sp>
        <p:nvSpPr>
          <p:cNvPr id="35" name="Text 32"/>
          <p:cNvSpPr/>
          <p:nvPr/>
        </p:nvSpPr>
        <p:spPr>
          <a:xfrm>
            <a:off x="3703320" y="3282696"/>
            <a:ext cx="2286000" cy="274320"/>
          </a:xfrm>
          <a:prstGeom prst="rect">
            <a:avLst/>
          </a:prstGeom>
          <a:noFill/>
          <a:ln/>
        </p:spPr>
        <p:txBody>
          <a:bodyPr wrap="square" lIns="0" tIns="0" rIns="0" bIns="0" rtlCol="0" anchor="ctr"/>
          <a:lstStyle/>
          <a:p>
            <a:pPr marL="0" indent="0">
              <a:buNone/>
            </a:pPr>
            <a:r>
              <a:rPr lang="en-US" sz="1000" dirty="0">
                <a:solidFill>
                  <a:srgbClr val="3A4756"/>
                </a:solidFill>
                <a:latin typeface="Calibri" pitchFamily="34" charset="0"/>
                <a:ea typeface="Calibri" pitchFamily="34" charset="-122"/>
                <a:cs typeface="Calibri" pitchFamily="34" charset="-120"/>
              </a:rPr>
              <a:t>high RAM cost</a:t>
            </a:r>
            <a:endParaRPr lang="en-US" sz="1000" dirty="0"/>
          </a:p>
        </p:txBody>
      </p:sp>
      <p:sp>
        <p:nvSpPr>
          <p:cNvPr id="36" name="Text 33"/>
          <p:cNvSpPr/>
          <p:nvPr/>
        </p:nvSpPr>
        <p:spPr>
          <a:xfrm>
            <a:off x="3502152" y="3703320"/>
            <a:ext cx="2414016" cy="640080"/>
          </a:xfrm>
          <a:prstGeom prst="rect">
            <a:avLst/>
          </a:prstGeom>
          <a:noFill/>
          <a:ln/>
        </p:spPr>
        <p:txBody>
          <a:bodyPr wrap="square" lIns="0" tIns="0" rIns="0" bIns="0" rtlCol="0" anchor="t"/>
          <a:lstStyle/>
          <a:p>
            <a:pPr marL="0" indent="0">
              <a:buNone/>
            </a:pPr>
            <a:r>
              <a:rPr lang="en-US" sz="900" i="1" dirty="0">
                <a:solidFill>
                  <a:srgbClr val="5A6678"/>
                </a:solidFill>
                <a:latin typeface="Calibri" pitchFamily="34" charset="0"/>
                <a:ea typeface="Calibri" pitchFamily="34" charset="-122"/>
                <a:cs typeface="Calibri" pitchFamily="34" charset="-120"/>
              </a:rPr>
              <a:t>Production standard for n &gt; 50K  ·  graph layers route queries from sparse → dense  ·  tune M, EF_CONSTRUCTION, EF_RUNTIME</a:t>
            </a:r>
            <a:endParaRPr lang="en-US" sz="900" dirty="0"/>
          </a:p>
        </p:txBody>
      </p:sp>
      <p:sp>
        <p:nvSpPr>
          <p:cNvPr id="37" name="Shape 34"/>
          <p:cNvSpPr/>
          <p:nvPr/>
        </p:nvSpPr>
        <p:spPr>
          <a:xfrm>
            <a:off x="6217920" y="1691640"/>
            <a:ext cx="2743200" cy="2743200"/>
          </a:xfrm>
          <a:prstGeom prst="rect">
            <a:avLst/>
          </a:prstGeom>
          <a:solidFill>
            <a:srgbClr val="FFFFFF"/>
          </a:solidFill>
          <a:ln w="9525">
            <a:solidFill>
              <a:srgbClr val="E5E8EE"/>
            </a:solidFill>
            <a:prstDash val="solid"/>
          </a:ln>
        </p:spPr>
        <p:txBody>
          <a:bodyPr/>
          <a:lstStyle/>
          <a:p>
            <a:endParaRPr lang="en-IL"/>
          </a:p>
        </p:txBody>
      </p:sp>
      <p:sp>
        <p:nvSpPr>
          <p:cNvPr id="38" name="Shape 35"/>
          <p:cNvSpPr/>
          <p:nvPr/>
        </p:nvSpPr>
        <p:spPr>
          <a:xfrm>
            <a:off x="6217920" y="1691640"/>
            <a:ext cx="2743200" cy="411480"/>
          </a:xfrm>
          <a:prstGeom prst="rect">
            <a:avLst/>
          </a:prstGeom>
          <a:solidFill>
            <a:srgbClr val="163341"/>
          </a:solidFill>
          <a:ln/>
        </p:spPr>
        <p:txBody>
          <a:bodyPr/>
          <a:lstStyle/>
          <a:p>
            <a:endParaRPr lang="en-IL"/>
          </a:p>
        </p:txBody>
      </p:sp>
      <p:sp>
        <p:nvSpPr>
          <p:cNvPr id="39" name="Text 36"/>
          <p:cNvSpPr/>
          <p:nvPr/>
        </p:nvSpPr>
        <p:spPr>
          <a:xfrm>
            <a:off x="6355080" y="1691640"/>
            <a:ext cx="2468880" cy="411480"/>
          </a:xfrm>
          <a:prstGeom prst="rect">
            <a:avLst/>
          </a:prstGeom>
          <a:noFill/>
          <a:ln/>
        </p:spPr>
        <p:txBody>
          <a:bodyPr wrap="square" lIns="0" tIns="0" rIns="0" bIns="0" rtlCol="0" anchor="ctr"/>
          <a:lstStyle/>
          <a:p>
            <a:pPr marL="0" indent="0">
              <a:buNone/>
            </a:pPr>
            <a:r>
              <a:rPr lang="en-US" sz="1400" b="1" kern="0" spc="200" dirty="0">
                <a:solidFill>
                  <a:srgbClr val="FFFFFF"/>
                </a:solidFill>
                <a:latin typeface="Calibri" pitchFamily="34" charset="0"/>
                <a:ea typeface="Calibri" pitchFamily="34" charset="-122"/>
                <a:cs typeface="Calibri" pitchFamily="34" charset="-120"/>
              </a:rPr>
              <a:t>SVS-VAMANA</a:t>
            </a:r>
            <a:endParaRPr lang="en-US" sz="1400" dirty="0"/>
          </a:p>
        </p:txBody>
      </p:sp>
      <p:sp>
        <p:nvSpPr>
          <p:cNvPr id="40" name="Text 37"/>
          <p:cNvSpPr/>
          <p:nvPr/>
        </p:nvSpPr>
        <p:spPr>
          <a:xfrm>
            <a:off x="6382512" y="2194560"/>
            <a:ext cx="2414016" cy="457200"/>
          </a:xfrm>
          <a:prstGeom prst="rect">
            <a:avLst/>
          </a:prstGeom>
          <a:noFill/>
          <a:ln/>
        </p:spPr>
        <p:txBody>
          <a:bodyPr wrap="square" lIns="0" tIns="0" rIns="0" bIns="0" rtlCol="0" anchor="t"/>
          <a:lstStyle/>
          <a:p>
            <a:pPr marL="0" indent="0">
              <a:buNone/>
            </a:pPr>
            <a:r>
              <a:rPr lang="en-US" sz="1250" b="1" dirty="0">
                <a:solidFill>
                  <a:srgbClr val="163341"/>
                </a:solidFill>
                <a:latin typeface="Calibri" pitchFamily="34" charset="0"/>
                <a:ea typeface="Calibri" pitchFamily="34" charset="-122"/>
                <a:cs typeface="Calibri" pitchFamily="34" charset="-120"/>
              </a:rPr>
              <a:t>Single-Layer + Quantization (Intel)</a:t>
            </a:r>
            <a:endParaRPr lang="en-US" sz="1250" dirty="0"/>
          </a:p>
        </p:txBody>
      </p:sp>
      <p:sp>
        <p:nvSpPr>
          <p:cNvPr id="41" name="Shape 38"/>
          <p:cNvSpPr/>
          <p:nvPr/>
        </p:nvSpPr>
        <p:spPr>
          <a:xfrm>
            <a:off x="6419088" y="2788920"/>
            <a:ext cx="91440" cy="91440"/>
          </a:xfrm>
          <a:prstGeom prst="line">
            <a:avLst/>
          </a:prstGeom>
          <a:solidFill>
            <a:srgbClr val="163341"/>
          </a:solidFill>
          <a:ln/>
        </p:spPr>
        <p:txBody>
          <a:bodyPr/>
          <a:lstStyle/>
          <a:p>
            <a:endParaRPr lang="en-IL"/>
          </a:p>
        </p:txBody>
      </p:sp>
      <p:sp>
        <p:nvSpPr>
          <p:cNvPr id="42" name="Text 39"/>
          <p:cNvSpPr/>
          <p:nvPr/>
        </p:nvSpPr>
        <p:spPr>
          <a:xfrm>
            <a:off x="6583680" y="2697480"/>
            <a:ext cx="2286000" cy="274320"/>
          </a:xfrm>
          <a:prstGeom prst="rect">
            <a:avLst/>
          </a:prstGeom>
          <a:noFill/>
          <a:ln/>
        </p:spPr>
        <p:txBody>
          <a:bodyPr wrap="square" lIns="0" tIns="0" rIns="0" bIns="0" rtlCol="0" anchor="ctr"/>
          <a:lstStyle/>
          <a:p>
            <a:pPr marL="0" indent="0">
              <a:buNone/>
            </a:pPr>
            <a:r>
              <a:rPr lang="en-US" sz="1000" dirty="0">
                <a:solidFill>
                  <a:srgbClr val="3A4756"/>
                </a:solidFill>
                <a:latin typeface="Calibri" pitchFamily="34" charset="0"/>
                <a:ea typeface="Calibri" pitchFamily="34" charset="-122"/>
                <a:cs typeface="Calibri" pitchFamily="34" charset="-120"/>
              </a:rPr>
              <a:t>~94–98% recall</a:t>
            </a:r>
            <a:endParaRPr lang="en-US" sz="1000" dirty="0"/>
          </a:p>
        </p:txBody>
      </p:sp>
      <p:sp>
        <p:nvSpPr>
          <p:cNvPr id="43" name="Shape 40"/>
          <p:cNvSpPr/>
          <p:nvPr/>
        </p:nvSpPr>
        <p:spPr>
          <a:xfrm>
            <a:off x="6419088" y="3081528"/>
            <a:ext cx="91440" cy="91440"/>
          </a:xfrm>
          <a:prstGeom prst="line">
            <a:avLst/>
          </a:prstGeom>
          <a:solidFill>
            <a:srgbClr val="163341"/>
          </a:solidFill>
          <a:ln/>
        </p:spPr>
        <p:txBody>
          <a:bodyPr/>
          <a:lstStyle/>
          <a:p>
            <a:endParaRPr lang="en-IL"/>
          </a:p>
        </p:txBody>
      </p:sp>
      <p:sp>
        <p:nvSpPr>
          <p:cNvPr id="44" name="Text 41"/>
          <p:cNvSpPr/>
          <p:nvPr/>
        </p:nvSpPr>
        <p:spPr>
          <a:xfrm>
            <a:off x="6583680" y="2990088"/>
            <a:ext cx="2286000" cy="274320"/>
          </a:xfrm>
          <a:prstGeom prst="rect">
            <a:avLst/>
          </a:prstGeom>
          <a:noFill/>
          <a:ln/>
        </p:spPr>
        <p:txBody>
          <a:bodyPr wrap="square" lIns="0" tIns="0" rIns="0" bIns="0" rtlCol="0" anchor="ctr"/>
          <a:lstStyle/>
          <a:p>
            <a:pPr marL="0" indent="0">
              <a:buNone/>
            </a:pPr>
            <a:r>
              <a:rPr lang="en-US" sz="1000" dirty="0">
                <a:solidFill>
                  <a:srgbClr val="3A4756"/>
                </a:solidFill>
                <a:latin typeface="Calibri" pitchFamily="34" charset="0"/>
                <a:ea typeface="Calibri" pitchFamily="34" charset="-122"/>
                <a:cs typeface="Calibri" pitchFamily="34" charset="-120"/>
              </a:rPr>
              <a:t>O(log n) query time</a:t>
            </a:r>
            <a:endParaRPr lang="en-US" sz="1000" dirty="0"/>
          </a:p>
        </p:txBody>
      </p:sp>
      <p:sp>
        <p:nvSpPr>
          <p:cNvPr id="45" name="Shape 42"/>
          <p:cNvSpPr/>
          <p:nvPr/>
        </p:nvSpPr>
        <p:spPr>
          <a:xfrm>
            <a:off x="6419088" y="3374136"/>
            <a:ext cx="91440" cy="91440"/>
          </a:xfrm>
          <a:prstGeom prst="line">
            <a:avLst/>
          </a:prstGeom>
          <a:solidFill>
            <a:srgbClr val="163341"/>
          </a:solidFill>
          <a:ln/>
        </p:spPr>
        <p:txBody>
          <a:bodyPr/>
          <a:lstStyle/>
          <a:p>
            <a:endParaRPr lang="en-IL"/>
          </a:p>
        </p:txBody>
      </p:sp>
      <p:sp>
        <p:nvSpPr>
          <p:cNvPr id="46" name="Text 43"/>
          <p:cNvSpPr/>
          <p:nvPr/>
        </p:nvSpPr>
        <p:spPr>
          <a:xfrm>
            <a:off x="6583680" y="3282696"/>
            <a:ext cx="2286000" cy="274320"/>
          </a:xfrm>
          <a:prstGeom prst="rect">
            <a:avLst/>
          </a:prstGeom>
          <a:noFill/>
          <a:ln/>
        </p:spPr>
        <p:txBody>
          <a:bodyPr wrap="square" lIns="0" tIns="0" rIns="0" bIns="0" rtlCol="0" anchor="ctr"/>
          <a:lstStyle/>
          <a:p>
            <a:pPr marL="0" indent="0">
              <a:buNone/>
            </a:pPr>
            <a:r>
              <a:rPr lang="en-US" sz="1000" dirty="0">
                <a:solidFill>
                  <a:srgbClr val="3A4756"/>
                </a:solidFill>
                <a:latin typeface="Calibri" pitchFamily="34" charset="0"/>
                <a:ea typeface="Calibri" pitchFamily="34" charset="-122"/>
                <a:cs typeface="Calibri" pitchFamily="34" charset="-120"/>
              </a:rPr>
              <a:t>26-37% RAM saved</a:t>
            </a:r>
            <a:endParaRPr lang="en-US" sz="1000" dirty="0"/>
          </a:p>
        </p:txBody>
      </p:sp>
      <p:sp>
        <p:nvSpPr>
          <p:cNvPr id="47" name="Text 44"/>
          <p:cNvSpPr/>
          <p:nvPr/>
        </p:nvSpPr>
        <p:spPr>
          <a:xfrm>
            <a:off x="6382512" y="3703320"/>
            <a:ext cx="2414016" cy="640080"/>
          </a:xfrm>
          <a:prstGeom prst="rect">
            <a:avLst/>
          </a:prstGeom>
          <a:noFill/>
          <a:ln/>
        </p:spPr>
        <p:txBody>
          <a:bodyPr wrap="square" lIns="0" tIns="0" rIns="0" bIns="0" rtlCol="0" anchor="t"/>
          <a:lstStyle/>
          <a:p>
            <a:pPr marL="0" indent="0">
              <a:buNone/>
            </a:pPr>
            <a:r>
              <a:rPr lang="en-US" sz="900" i="1" dirty="0">
                <a:solidFill>
                  <a:srgbClr val="5A6678"/>
                </a:solidFill>
                <a:latin typeface="Calibri" pitchFamily="34" charset="0"/>
                <a:ea typeface="Calibri" pitchFamily="34" charset="-122"/>
                <a:cs typeface="Calibri" pitchFamily="34" charset="-120"/>
              </a:rPr>
              <a:t>Billion-scale deployments  ·  Locally-Adaptive Vector Quantization  ·  preferred when memory ceiling dominates TCO</a:t>
            </a:r>
            <a:endParaRPr lang="en-US" sz="900" dirty="0"/>
          </a:p>
        </p:txBody>
      </p:sp>
      <p:sp>
        <p:nvSpPr>
          <p:cNvPr id="48" name="Shape 45"/>
          <p:cNvSpPr/>
          <p:nvPr/>
        </p:nvSpPr>
        <p:spPr>
          <a:xfrm>
            <a:off x="320040" y="4864608"/>
            <a:ext cx="8503920" cy="10973"/>
          </a:xfrm>
          <a:prstGeom prst="rect">
            <a:avLst/>
          </a:prstGeom>
          <a:solidFill>
            <a:srgbClr val="D9DDE3"/>
          </a:solidFill>
          <a:ln/>
        </p:spPr>
        <p:txBody>
          <a:bodyPr/>
          <a:lstStyle/>
          <a:p>
            <a:endParaRPr lang="en-IL"/>
          </a:p>
        </p:txBody>
      </p:sp>
      <p:sp>
        <p:nvSpPr>
          <p:cNvPr id="49" name="Text 46"/>
          <p:cNvSpPr/>
          <p:nvPr/>
        </p:nvSpPr>
        <p:spPr>
          <a:xfrm>
            <a:off x="320040" y="4919472"/>
            <a:ext cx="6400800" cy="201168"/>
          </a:xfrm>
          <a:prstGeom prst="rect">
            <a:avLst/>
          </a:prstGeom>
          <a:noFill/>
          <a:ln/>
        </p:spPr>
        <p:txBody>
          <a:bodyPr wrap="square" lIns="0" tIns="0" rIns="0" bIns="0" rtlCol="0" anchor="ctr"/>
          <a:lstStyle/>
          <a:p>
            <a:pPr marL="0" indent="0">
              <a:buNone/>
            </a:pPr>
            <a:r>
              <a:rPr lang="en-US" sz="850" dirty="0">
                <a:solidFill>
                  <a:srgbClr val="8A95A4"/>
                </a:solidFill>
                <a:latin typeface="Calibri" pitchFamily="34" charset="0"/>
                <a:ea typeface="Calibri" pitchFamily="34" charset="-122"/>
                <a:cs typeface="Calibri" pitchFamily="34" charset="-120"/>
              </a:rPr>
              <a:t>Redis as a Vector Database  ·  Architecting for Real-Time AI</a:t>
            </a:r>
            <a:endParaRPr lang="en-US" sz="850" dirty="0"/>
          </a:p>
        </p:txBody>
      </p:sp>
      <p:sp>
        <p:nvSpPr>
          <p:cNvPr id="50" name="Text 47"/>
          <p:cNvSpPr/>
          <p:nvPr/>
        </p:nvSpPr>
        <p:spPr>
          <a:xfrm>
            <a:off x="7955280" y="4919472"/>
            <a:ext cx="914400" cy="201168"/>
          </a:xfrm>
          <a:prstGeom prst="rect">
            <a:avLst/>
          </a:prstGeom>
          <a:noFill/>
          <a:ln/>
        </p:spPr>
        <p:txBody>
          <a:bodyPr wrap="square" lIns="0" tIns="0" rIns="0" bIns="0" rtlCol="0" anchor="ctr"/>
          <a:lstStyle/>
          <a:p>
            <a:pPr marL="0" indent="0" algn="r">
              <a:buNone/>
            </a:pPr>
            <a:r>
              <a:rPr lang="en-US" sz="850" dirty="0">
                <a:solidFill>
                  <a:srgbClr val="8A95A4"/>
                </a:solidFill>
                <a:latin typeface="Calibri" pitchFamily="34" charset="0"/>
                <a:ea typeface="Calibri" pitchFamily="34" charset="-122"/>
                <a:cs typeface="Calibri" pitchFamily="34" charset="-120"/>
              </a:rPr>
              <a:t>4 / 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FF4438"/>
          </a:solidFill>
          <a:ln/>
        </p:spPr>
        <p:txBody>
          <a:bodyPr/>
          <a:lstStyle/>
          <a:p>
            <a:endParaRPr lang="en-IL"/>
          </a:p>
        </p:txBody>
      </p:sp>
      <p:pic>
        <p:nvPicPr>
          <p:cNvPr id="3" name="Image 0" descr="/sessions/eloquent-friendly-cori/mnt/outputs/assets/redis_cube.png"/>
          <p:cNvPicPr>
            <a:picLocks noChangeAspect="1"/>
          </p:cNvPicPr>
          <p:nvPr/>
        </p:nvPicPr>
        <p:blipFill>
          <a:blip r:embed="rId3"/>
          <a:stretch>
            <a:fillRect/>
          </a:stretch>
        </p:blipFill>
        <p:spPr>
          <a:xfrm>
            <a:off x="320040" y="201168"/>
            <a:ext cx="502920" cy="475488"/>
          </a:xfrm>
          <a:prstGeom prst="rect">
            <a:avLst/>
          </a:prstGeom>
        </p:spPr>
      </p:pic>
      <p:sp>
        <p:nvSpPr>
          <p:cNvPr id="4" name="Text 1"/>
          <p:cNvSpPr/>
          <p:nvPr/>
        </p:nvSpPr>
        <p:spPr>
          <a:xfrm>
            <a:off x="960120" y="201168"/>
            <a:ext cx="5943600" cy="228600"/>
          </a:xfrm>
          <a:prstGeom prst="rect">
            <a:avLst/>
          </a:prstGeom>
          <a:noFill/>
          <a:ln/>
        </p:spPr>
        <p:txBody>
          <a:bodyPr wrap="square" lIns="0" tIns="0" rIns="0" bIns="0" rtlCol="0" anchor="ctr"/>
          <a:lstStyle/>
          <a:p>
            <a:pPr marL="0" indent="0">
              <a:buNone/>
            </a:pPr>
            <a:r>
              <a:rPr lang="en-US" sz="900" b="1" kern="0" spc="400" dirty="0">
                <a:solidFill>
                  <a:srgbClr val="FF4438"/>
                </a:solidFill>
                <a:latin typeface="Calibri" pitchFamily="34" charset="0"/>
                <a:ea typeface="Calibri" pitchFamily="34" charset="-122"/>
                <a:cs typeface="Calibri" pitchFamily="34" charset="-120"/>
              </a:rPr>
              <a:t>04  ·  RETRIEVAL</a:t>
            </a:r>
            <a:endParaRPr lang="en-US" sz="900" dirty="0"/>
          </a:p>
        </p:txBody>
      </p:sp>
      <p:sp>
        <p:nvSpPr>
          <p:cNvPr id="5" name="Text 2"/>
          <p:cNvSpPr/>
          <p:nvPr/>
        </p:nvSpPr>
        <p:spPr>
          <a:xfrm>
            <a:off x="960120" y="384048"/>
            <a:ext cx="7863840" cy="411480"/>
          </a:xfrm>
          <a:prstGeom prst="rect">
            <a:avLst/>
          </a:prstGeom>
          <a:noFill/>
          <a:ln/>
        </p:spPr>
        <p:txBody>
          <a:bodyPr wrap="square" lIns="0" tIns="0" rIns="0" bIns="0" rtlCol="0" anchor="ctr"/>
          <a:lstStyle/>
          <a:p>
            <a:pPr marL="0" indent="0">
              <a:buNone/>
            </a:pPr>
            <a:r>
              <a:rPr lang="en-US" sz="2200" b="1" dirty="0">
                <a:solidFill>
                  <a:srgbClr val="163341"/>
                </a:solidFill>
                <a:latin typeface="Calibri" pitchFamily="34" charset="0"/>
                <a:ea typeface="Calibri" pitchFamily="34" charset="-122"/>
                <a:cs typeface="Calibri" pitchFamily="34" charset="-120"/>
              </a:rPr>
              <a:t>Hybrid Search &amp; Reciprocal Rank Fusion (RRF)</a:t>
            </a:r>
            <a:endParaRPr lang="en-US" sz="2200" dirty="0"/>
          </a:p>
        </p:txBody>
      </p:sp>
      <p:sp>
        <p:nvSpPr>
          <p:cNvPr id="6" name="Shape 3"/>
          <p:cNvSpPr/>
          <p:nvPr/>
        </p:nvSpPr>
        <p:spPr>
          <a:xfrm>
            <a:off x="320040" y="868680"/>
            <a:ext cx="8503920" cy="10973"/>
          </a:xfrm>
          <a:prstGeom prst="rect">
            <a:avLst/>
          </a:prstGeom>
          <a:solidFill>
            <a:srgbClr val="D9DDE3"/>
          </a:solidFill>
          <a:ln/>
        </p:spPr>
        <p:txBody>
          <a:bodyPr/>
          <a:lstStyle/>
          <a:p>
            <a:endParaRPr lang="en-IL"/>
          </a:p>
        </p:txBody>
      </p:sp>
      <p:sp>
        <p:nvSpPr>
          <p:cNvPr id="7" name="Shape 4"/>
          <p:cNvSpPr/>
          <p:nvPr/>
        </p:nvSpPr>
        <p:spPr>
          <a:xfrm>
            <a:off x="457200" y="1051560"/>
            <a:ext cx="8275320" cy="502920"/>
          </a:xfrm>
          <a:prstGeom prst="rect">
            <a:avLst/>
          </a:prstGeom>
          <a:solidFill>
            <a:srgbClr val="FFF6F4"/>
          </a:solidFill>
          <a:ln w="9525">
            <a:solidFill>
              <a:srgbClr val="FF4438"/>
            </a:solidFill>
            <a:prstDash val="solid"/>
          </a:ln>
        </p:spPr>
        <p:txBody>
          <a:bodyPr/>
          <a:lstStyle/>
          <a:p>
            <a:endParaRPr lang="en-IL"/>
          </a:p>
        </p:txBody>
      </p:sp>
      <p:sp>
        <p:nvSpPr>
          <p:cNvPr id="8" name="Shape 5"/>
          <p:cNvSpPr/>
          <p:nvPr/>
        </p:nvSpPr>
        <p:spPr>
          <a:xfrm>
            <a:off x="457200" y="1051560"/>
            <a:ext cx="54864" cy="502920"/>
          </a:xfrm>
          <a:prstGeom prst="rect">
            <a:avLst/>
          </a:prstGeom>
          <a:solidFill>
            <a:srgbClr val="FF4438"/>
          </a:solidFill>
          <a:ln/>
        </p:spPr>
        <p:txBody>
          <a:bodyPr/>
          <a:lstStyle/>
          <a:p>
            <a:endParaRPr lang="en-IL"/>
          </a:p>
        </p:txBody>
      </p:sp>
      <p:sp>
        <p:nvSpPr>
          <p:cNvPr id="9" name="Text 6"/>
          <p:cNvSpPr/>
          <p:nvPr/>
        </p:nvSpPr>
        <p:spPr>
          <a:xfrm>
            <a:off x="640080" y="1051560"/>
            <a:ext cx="8046720" cy="502920"/>
          </a:xfrm>
          <a:prstGeom prst="rect">
            <a:avLst/>
          </a:prstGeom>
          <a:noFill/>
          <a:ln/>
        </p:spPr>
        <p:txBody>
          <a:bodyPr wrap="square" lIns="0" tIns="0" rIns="0" bIns="0" rtlCol="0" anchor="ctr"/>
          <a:lstStyle/>
          <a:p>
            <a:pPr marL="0" indent="0">
              <a:buNone/>
            </a:pPr>
            <a:r>
              <a:rPr lang="en-US" sz="1050" b="1" dirty="0">
                <a:solidFill>
                  <a:srgbClr val="FF4438"/>
                </a:solidFill>
                <a:latin typeface="Calibri" pitchFamily="34" charset="0"/>
                <a:ea typeface="Calibri" pitchFamily="34" charset="-122"/>
                <a:cs typeface="Calibri" pitchFamily="34" charset="-120"/>
              </a:rPr>
              <a:t>Pain:  </a:t>
            </a:r>
            <a:r>
              <a:rPr lang="en-US" sz="1050" dirty="0">
                <a:solidFill>
                  <a:srgbClr val="163341"/>
                </a:solidFill>
                <a:latin typeface="Calibri" pitchFamily="34" charset="0"/>
                <a:ea typeface="Calibri" pitchFamily="34" charset="-122"/>
                <a:cs typeface="Calibri" pitchFamily="34" charset="-120"/>
              </a:rPr>
              <a:t>Pure semantic search misses exact tokens — error codes, SKUs, hex IDs, proprietary names — because the keyword is diluted in the embedding.</a:t>
            </a:r>
            <a:endParaRPr lang="en-US" sz="1050" dirty="0"/>
          </a:p>
        </p:txBody>
      </p:sp>
      <p:sp>
        <p:nvSpPr>
          <p:cNvPr id="10" name="Shape 7"/>
          <p:cNvSpPr/>
          <p:nvPr/>
        </p:nvSpPr>
        <p:spPr>
          <a:xfrm>
            <a:off x="457200" y="1783080"/>
            <a:ext cx="1554480" cy="640080"/>
          </a:xfrm>
          <a:prstGeom prst="roundRect">
            <a:avLst>
              <a:gd name="adj" fmla="val 8571"/>
            </a:avLst>
          </a:prstGeom>
          <a:solidFill>
            <a:srgbClr val="163341"/>
          </a:solidFill>
          <a:ln/>
        </p:spPr>
        <p:txBody>
          <a:bodyPr/>
          <a:lstStyle/>
          <a:p>
            <a:endParaRPr lang="en-IL"/>
          </a:p>
        </p:txBody>
      </p:sp>
      <p:sp>
        <p:nvSpPr>
          <p:cNvPr id="11" name="Text 8"/>
          <p:cNvSpPr/>
          <p:nvPr/>
        </p:nvSpPr>
        <p:spPr>
          <a:xfrm>
            <a:off x="457200" y="1783080"/>
            <a:ext cx="1554480"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User query</a:t>
            </a:r>
            <a:endParaRPr lang="en-US" sz="1000" dirty="0"/>
          </a:p>
        </p:txBody>
      </p:sp>
      <p:sp>
        <p:nvSpPr>
          <p:cNvPr id="12" name="Text 9"/>
          <p:cNvSpPr/>
          <p:nvPr/>
        </p:nvSpPr>
        <p:spPr>
          <a:xfrm>
            <a:off x="457200" y="2057400"/>
            <a:ext cx="1554480" cy="365760"/>
          </a:xfrm>
          <a:prstGeom prst="rect">
            <a:avLst/>
          </a:prstGeom>
          <a:noFill/>
          <a:ln/>
        </p:spPr>
        <p:txBody>
          <a:bodyPr wrap="square" lIns="0" tIns="0" rIns="0" bIns="0" rtlCol="0" anchor="ctr"/>
          <a:lstStyle/>
          <a:p>
            <a:pPr marL="0" indent="0" algn="ctr">
              <a:buNone/>
            </a:pPr>
            <a:r>
              <a:rPr lang="en-US" sz="900" i="1" dirty="0">
                <a:solidFill>
                  <a:srgbClr val="DCFF1E"/>
                </a:solidFill>
                <a:latin typeface="Calibri" pitchFamily="34" charset="0"/>
                <a:ea typeface="Calibri" pitchFamily="34" charset="-122"/>
                <a:cs typeface="Calibri" pitchFamily="34" charset="-120"/>
              </a:rPr>
              <a:t>"Intel H100 throughput"</a:t>
            </a:r>
            <a:endParaRPr lang="en-US" sz="900" dirty="0"/>
          </a:p>
        </p:txBody>
      </p:sp>
      <p:sp>
        <p:nvSpPr>
          <p:cNvPr id="13" name="Shape 10"/>
          <p:cNvSpPr/>
          <p:nvPr/>
        </p:nvSpPr>
        <p:spPr>
          <a:xfrm>
            <a:off x="2057400" y="1901952"/>
            <a:ext cx="411480" cy="36576"/>
          </a:xfrm>
          <a:prstGeom prst="rect">
            <a:avLst/>
          </a:prstGeom>
          <a:solidFill>
            <a:srgbClr val="5A6678"/>
          </a:solidFill>
          <a:ln/>
        </p:spPr>
        <p:txBody>
          <a:bodyPr/>
          <a:lstStyle/>
          <a:p>
            <a:endParaRPr lang="en-IL"/>
          </a:p>
        </p:txBody>
      </p:sp>
      <p:sp>
        <p:nvSpPr>
          <p:cNvPr id="14" name="Shape 11"/>
          <p:cNvSpPr/>
          <p:nvPr/>
        </p:nvSpPr>
        <p:spPr>
          <a:xfrm>
            <a:off x="2057400" y="2286000"/>
            <a:ext cx="411480" cy="36576"/>
          </a:xfrm>
          <a:prstGeom prst="rect">
            <a:avLst/>
          </a:prstGeom>
          <a:solidFill>
            <a:srgbClr val="5A6678"/>
          </a:solidFill>
          <a:ln/>
        </p:spPr>
        <p:txBody>
          <a:bodyPr/>
          <a:lstStyle/>
          <a:p>
            <a:endParaRPr lang="en-IL"/>
          </a:p>
        </p:txBody>
      </p:sp>
      <p:sp>
        <p:nvSpPr>
          <p:cNvPr id="15" name="Shape 12"/>
          <p:cNvSpPr/>
          <p:nvPr/>
        </p:nvSpPr>
        <p:spPr>
          <a:xfrm>
            <a:off x="2514600" y="1709928"/>
            <a:ext cx="2377440" cy="457200"/>
          </a:xfrm>
          <a:prstGeom prst="roundRect">
            <a:avLst>
              <a:gd name="adj" fmla="val 10000"/>
            </a:avLst>
          </a:prstGeom>
          <a:solidFill>
            <a:srgbClr val="FFFFFF"/>
          </a:solidFill>
          <a:ln w="9525">
            <a:solidFill>
              <a:srgbClr val="E5E8EE"/>
            </a:solidFill>
            <a:prstDash val="solid"/>
          </a:ln>
        </p:spPr>
        <p:txBody>
          <a:bodyPr/>
          <a:lstStyle/>
          <a:p>
            <a:endParaRPr lang="en-IL"/>
          </a:p>
        </p:txBody>
      </p:sp>
      <p:sp>
        <p:nvSpPr>
          <p:cNvPr id="16" name="Text 13"/>
          <p:cNvSpPr/>
          <p:nvPr/>
        </p:nvSpPr>
        <p:spPr>
          <a:xfrm>
            <a:off x="2606040" y="1709928"/>
            <a:ext cx="1280160" cy="457200"/>
          </a:xfrm>
          <a:prstGeom prst="rect">
            <a:avLst/>
          </a:prstGeom>
          <a:noFill/>
          <a:ln/>
        </p:spPr>
        <p:txBody>
          <a:bodyPr wrap="square" lIns="0" tIns="0" rIns="0" bIns="0" rtlCol="0" anchor="ctr"/>
          <a:lstStyle/>
          <a:p>
            <a:pPr marL="0" indent="0">
              <a:buNone/>
            </a:pPr>
            <a:r>
              <a:rPr lang="en-US" sz="1100" b="1" dirty="0">
                <a:solidFill>
                  <a:srgbClr val="FF4438"/>
                </a:solidFill>
                <a:latin typeface="Calibri" pitchFamily="34" charset="0"/>
                <a:ea typeface="Calibri" pitchFamily="34" charset="-122"/>
                <a:cs typeface="Calibri" pitchFamily="34" charset="-120"/>
              </a:rPr>
              <a:t>Sparse · BM25</a:t>
            </a:r>
            <a:endParaRPr lang="en-US" sz="1100" dirty="0"/>
          </a:p>
        </p:txBody>
      </p:sp>
      <p:sp>
        <p:nvSpPr>
          <p:cNvPr id="17" name="Text 14"/>
          <p:cNvSpPr/>
          <p:nvPr/>
        </p:nvSpPr>
        <p:spPr>
          <a:xfrm>
            <a:off x="3657600" y="1709928"/>
            <a:ext cx="1188720" cy="457200"/>
          </a:xfrm>
          <a:prstGeom prst="rect">
            <a:avLst/>
          </a:prstGeom>
          <a:noFill/>
          <a:ln/>
        </p:spPr>
        <p:txBody>
          <a:bodyPr wrap="square" lIns="0" tIns="0" rIns="0" bIns="0" rtlCol="0" anchor="ctr"/>
          <a:lstStyle/>
          <a:p>
            <a:pPr marL="0" indent="0">
              <a:buNone/>
            </a:pPr>
            <a:r>
              <a:rPr lang="en-US" sz="900" dirty="0">
                <a:solidFill>
                  <a:srgbClr val="5A6678"/>
                </a:solidFill>
                <a:latin typeface="Calibri" pitchFamily="34" charset="0"/>
                <a:ea typeface="Calibri" pitchFamily="34" charset="-122"/>
                <a:cs typeface="Calibri" pitchFamily="34" charset="-120"/>
              </a:rPr>
              <a:t>TF-IDF, exact tokens</a:t>
            </a:r>
            <a:endParaRPr lang="en-US" sz="900" dirty="0"/>
          </a:p>
        </p:txBody>
      </p:sp>
      <p:sp>
        <p:nvSpPr>
          <p:cNvPr id="18" name="Shape 15"/>
          <p:cNvSpPr/>
          <p:nvPr/>
        </p:nvSpPr>
        <p:spPr>
          <a:xfrm>
            <a:off x="2514600" y="2167128"/>
            <a:ext cx="2377440" cy="457200"/>
          </a:xfrm>
          <a:prstGeom prst="roundRect">
            <a:avLst>
              <a:gd name="adj" fmla="val 10000"/>
            </a:avLst>
          </a:prstGeom>
          <a:solidFill>
            <a:srgbClr val="FFFFFF"/>
          </a:solidFill>
          <a:ln w="9525">
            <a:solidFill>
              <a:srgbClr val="E5E8EE"/>
            </a:solidFill>
            <a:prstDash val="solid"/>
          </a:ln>
        </p:spPr>
        <p:txBody>
          <a:bodyPr/>
          <a:lstStyle/>
          <a:p>
            <a:endParaRPr lang="en-IL"/>
          </a:p>
        </p:txBody>
      </p:sp>
      <p:sp>
        <p:nvSpPr>
          <p:cNvPr id="19" name="Text 16"/>
          <p:cNvSpPr/>
          <p:nvPr/>
        </p:nvSpPr>
        <p:spPr>
          <a:xfrm>
            <a:off x="2606040" y="2167128"/>
            <a:ext cx="1463040" cy="457200"/>
          </a:xfrm>
          <a:prstGeom prst="rect">
            <a:avLst/>
          </a:prstGeom>
          <a:noFill/>
          <a:ln/>
        </p:spPr>
        <p:txBody>
          <a:bodyPr wrap="square" lIns="0" tIns="0" rIns="0" bIns="0" rtlCol="0" anchor="ctr"/>
          <a:lstStyle/>
          <a:p>
            <a:pPr marL="0" indent="0">
              <a:buNone/>
            </a:pPr>
            <a:r>
              <a:rPr lang="en-US" sz="1100" b="1" dirty="0">
                <a:solidFill>
                  <a:srgbClr val="163341"/>
                </a:solidFill>
                <a:latin typeface="Calibri" pitchFamily="34" charset="0"/>
                <a:ea typeface="Calibri" pitchFamily="34" charset="-122"/>
                <a:cs typeface="Calibri" pitchFamily="34" charset="-120"/>
              </a:rPr>
              <a:t>Dense · Vector ANN</a:t>
            </a:r>
            <a:endParaRPr lang="en-US" sz="1100" dirty="0"/>
          </a:p>
        </p:txBody>
      </p:sp>
      <p:sp>
        <p:nvSpPr>
          <p:cNvPr id="20" name="Text 17"/>
          <p:cNvSpPr/>
          <p:nvPr/>
        </p:nvSpPr>
        <p:spPr>
          <a:xfrm>
            <a:off x="3840480" y="2167128"/>
            <a:ext cx="1005840" cy="457200"/>
          </a:xfrm>
          <a:prstGeom prst="rect">
            <a:avLst/>
          </a:prstGeom>
          <a:noFill/>
          <a:ln/>
        </p:spPr>
        <p:txBody>
          <a:bodyPr wrap="square" lIns="0" tIns="0" rIns="0" bIns="0" rtlCol="0" anchor="ctr"/>
          <a:lstStyle/>
          <a:p>
            <a:pPr marL="0" indent="0">
              <a:buNone/>
            </a:pPr>
            <a:r>
              <a:rPr lang="en-US" sz="900" dirty="0">
                <a:solidFill>
                  <a:srgbClr val="5A6678"/>
                </a:solidFill>
                <a:latin typeface="Calibri" pitchFamily="34" charset="0"/>
                <a:ea typeface="Calibri" pitchFamily="34" charset="-122"/>
                <a:cs typeface="Calibri" pitchFamily="34" charset="-120"/>
              </a:rPr>
              <a:t>HNSW / VAMANA</a:t>
            </a:r>
            <a:endParaRPr lang="en-US" sz="900" dirty="0"/>
          </a:p>
        </p:txBody>
      </p:sp>
      <p:sp>
        <p:nvSpPr>
          <p:cNvPr id="21" name="Shape 18"/>
          <p:cNvSpPr/>
          <p:nvPr/>
        </p:nvSpPr>
        <p:spPr>
          <a:xfrm>
            <a:off x="4937760" y="1920240"/>
            <a:ext cx="411480" cy="36576"/>
          </a:xfrm>
          <a:prstGeom prst="rect">
            <a:avLst/>
          </a:prstGeom>
          <a:solidFill>
            <a:srgbClr val="5A6678"/>
          </a:solidFill>
          <a:ln/>
        </p:spPr>
        <p:txBody>
          <a:bodyPr/>
          <a:lstStyle/>
          <a:p>
            <a:endParaRPr lang="en-IL"/>
          </a:p>
        </p:txBody>
      </p:sp>
      <p:sp>
        <p:nvSpPr>
          <p:cNvPr id="22" name="Shape 19"/>
          <p:cNvSpPr/>
          <p:nvPr/>
        </p:nvSpPr>
        <p:spPr>
          <a:xfrm>
            <a:off x="4937760" y="2286000"/>
            <a:ext cx="411480" cy="36576"/>
          </a:xfrm>
          <a:prstGeom prst="rect">
            <a:avLst/>
          </a:prstGeom>
          <a:solidFill>
            <a:srgbClr val="5A6678"/>
          </a:solidFill>
          <a:ln/>
        </p:spPr>
        <p:txBody>
          <a:bodyPr/>
          <a:lstStyle/>
          <a:p>
            <a:endParaRPr lang="en-IL"/>
          </a:p>
        </p:txBody>
      </p:sp>
      <p:sp>
        <p:nvSpPr>
          <p:cNvPr id="23" name="Shape 20"/>
          <p:cNvSpPr/>
          <p:nvPr/>
        </p:nvSpPr>
        <p:spPr>
          <a:xfrm>
            <a:off x="5394960" y="1737360"/>
            <a:ext cx="1828800" cy="914400"/>
          </a:xfrm>
          <a:prstGeom prst="roundRect">
            <a:avLst>
              <a:gd name="adj" fmla="val 6000"/>
            </a:avLst>
          </a:prstGeom>
          <a:solidFill>
            <a:srgbClr val="FF4438"/>
          </a:solidFill>
          <a:ln/>
        </p:spPr>
        <p:txBody>
          <a:bodyPr/>
          <a:lstStyle/>
          <a:p>
            <a:endParaRPr lang="en-IL"/>
          </a:p>
        </p:txBody>
      </p:sp>
      <p:sp>
        <p:nvSpPr>
          <p:cNvPr id="24" name="Text 21"/>
          <p:cNvSpPr/>
          <p:nvPr/>
        </p:nvSpPr>
        <p:spPr>
          <a:xfrm>
            <a:off x="5394960" y="1737360"/>
            <a:ext cx="182880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RRF</a:t>
            </a:r>
            <a:endParaRPr lang="en-US" sz="1600" dirty="0"/>
          </a:p>
        </p:txBody>
      </p:sp>
      <p:sp>
        <p:nvSpPr>
          <p:cNvPr id="25" name="Text 22"/>
          <p:cNvSpPr/>
          <p:nvPr/>
        </p:nvSpPr>
        <p:spPr>
          <a:xfrm>
            <a:off x="5394960" y="2057400"/>
            <a:ext cx="1828800" cy="274320"/>
          </a:xfrm>
          <a:prstGeom prst="rect">
            <a:avLst/>
          </a:prstGeom>
          <a:noFill/>
          <a:ln/>
        </p:spPr>
        <p:txBody>
          <a:bodyPr wrap="square" lIns="0" tIns="0" rIns="0" bIns="0"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Reciprocal Rank Fusion</a:t>
            </a:r>
            <a:endParaRPr lang="en-US" sz="850" dirty="0"/>
          </a:p>
        </p:txBody>
      </p:sp>
      <p:sp>
        <p:nvSpPr>
          <p:cNvPr id="26" name="Text 23"/>
          <p:cNvSpPr/>
          <p:nvPr/>
        </p:nvSpPr>
        <p:spPr>
          <a:xfrm>
            <a:off x="5394960" y="2286000"/>
            <a:ext cx="1828800" cy="365760"/>
          </a:xfrm>
          <a:prstGeom prst="rect">
            <a:avLst/>
          </a:prstGeom>
          <a:noFill/>
          <a:ln/>
        </p:spPr>
        <p:txBody>
          <a:bodyPr wrap="square" lIns="0" tIns="0" rIns="0" bIns="0" rtlCol="0" anchor="ctr"/>
          <a:lstStyle/>
          <a:p>
            <a:pPr marL="0" indent="0" algn="ctr">
              <a:buNone/>
            </a:pPr>
            <a:r>
              <a:rPr lang="en-US" sz="950" i="1" dirty="0">
                <a:solidFill>
                  <a:srgbClr val="FFFFFF"/>
                </a:solidFill>
                <a:latin typeface="Calibri" pitchFamily="34" charset="0"/>
                <a:ea typeface="Calibri" pitchFamily="34" charset="-122"/>
                <a:cs typeface="Calibri" pitchFamily="34" charset="-120"/>
              </a:rPr>
              <a:t>score = Σ 1 / (k + rank)</a:t>
            </a:r>
            <a:endParaRPr lang="en-US" sz="950" dirty="0"/>
          </a:p>
        </p:txBody>
      </p:sp>
      <p:sp>
        <p:nvSpPr>
          <p:cNvPr id="27" name="Shape 24"/>
          <p:cNvSpPr/>
          <p:nvPr/>
        </p:nvSpPr>
        <p:spPr>
          <a:xfrm>
            <a:off x="7269480" y="2176272"/>
            <a:ext cx="365760" cy="36576"/>
          </a:xfrm>
          <a:prstGeom prst="rect">
            <a:avLst/>
          </a:prstGeom>
          <a:solidFill>
            <a:srgbClr val="5A6678"/>
          </a:solidFill>
          <a:ln/>
        </p:spPr>
        <p:txBody>
          <a:bodyPr/>
          <a:lstStyle/>
          <a:p>
            <a:endParaRPr lang="en-IL"/>
          </a:p>
        </p:txBody>
      </p:sp>
      <p:sp>
        <p:nvSpPr>
          <p:cNvPr id="28" name="Shape 25"/>
          <p:cNvSpPr/>
          <p:nvPr/>
        </p:nvSpPr>
        <p:spPr>
          <a:xfrm>
            <a:off x="7680960" y="1874520"/>
            <a:ext cx="1097280" cy="640080"/>
          </a:xfrm>
          <a:prstGeom prst="roundRect">
            <a:avLst>
              <a:gd name="adj" fmla="val 8571"/>
            </a:avLst>
          </a:prstGeom>
          <a:solidFill>
            <a:srgbClr val="163341"/>
          </a:solidFill>
          <a:ln/>
        </p:spPr>
        <p:txBody>
          <a:bodyPr/>
          <a:lstStyle/>
          <a:p>
            <a:endParaRPr lang="en-IL"/>
          </a:p>
        </p:txBody>
      </p:sp>
      <p:sp>
        <p:nvSpPr>
          <p:cNvPr id="29" name="Text 26"/>
          <p:cNvSpPr/>
          <p:nvPr/>
        </p:nvSpPr>
        <p:spPr>
          <a:xfrm>
            <a:off x="7680960" y="1874520"/>
            <a:ext cx="1097280" cy="64008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Top-K</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unified</a:t>
            </a:r>
            <a:endParaRPr lang="en-US" sz="1000" dirty="0"/>
          </a:p>
        </p:txBody>
      </p:sp>
      <p:sp>
        <p:nvSpPr>
          <p:cNvPr id="30" name="Shape 27"/>
          <p:cNvSpPr/>
          <p:nvPr/>
        </p:nvSpPr>
        <p:spPr>
          <a:xfrm>
            <a:off x="457200" y="2971800"/>
            <a:ext cx="2697480" cy="960120"/>
          </a:xfrm>
          <a:prstGeom prst="rect">
            <a:avLst/>
          </a:prstGeom>
          <a:solidFill>
            <a:srgbClr val="FFFFFF"/>
          </a:solidFill>
          <a:ln w="9525">
            <a:solidFill>
              <a:srgbClr val="E5E8EE"/>
            </a:solidFill>
            <a:prstDash val="solid"/>
          </a:ln>
        </p:spPr>
        <p:txBody>
          <a:bodyPr/>
          <a:lstStyle/>
          <a:p>
            <a:endParaRPr lang="en-IL"/>
          </a:p>
        </p:txBody>
      </p:sp>
      <p:sp>
        <p:nvSpPr>
          <p:cNvPr id="31" name="Shape 28"/>
          <p:cNvSpPr/>
          <p:nvPr/>
        </p:nvSpPr>
        <p:spPr>
          <a:xfrm>
            <a:off x="457200" y="2971800"/>
            <a:ext cx="54864" cy="960120"/>
          </a:xfrm>
          <a:prstGeom prst="rect">
            <a:avLst/>
          </a:prstGeom>
          <a:solidFill>
            <a:srgbClr val="163341"/>
          </a:solidFill>
          <a:ln/>
        </p:spPr>
        <p:txBody>
          <a:bodyPr/>
          <a:lstStyle/>
          <a:p>
            <a:endParaRPr lang="en-IL"/>
          </a:p>
        </p:txBody>
      </p:sp>
      <p:sp>
        <p:nvSpPr>
          <p:cNvPr id="32" name="Text 29"/>
          <p:cNvSpPr/>
          <p:nvPr/>
        </p:nvSpPr>
        <p:spPr>
          <a:xfrm>
            <a:off x="594360" y="3026664"/>
            <a:ext cx="2468880" cy="274320"/>
          </a:xfrm>
          <a:prstGeom prst="rect">
            <a:avLst/>
          </a:prstGeom>
          <a:noFill/>
          <a:ln/>
        </p:spPr>
        <p:txBody>
          <a:bodyPr wrap="square" lIns="0" tIns="0" rIns="0" bIns="0" rtlCol="0" anchor="ctr"/>
          <a:lstStyle/>
          <a:p>
            <a:pPr marL="0" indent="0">
              <a:buNone/>
            </a:pPr>
            <a:r>
              <a:rPr lang="en-US" sz="1100" b="1" dirty="0">
                <a:solidFill>
                  <a:srgbClr val="163341"/>
                </a:solidFill>
                <a:latin typeface="Calibri" pitchFamily="34" charset="0"/>
                <a:ea typeface="Calibri" pitchFamily="34" charset="-122"/>
                <a:cs typeface="Calibri" pitchFamily="34" charset="-120"/>
              </a:rPr>
              <a:t>Single command</a:t>
            </a:r>
            <a:endParaRPr lang="en-US" sz="1100" dirty="0"/>
          </a:p>
        </p:txBody>
      </p:sp>
      <p:sp>
        <p:nvSpPr>
          <p:cNvPr id="33" name="Text 30"/>
          <p:cNvSpPr/>
          <p:nvPr/>
        </p:nvSpPr>
        <p:spPr>
          <a:xfrm>
            <a:off x="594360" y="3300984"/>
            <a:ext cx="2468880" cy="640080"/>
          </a:xfrm>
          <a:prstGeom prst="rect">
            <a:avLst/>
          </a:prstGeom>
          <a:noFill/>
          <a:ln/>
        </p:spPr>
        <p:txBody>
          <a:bodyPr wrap="square" lIns="0" tIns="0" rIns="0" bIns="0" rtlCol="0" anchor="t"/>
          <a:lstStyle/>
          <a:p>
            <a:pPr marL="0" indent="0">
              <a:buNone/>
            </a:pPr>
            <a:r>
              <a:rPr lang="en-US" sz="950" dirty="0">
                <a:solidFill>
                  <a:srgbClr val="3A4756"/>
                </a:solidFill>
                <a:latin typeface="Calibri" pitchFamily="34" charset="0"/>
                <a:ea typeface="Calibri" pitchFamily="34" charset="-122"/>
                <a:cs typeface="Calibri" pitchFamily="34" charset="-120"/>
              </a:rPr>
              <a:t>FT.HYBRID runs both retrievals inside the engine — no app-side fusion code.</a:t>
            </a:r>
            <a:endParaRPr lang="en-US" sz="950" dirty="0"/>
          </a:p>
        </p:txBody>
      </p:sp>
      <p:sp>
        <p:nvSpPr>
          <p:cNvPr id="34" name="Shape 31"/>
          <p:cNvSpPr/>
          <p:nvPr/>
        </p:nvSpPr>
        <p:spPr>
          <a:xfrm>
            <a:off x="3246120" y="2971800"/>
            <a:ext cx="2697480" cy="960120"/>
          </a:xfrm>
          <a:prstGeom prst="rect">
            <a:avLst/>
          </a:prstGeom>
          <a:solidFill>
            <a:srgbClr val="FFFFFF"/>
          </a:solidFill>
          <a:ln w="9525">
            <a:solidFill>
              <a:srgbClr val="E5E8EE"/>
            </a:solidFill>
            <a:prstDash val="solid"/>
          </a:ln>
        </p:spPr>
        <p:txBody>
          <a:bodyPr/>
          <a:lstStyle/>
          <a:p>
            <a:endParaRPr lang="en-IL"/>
          </a:p>
        </p:txBody>
      </p:sp>
      <p:sp>
        <p:nvSpPr>
          <p:cNvPr id="35" name="Shape 32"/>
          <p:cNvSpPr/>
          <p:nvPr/>
        </p:nvSpPr>
        <p:spPr>
          <a:xfrm>
            <a:off x="3246120" y="2971800"/>
            <a:ext cx="54864" cy="960120"/>
          </a:xfrm>
          <a:prstGeom prst="rect">
            <a:avLst/>
          </a:prstGeom>
          <a:solidFill>
            <a:srgbClr val="163341"/>
          </a:solidFill>
          <a:ln/>
        </p:spPr>
        <p:txBody>
          <a:bodyPr/>
          <a:lstStyle/>
          <a:p>
            <a:endParaRPr lang="en-IL"/>
          </a:p>
        </p:txBody>
      </p:sp>
      <p:sp>
        <p:nvSpPr>
          <p:cNvPr id="36" name="Text 33"/>
          <p:cNvSpPr/>
          <p:nvPr/>
        </p:nvSpPr>
        <p:spPr>
          <a:xfrm>
            <a:off x="3383280" y="3026664"/>
            <a:ext cx="2468880" cy="274320"/>
          </a:xfrm>
          <a:prstGeom prst="rect">
            <a:avLst/>
          </a:prstGeom>
          <a:noFill/>
          <a:ln/>
        </p:spPr>
        <p:txBody>
          <a:bodyPr wrap="square" lIns="0" tIns="0" rIns="0" bIns="0" rtlCol="0" anchor="ctr"/>
          <a:lstStyle/>
          <a:p>
            <a:pPr marL="0" indent="0">
              <a:buNone/>
            </a:pPr>
            <a:r>
              <a:rPr lang="en-US" sz="1100" b="1" dirty="0">
                <a:solidFill>
                  <a:srgbClr val="163341"/>
                </a:solidFill>
                <a:latin typeface="Calibri" pitchFamily="34" charset="0"/>
                <a:ea typeface="Calibri" pitchFamily="34" charset="-122"/>
                <a:cs typeface="Calibri" pitchFamily="34" charset="-120"/>
              </a:rPr>
              <a:t>Bounded vs. unbounded scores</a:t>
            </a:r>
            <a:endParaRPr lang="en-US" sz="1100" dirty="0"/>
          </a:p>
        </p:txBody>
      </p:sp>
      <p:sp>
        <p:nvSpPr>
          <p:cNvPr id="37" name="Text 34"/>
          <p:cNvSpPr/>
          <p:nvPr/>
        </p:nvSpPr>
        <p:spPr>
          <a:xfrm>
            <a:off x="3383280" y="3300984"/>
            <a:ext cx="2468880" cy="640080"/>
          </a:xfrm>
          <a:prstGeom prst="rect">
            <a:avLst/>
          </a:prstGeom>
          <a:noFill/>
          <a:ln/>
        </p:spPr>
        <p:txBody>
          <a:bodyPr wrap="square" lIns="0" tIns="0" rIns="0" bIns="0" rtlCol="0" anchor="t"/>
          <a:lstStyle/>
          <a:p>
            <a:pPr marL="0" indent="0">
              <a:buNone/>
            </a:pPr>
            <a:r>
              <a:rPr lang="en-US" sz="950" dirty="0">
                <a:solidFill>
                  <a:srgbClr val="3A4756"/>
                </a:solidFill>
                <a:latin typeface="Calibri" pitchFamily="34" charset="0"/>
                <a:ea typeface="Calibri" pitchFamily="34" charset="-122"/>
                <a:cs typeface="Calibri" pitchFamily="34" charset="-120"/>
              </a:rPr>
              <a:t>RRF discards raw scores; ranks documents by position, smoothed by tunable k (default 60).</a:t>
            </a:r>
            <a:endParaRPr lang="en-US" sz="950" dirty="0"/>
          </a:p>
        </p:txBody>
      </p:sp>
      <p:sp>
        <p:nvSpPr>
          <p:cNvPr id="38" name="Shape 35"/>
          <p:cNvSpPr/>
          <p:nvPr/>
        </p:nvSpPr>
        <p:spPr>
          <a:xfrm>
            <a:off x="6035040" y="2971800"/>
            <a:ext cx="2697480" cy="960120"/>
          </a:xfrm>
          <a:prstGeom prst="rect">
            <a:avLst/>
          </a:prstGeom>
          <a:solidFill>
            <a:srgbClr val="FFFFFF"/>
          </a:solidFill>
          <a:ln w="9525">
            <a:solidFill>
              <a:srgbClr val="E5E8EE"/>
            </a:solidFill>
            <a:prstDash val="solid"/>
          </a:ln>
        </p:spPr>
        <p:txBody>
          <a:bodyPr/>
          <a:lstStyle/>
          <a:p>
            <a:endParaRPr lang="en-IL"/>
          </a:p>
        </p:txBody>
      </p:sp>
      <p:sp>
        <p:nvSpPr>
          <p:cNvPr id="39" name="Shape 36"/>
          <p:cNvSpPr/>
          <p:nvPr/>
        </p:nvSpPr>
        <p:spPr>
          <a:xfrm>
            <a:off x="6035040" y="2971800"/>
            <a:ext cx="54864" cy="960120"/>
          </a:xfrm>
          <a:prstGeom prst="rect">
            <a:avLst/>
          </a:prstGeom>
          <a:solidFill>
            <a:srgbClr val="163341"/>
          </a:solidFill>
          <a:ln/>
        </p:spPr>
        <p:txBody>
          <a:bodyPr/>
          <a:lstStyle/>
          <a:p>
            <a:endParaRPr lang="en-IL"/>
          </a:p>
        </p:txBody>
      </p:sp>
      <p:sp>
        <p:nvSpPr>
          <p:cNvPr id="40" name="Text 37"/>
          <p:cNvSpPr/>
          <p:nvPr/>
        </p:nvSpPr>
        <p:spPr>
          <a:xfrm>
            <a:off x="6172200" y="3026664"/>
            <a:ext cx="2468880" cy="274320"/>
          </a:xfrm>
          <a:prstGeom prst="rect">
            <a:avLst/>
          </a:prstGeom>
          <a:noFill/>
          <a:ln/>
        </p:spPr>
        <p:txBody>
          <a:bodyPr wrap="square" lIns="0" tIns="0" rIns="0" bIns="0" rtlCol="0" anchor="ctr"/>
          <a:lstStyle/>
          <a:p>
            <a:pPr marL="0" indent="0">
              <a:buNone/>
            </a:pPr>
            <a:r>
              <a:rPr lang="en-US" sz="1100" b="1" dirty="0">
                <a:solidFill>
                  <a:srgbClr val="163341"/>
                </a:solidFill>
                <a:latin typeface="Calibri" pitchFamily="34" charset="0"/>
                <a:ea typeface="Calibri" pitchFamily="34" charset="-122"/>
                <a:cs typeface="Calibri" pitchFamily="34" charset="-120"/>
              </a:rPr>
              <a:t>Linear-fusion fallback</a:t>
            </a:r>
            <a:endParaRPr lang="en-US" sz="1100" dirty="0"/>
          </a:p>
        </p:txBody>
      </p:sp>
      <p:sp>
        <p:nvSpPr>
          <p:cNvPr id="41" name="Text 38"/>
          <p:cNvSpPr/>
          <p:nvPr/>
        </p:nvSpPr>
        <p:spPr>
          <a:xfrm>
            <a:off x="6172200" y="3300984"/>
            <a:ext cx="2468880" cy="640080"/>
          </a:xfrm>
          <a:prstGeom prst="rect">
            <a:avLst/>
          </a:prstGeom>
          <a:noFill/>
          <a:ln/>
        </p:spPr>
        <p:txBody>
          <a:bodyPr wrap="square" lIns="0" tIns="0" rIns="0" bIns="0" rtlCol="0" anchor="t"/>
          <a:lstStyle/>
          <a:p>
            <a:pPr marL="0" indent="0">
              <a:buNone/>
            </a:pPr>
            <a:r>
              <a:rPr lang="en-US" sz="950" dirty="0">
                <a:solidFill>
                  <a:srgbClr val="3A4756"/>
                </a:solidFill>
                <a:latin typeface="Calibri" pitchFamily="34" charset="0"/>
                <a:ea typeface="Calibri" pitchFamily="34" charset="-122"/>
                <a:cs typeface="Calibri" pitchFamily="34" charset="-120"/>
              </a:rPr>
              <a:t>For explicit control, configure α/β weights for semantic vs. lexical importance.</a:t>
            </a:r>
            <a:endParaRPr lang="en-US" sz="950" dirty="0"/>
          </a:p>
        </p:txBody>
      </p:sp>
      <p:sp>
        <p:nvSpPr>
          <p:cNvPr id="42" name="Shape 39"/>
          <p:cNvSpPr/>
          <p:nvPr/>
        </p:nvSpPr>
        <p:spPr>
          <a:xfrm>
            <a:off x="320040" y="4864608"/>
            <a:ext cx="8503920" cy="10973"/>
          </a:xfrm>
          <a:prstGeom prst="rect">
            <a:avLst/>
          </a:prstGeom>
          <a:solidFill>
            <a:srgbClr val="D9DDE3"/>
          </a:solidFill>
          <a:ln/>
        </p:spPr>
        <p:txBody>
          <a:bodyPr/>
          <a:lstStyle/>
          <a:p>
            <a:endParaRPr lang="en-IL"/>
          </a:p>
        </p:txBody>
      </p:sp>
      <p:sp>
        <p:nvSpPr>
          <p:cNvPr id="43" name="Text 40"/>
          <p:cNvSpPr/>
          <p:nvPr/>
        </p:nvSpPr>
        <p:spPr>
          <a:xfrm>
            <a:off x="320040" y="4919472"/>
            <a:ext cx="6400800" cy="201168"/>
          </a:xfrm>
          <a:prstGeom prst="rect">
            <a:avLst/>
          </a:prstGeom>
          <a:noFill/>
          <a:ln/>
        </p:spPr>
        <p:txBody>
          <a:bodyPr wrap="square" lIns="0" tIns="0" rIns="0" bIns="0" rtlCol="0" anchor="ctr"/>
          <a:lstStyle/>
          <a:p>
            <a:pPr marL="0" indent="0">
              <a:buNone/>
            </a:pPr>
            <a:r>
              <a:rPr lang="en-US" sz="850" dirty="0">
                <a:solidFill>
                  <a:srgbClr val="8A95A4"/>
                </a:solidFill>
                <a:latin typeface="Calibri" pitchFamily="34" charset="0"/>
                <a:ea typeface="Calibri" pitchFamily="34" charset="-122"/>
                <a:cs typeface="Calibri" pitchFamily="34" charset="-120"/>
              </a:rPr>
              <a:t>Redis as a Vector Database  ·  Architecting for Real-Time AI</a:t>
            </a:r>
            <a:endParaRPr lang="en-US" sz="850" dirty="0"/>
          </a:p>
        </p:txBody>
      </p:sp>
      <p:sp>
        <p:nvSpPr>
          <p:cNvPr id="44" name="Text 41"/>
          <p:cNvSpPr/>
          <p:nvPr/>
        </p:nvSpPr>
        <p:spPr>
          <a:xfrm>
            <a:off x="7955280" y="4919472"/>
            <a:ext cx="914400" cy="201168"/>
          </a:xfrm>
          <a:prstGeom prst="rect">
            <a:avLst/>
          </a:prstGeom>
          <a:noFill/>
          <a:ln/>
        </p:spPr>
        <p:txBody>
          <a:bodyPr wrap="square" lIns="0" tIns="0" rIns="0" bIns="0" rtlCol="0" anchor="ctr"/>
          <a:lstStyle/>
          <a:p>
            <a:pPr marL="0" indent="0" algn="r">
              <a:buNone/>
            </a:pPr>
            <a:r>
              <a:rPr lang="en-US" sz="850" dirty="0">
                <a:solidFill>
                  <a:srgbClr val="8A95A4"/>
                </a:solidFill>
                <a:latin typeface="Calibri" pitchFamily="34" charset="0"/>
                <a:ea typeface="Calibri" pitchFamily="34" charset="-122"/>
                <a:cs typeface="Calibri" pitchFamily="34" charset="-120"/>
              </a:rPr>
              <a:t>5 / 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FF4438"/>
          </a:solidFill>
          <a:ln/>
        </p:spPr>
        <p:txBody>
          <a:bodyPr/>
          <a:lstStyle/>
          <a:p>
            <a:endParaRPr lang="en-IL"/>
          </a:p>
        </p:txBody>
      </p:sp>
      <p:pic>
        <p:nvPicPr>
          <p:cNvPr id="3" name="Image 0" descr="/sessions/eloquent-friendly-cori/mnt/outputs/assets/redis_cube.png"/>
          <p:cNvPicPr>
            <a:picLocks noChangeAspect="1"/>
          </p:cNvPicPr>
          <p:nvPr/>
        </p:nvPicPr>
        <p:blipFill>
          <a:blip r:embed="rId3"/>
          <a:stretch>
            <a:fillRect/>
          </a:stretch>
        </p:blipFill>
        <p:spPr>
          <a:xfrm>
            <a:off x="320040" y="201168"/>
            <a:ext cx="502920" cy="475488"/>
          </a:xfrm>
          <a:prstGeom prst="rect">
            <a:avLst/>
          </a:prstGeom>
        </p:spPr>
      </p:pic>
      <p:sp>
        <p:nvSpPr>
          <p:cNvPr id="4" name="Text 1"/>
          <p:cNvSpPr/>
          <p:nvPr/>
        </p:nvSpPr>
        <p:spPr>
          <a:xfrm>
            <a:off x="960120" y="201168"/>
            <a:ext cx="5943600" cy="228600"/>
          </a:xfrm>
          <a:prstGeom prst="rect">
            <a:avLst/>
          </a:prstGeom>
          <a:noFill/>
          <a:ln/>
        </p:spPr>
        <p:txBody>
          <a:bodyPr wrap="square" lIns="0" tIns="0" rIns="0" bIns="0" rtlCol="0" anchor="ctr"/>
          <a:lstStyle/>
          <a:p>
            <a:pPr marL="0" indent="0">
              <a:buNone/>
            </a:pPr>
            <a:r>
              <a:rPr lang="en-US" sz="900" b="1" kern="0" spc="400" dirty="0">
                <a:solidFill>
                  <a:srgbClr val="FF4438"/>
                </a:solidFill>
                <a:latin typeface="Calibri" pitchFamily="34" charset="0"/>
                <a:ea typeface="Calibri" pitchFamily="34" charset="-122"/>
                <a:cs typeface="Calibri" pitchFamily="34" charset="-120"/>
              </a:rPr>
              <a:t>05  ·  AI APPLICATION LAYER</a:t>
            </a:r>
            <a:endParaRPr lang="en-US" sz="900" dirty="0"/>
          </a:p>
        </p:txBody>
      </p:sp>
      <p:sp>
        <p:nvSpPr>
          <p:cNvPr id="5" name="Text 2"/>
          <p:cNvSpPr/>
          <p:nvPr/>
        </p:nvSpPr>
        <p:spPr>
          <a:xfrm>
            <a:off x="960120" y="384048"/>
            <a:ext cx="7863840" cy="411480"/>
          </a:xfrm>
          <a:prstGeom prst="rect">
            <a:avLst/>
          </a:prstGeom>
          <a:noFill/>
          <a:ln/>
        </p:spPr>
        <p:txBody>
          <a:bodyPr wrap="square" lIns="0" tIns="0" rIns="0" bIns="0" rtlCol="0" anchor="ctr"/>
          <a:lstStyle/>
          <a:p>
            <a:pPr marL="0" indent="0">
              <a:buNone/>
            </a:pPr>
            <a:r>
              <a:rPr lang="en-US" sz="2200" b="1" dirty="0">
                <a:solidFill>
                  <a:srgbClr val="163341"/>
                </a:solidFill>
                <a:latin typeface="Calibri" pitchFamily="34" charset="0"/>
                <a:ea typeface="Calibri" pitchFamily="34" charset="-122"/>
                <a:cs typeface="Calibri" pitchFamily="34" charset="-120"/>
              </a:rPr>
              <a:t>RedisVL — Semantic Cache &amp; Agentic Memory</a:t>
            </a:r>
            <a:endParaRPr lang="en-US" sz="2200" dirty="0"/>
          </a:p>
        </p:txBody>
      </p:sp>
      <p:sp>
        <p:nvSpPr>
          <p:cNvPr id="6" name="Shape 3"/>
          <p:cNvSpPr/>
          <p:nvPr/>
        </p:nvSpPr>
        <p:spPr>
          <a:xfrm>
            <a:off x="320040" y="868680"/>
            <a:ext cx="8503920" cy="10973"/>
          </a:xfrm>
          <a:prstGeom prst="rect">
            <a:avLst/>
          </a:prstGeom>
          <a:solidFill>
            <a:srgbClr val="D9DDE3"/>
          </a:solidFill>
          <a:ln/>
        </p:spPr>
        <p:txBody>
          <a:bodyPr/>
          <a:lstStyle/>
          <a:p>
            <a:endParaRPr lang="en-IL"/>
          </a:p>
        </p:txBody>
      </p:sp>
      <p:sp>
        <p:nvSpPr>
          <p:cNvPr id="7" name="Shape 4"/>
          <p:cNvSpPr/>
          <p:nvPr/>
        </p:nvSpPr>
        <p:spPr>
          <a:xfrm>
            <a:off x="457200" y="1051560"/>
            <a:ext cx="2697480" cy="3383280"/>
          </a:xfrm>
          <a:prstGeom prst="rect">
            <a:avLst/>
          </a:prstGeom>
          <a:solidFill>
            <a:srgbClr val="FFFFFF"/>
          </a:solidFill>
          <a:ln w="9525">
            <a:solidFill>
              <a:srgbClr val="E5E8EE"/>
            </a:solidFill>
            <a:prstDash val="solid"/>
          </a:ln>
        </p:spPr>
        <p:txBody>
          <a:bodyPr/>
          <a:lstStyle/>
          <a:p>
            <a:endParaRPr lang="en-IL"/>
          </a:p>
        </p:txBody>
      </p:sp>
      <p:sp>
        <p:nvSpPr>
          <p:cNvPr id="8" name="Shape 5"/>
          <p:cNvSpPr/>
          <p:nvPr/>
        </p:nvSpPr>
        <p:spPr>
          <a:xfrm>
            <a:off x="457200" y="1051560"/>
            <a:ext cx="2697480" cy="457200"/>
          </a:xfrm>
          <a:prstGeom prst="rect">
            <a:avLst/>
          </a:prstGeom>
          <a:solidFill>
            <a:srgbClr val="FF4438"/>
          </a:solidFill>
          <a:ln/>
        </p:spPr>
        <p:txBody>
          <a:bodyPr/>
          <a:lstStyle/>
          <a:p>
            <a:endParaRPr lang="en-IL"/>
          </a:p>
        </p:txBody>
      </p:sp>
      <p:sp>
        <p:nvSpPr>
          <p:cNvPr id="9" name="Text 6"/>
          <p:cNvSpPr/>
          <p:nvPr/>
        </p:nvSpPr>
        <p:spPr>
          <a:xfrm>
            <a:off x="594360" y="1051560"/>
            <a:ext cx="2423160" cy="457200"/>
          </a:xfrm>
          <a:prstGeom prst="rect">
            <a:avLst/>
          </a:prstGeom>
          <a:noFill/>
          <a:ln/>
        </p:spPr>
        <p:txBody>
          <a:bodyPr wrap="square" lIns="0" tIns="0" rIns="0" bIns="0" rtlCol="0" anchor="ctr"/>
          <a:lstStyle/>
          <a:p>
            <a:pPr marL="0" indent="0">
              <a:buNone/>
            </a:pPr>
            <a:r>
              <a:rPr lang="en-US" sz="1400" b="1" kern="0" spc="100" dirty="0">
                <a:solidFill>
                  <a:srgbClr val="FFFFFF"/>
                </a:solidFill>
                <a:latin typeface="Calibri" pitchFamily="34" charset="0"/>
                <a:ea typeface="Calibri" pitchFamily="34" charset="-122"/>
                <a:cs typeface="Calibri" pitchFamily="34" charset="-120"/>
              </a:rPr>
              <a:t>RedisVL</a:t>
            </a:r>
            <a:endParaRPr lang="en-US" sz="1400" dirty="0"/>
          </a:p>
        </p:txBody>
      </p:sp>
      <p:sp>
        <p:nvSpPr>
          <p:cNvPr id="10" name="Text 7"/>
          <p:cNvSpPr/>
          <p:nvPr/>
        </p:nvSpPr>
        <p:spPr>
          <a:xfrm>
            <a:off x="621792" y="1600200"/>
            <a:ext cx="2368296" cy="457200"/>
          </a:xfrm>
          <a:prstGeom prst="rect">
            <a:avLst/>
          </a:prstGeom>
          <a:noFill/>
          <a:ln/>
        </p:spPr>
        <p:txBody>
          <a:bodyPr wrap="square" lIns="0" tIns="0" rIns="0" bIns="0" rtlCol="0" anchor="t"/>
          <a:lstStyle/>
          <a:p>
            <a:pPr marL="0" indent="0">
              <a:buNone/>
            </a:pPr>
            <a:r>
              <a:rPr lang="en-US" sz="1200" b="1" dirty="0">
                <a:solidFill>
                  <a:srgbClr val="163341"/>
                </a:solidFill>
                <a:latin typeface="Calibri" pitchFamily="34" charset="0"/>
                <a:ea typeface="Calibri" pitchFamily="34" charset="-122"/>
                <a:cs typeface="Calibri" pitchFamily="34" charset="-120"/>
              </a:rPr>
              <a:t>Production-grade Python client</a:t>
            </a:r>
            <a:endParaRPr lang="en-US" sz="1200" dirty="0"/>
          </a:p>
        </p:txBody>
      </p:sp>
      <p:sp>
        <p:nvSpPr>
          <p:cNvPr id="11" name="Text 8"/>
          <p:cNvSpPr/>
          <p:nvPr/>
        </p:nvSpPr>
        <p:spPr>
          <a:xfrm>
            <a:off x="640080" y="2148840"/>
            <a:ext cx="2368296" cy="219456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Maps document chunks + metadata to Redis Hash / JSON</a:t>
            </a:r>
            <a:endParaRPr lang="en-US" sz="1000" dirty="0"/>
          </a:p>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MultiVectorQuery and hybrid RRF in one call</a:t>
            </a:r>
            <a:endParaRPr lang="en-US" sz="1000" dirty="0"/>
          </a:p>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First-class integrations with OpenAI, HuggingFace, LangChain, LlamaIndex</a:t>
            </a:r>
            <a:endParaRPr lang="en-US" sz="1000" dirty="0"/>
          </a:p>
        </p:txBody>
      </p:sp>
      <p:sp>
        <p:nvSpPr>
          <p:cNvPr id="12" name="Shape 9"/>
          <p:cNvSpPr/>
          <p:nvPr/>
        </p:nvSpPr>
        <p:spPr>
          <a:xfrm>
            <a:off x="3337560" y="1051560"/>
            <a:ext cx="2697480" cy="3383280"/>
          </a:xfrm>
          <a:prstGeom prst="rect">
            <a:avLst/>
          </a:prstGeom>
          <a:solidFill>
            <a:srgbClr val="FFFFFF"/>
          </a:solidFill>
          <a:ln w="9525">
            <a:solidFill>
              <a:srgbClr val="E5E8EE"/>
            </a:solidFill>
            <a:prstDash val="solid"/>
          </a:ln>
        </p:spPr>
        <p:txBody>
          <a:bodyPr/>
          <a:lstStyle/>
          <a:p>
            <a:endParaRPr lang="en-IL"/>
          </a:p>
        </p:txBody>
      </p:sp>
      <p:sp>
        <p:nvSpPr>
          <p:cNvPr id="13" name="Shape 10"/>
          <p:cNvSpPr/>
          <p:nvPr/>
        </p:nvSpPr>
        <p:spPr>
          <a:xfrm>
            <a:off x="3337560" y="1051560"/>
            <a:ext cx="2697480" cy="457200"/>
          </a:xfrm>
          <a:prstGeom prst="rect">
            <a:avLst/>
          </a:prstGeom>
          <a:solidFill>
            <a:srgbClr val="163341"/>
          </a:solidFill>
          <a:ln/>
        </p:spPr>
        <p:txBody>
          <a:bodyPr/>
          <a:lstStyle/>
          <a:p>
            <a:endParaRPr lang="en-IL"/>
          </a:p>
        </p:txBody>
      </p:sp>
      <p:sp>
        <p:nvSpPr>
          <p:cNvPr id="14" name="Text 11"/>
          <p:cNvSpPr/>
          <p:nvPr/>
        </p:nvSpPr>
        <p:spPr>
          <a:xfrm>
            <a:off x="3474720" y="1051560"/>
            <a:ext cx="2423160" cy="457200"/>
          </a:xfrm>
          <a:prstGeom prst="rect">
            <a:avLst/>
          </a:prstGeom>
          <a:noFill/>
          <a:ln/>
        </p:spPr>
        <p:txBody>
          <a:bodyPr wrap="square" lIns="0" tIns="0" rIns="0" bIns="0" rtlCol="0" anchor="ctr"/>
          <a:lstStyle/>
          <a:p>
            <a:pPr marL="0" indent="0">
              <a:buNone/>
            </a:pPr>
            <a:r>
              <a:rPr lang="en-US" sz="1400" b="1" kern="0" spc="100" dirty="0">
                <a:solidFill>
                  <a:srgbClr val="FFFFFF"/>
                </a:solidFill>
                <a:latin typeface="Calibri" pitchFamily="34" charset="0"/>
                <a:ea typeface="Calibri" pitchFamily="34" charset="-122"/>
                <a:cs typeface="Calibri" pitchFamily="34" charset="-120"/>
              </a:rPr>
              <a:t>Semantic Cache</a:t>
            </a:r>
            <a:endParaRPr lang="en-US" sz="1400" dirty="0"/>
          </a:p>
        </p:txBody>
      </p:sp>
      <p:sp>
        <p:nvSpPr>
          <p:cNvPr id="15" name="Text 12"/>
          <p:cNvSpPr/>
          <p:nvPr/>
        </p:nvSpPr>
        <p:spPr>
          <a:xfrm>
            <a:off x="3502152" y="1600200"/>
            <a:ext cx="2368296" cy="457200"/>
          </a:xfrm>
          <a:prstGeom prst="rect">
            <a:avLst/>
          </a:prstGeom>
          <a:noFill/>
          <a:ln/>
        </p:spPr>
        <p:txBody>
          <a:bodyPr wrap="square" lIns="0" tIns="0" rIns="0" bIns="0" rtlCol="0" anchor="t"/>
          <a:lstStyle/>
          <a:p>
            <a:pPr marL="0" indent="0">
              <a:buNone/>
            </a:pPr>
            <a:r>
              <a:rPr lang="en-US" sz="1200" b="1" dirty="0">
                <a:solidFill>
                  <a:srgbClr val="163341"/>
                </a:solidFill>
                <a:latin typeface="Calibri" pitchFamily="34" charset="0"/>
                <a:ea typeface="Calibri" pitchFamily="34" charset="-122"/>
                <a:cs typeface="Calibri" pitchFamily="34" charset="-120"/>
              </a:rPr>
              <a:t>Cache by meaning, not text</a:t>
            </a:r>
            <a:endParaRPr lang="en-US" sz="1200" dirty="0"/>
          </a:p>
        </p:txBody>
      </p:sp>
      <p:sp>
        <p:nvSpPr>
          <p:cNvPr id="16" name="Text 13"/>
          <p:cNvSpPr/>
          <p:nvPr/>
        </p:nvSpPr>
        <p:spPr>
          <a:xfrm>
            <a:off x="3520440" y="2148840"/>
            <a:ext cx="2368296" cy="219456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Vectorize incoming prompt → ANN search vs. cached prompts</a:t>
            </a:r>
            <a:endParaRPr lang="en-US" sz="1000" dirty="0"/>
          </a:p>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If distance &lt; threshold, serve cached LLM response instantly</a:t>
            </a:r>
            <a:endParaRPr lang="en-US" sz="1000" dirty="0"/>
          </a:p>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Up to 70% cut in repeated LLM API spend; sub-ms response</a:t>
            </a:r>
            <a:endParaRPr lang="en-US" sz="1000" dirty="0"/>
          </a:p>
        </p:txBody>
      </p:sp>
      <p:sp>
        <p:nvSpPr>
          <p:cNvPr id="17" name="Shape 14"/>
          <p:cNvSpPr/>
          <p:nvPr/>
        </p:nvSpPr>
        <p:spPr>
          <a:xfrm>
            <a:off x="6217920" y="1051560"/>
            <a:ext cx="2697480" cy="3383280"/>
          </a:xfrm>
          <a:prstGeom prst="rect">
            <a:avLst/>
          </a:prstGeom>
          <a:solidFill>
            <a:srgbClr val="FFFFFF"/>
          </a:solidFill>
          <a:ln w="9525">
            <a:solidFill>
              <a:srgbClr val="E5E8EE"/>
            </a:solidFill>
            <a:prstDash val="solid"/>
          </a:ln>
        </p:spPr>
        <p:txBody>
          <a:bodyPr/>
          <a:lstStyle/>
          <a:p>
            <a:endParaRPr lang="en-IL"/>
          </a:p>
        </p:txBody>
      </p:sp>
      <p:sp>
        <p:nvSpPr>
          <p:cNvPr id="18" name="Shape 15"/>
          <p:cNvSpPr/>
          <p:nvPr/>
        </p:nvSpPr>
        <p:spPr>
          <a:xfrm>
            <a:off x="6217920" y="1051560"/>
            <a:ext cx="2697480" cy="457200"/>
          </a:xfrm>
          <a:prstGeom prst="rect">
            <a:avLst/>
          </a:prstGeom>
          <a:solidFill>
            <a:srgbClr val="FF4438"/>
          </a:solidFill>
          <a:ln/>
        </p:spPr>
        <p:txBody>
          <a:bodyPr/>
          <a:lstStyle/>
          <a:p>
            <a:endParaRPr lang="en-IL"/>
          </a:p>
        </p:txBody>
      </p:sp>
      <p:sp>
        <p:nvSpPr>
          <p:cNvPr id="19" name="Text 16"/>
          <p:cNvSpPr/>
          <p:nvPr/>
        </p:nvSpPr>
        <p:spPr>
          <a:xfrm>
            <a:off x="6355080" y="1051560"/>
            <a:ext cx="2423160" cy="457200"/>
          </a:xfrm>
          <a:prstGeom prst="rect">
            <a:avLst/>
          </a:prstGeom>
          <a:noFill/>
          <a:ln/>
        </p:spPr>
        <p:txBody>
          <a:bodyPr wrap="square" lIns="0" tIns="0" rIns="0" bIns="0" rtlCol="0" anchor="ctr"/>
          <a:lstStyle/>
          <a:p>
            <a:pPr marL="0" indent="0">
              <a:buNone/>
            </a:pPr>
            <a:r>
              <a:rPr lang="en-US" sz="1400" b="1" kern="0" spc="100" dirty="0">
                <a:solidFill>
                  <a:srgbClr val="FFFFFF"/>
                </a:solidFill>
                <a:latin typeface="Calibri" pitchFamily="34" charset="0"/>
                <a:ea typeface="Calibri" pitchFamily="34" charset="-122"/>
                <a:cs typeface="Calibri" pitchFamily="34" charset="-120"/>
              </a:rPr>
              <a:t>Agentic Memory</a:t>
            </a:r>
            <a:endParaRPr lang="en-US" sz="1400" dirty="0"/>
          </a:p>
        </p:txBody>
      </p:sp>
      <p:sp>
        <p:nvSpPr>
          <p:cNvPr id="20" name="Text 17"/>
          <p:cNvSpPr/>
          <p:nvPr/>
        </p:nvSpPr>
        <p:spPr>
          <a:xfrm>
            <a:off x="6382512" y="1600200"/>
            <a:ext cx="2368296" cy="457200"/>
          </a:xfrm>
          <a:prstGeom prst="rect">
            <a:avLst/>
          </a:prstGeom>
          <a:noFill/>
          <a:ln/>
        </p:spPr>
        <p:txBody>
          <a:bodyPr wrap="square" lIns="0" tIns="0" rIns="0" bIns="0" rtlCol="0" anchor="t"/>
          <a:lstStyle/>
          <a:p>
            <a:pPr marL="0" indent="0">
              <a:buNone/>
            </a:pPr>
            <a:r>
              <a:rPr lang="en-US" sz="1200" b="1" dirty="0">
                <a:solidFill>
                  <a:srgbClr val="163341"/>
                </a:solidFill>
                <a:latin typeface="Calibri" pitchFamily="34" charset="0"/>
                <a:ea typeface="Calibri" pitchFamily="34" charset="-122"/>
                <a:cs typeface="Calibri" pitchFamily="34" charset="-120"/>
              </a:rPr>
              <a:t>Short- and long-term memory in one engine</a:t>
            </a:r>
            <a:endParaRPr lang="en-US" sz="1200" dirty="0"/>
          </a:p>
        </p:txBody>
      </p:sp>
      <p:sp>
        <p:nvSpPr>
          <p:cNvPr id="21" name="Text 18"/>
          <p:cNvSpPr/>
          <p:nvPr/>
        </p:nvSpPr>
        <p:spPr>
          <a:xfrm>
            <a:off x="6400800" y="2148840"/>
            <a:ext cx="2368296" cy="219456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Lists / Streams = short-term working memory (current session)</a:t>
            </a:r>
            <a:endParaRPr lang="en-US" sz="1000" dirty="0"/>
          </a:p>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Vector index = long-term semantic recall</a:t>
            </a:r>
            <a:endParaRPr lang="en-US" sz="1000" dirty="0"/>
          </a:p>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TTL-based decay → agents forget stale context automatically</a:t>
            </a:r>
            <a:endParaRPr lang="en-US" sz="1000" dirty="0"/>
          </a:p>
        </p:txBody>
      </p:sp>
      <p:sp>
        <p:nvSpPr>
          <p:cNvPr id="22" name="Shape 19"/>
          <p:cNvSpPr/>
          <p:nvPr/>
        </p:nvSpPr>
        <p:spPr>
          <a:xfrm>
            <a:off x="457200" y="4572000"/>
            <a:ext cx="8275320" cy="274320"/>
          </a:xfrm>
          <a:prstGeom prst="rect">
            <a:avLst/>
          </a:prstGeom>
          <a:solidFill>
            <a:srgbClr val="163341"/>
          </a:solidFill>
          <a:ln/>
        </p:spPr>
        <p:txBody>
          <a:bodyPr/>
          <a:lstStyle/>
          <a:p>
            <a:endParaRPr lang="en-IL"/>
          </a:p>
        </p:txBody>
      </p:sp>
      <p:sp>
        <p:nvSpPr>
          <p:cNvPr id="23" name="Text 20"/>
          <p:cNvSpPr/>
          <p:nvPr/>
        </p:nvSpPr>
        <p:spPr>
          <a:xfrm>
            <a:off x="548640" y="4572000"/>
            <a:ext cx="8183880" cy="274320"/>
          </a:xfrm>
          <a:prstGeom prst="rect">
            <a:avLst/>
          </a:prstGeom>
          <a:noFill/>
          <a:ln/>
        </p:spPr>
        <p:txBody>
          <a:bodyPr wrap="square" lIns="0" tIns="0" rIns="0" bIns="0" rtlCol="0" anchor="ctr"/>
          <a:lstStyle/>
          <a:p>
            <a:pPr marL="0" indent="0">
              <a:buNone/>
            </a:pPr>
            <a:r>
              <a:rPr lang="en-US" sz="950" i="1" dirty="0">
                <a:solidFill>
                  <a:srgbClr val="DCFF1E"/>
                </a:solidFill>
                <a:latin typeface="Calibri" pitchFamily="34" charset="0"/>
                <a:ea typeface="Calibri" pitchFamily="34" charset="-122"/>
                <a:cs typeface="Calibri" pitchFamily="34" charset="-120"/>
              </a:rPr>
              <a:t>In production with high query redundancy, semantic caching savings often offset the entire Redis cluster cost.</a:t>
            </a:r>
            <a:endParaRPr lang="en-US" sz="950" dirty="0"/>
          </a:p>
        </p:txBody>
      </p:sp>
      <p:sp>
        <p:nvSpPr>
          <p:cNvPr id="24" name="Shape 21"/>
          <p:cNvSpPr/>
          <p:nvPr/>
        </p:nvSpPr>
        <p:spPr>
          <a:xfrm>
            <a:off x="320040" y="4864608"/>
            <a:ext cx="8503920" cy="10973"/>
          </a:xfrm>
          <a:prstGeom prst="rect">
            <a:avLst/>
          </a:prstGeom>
          <a:solidFill>
            <a:srgbClr val="D9DDE3"/>
          </a:solidFill>
          <a:ln/>
        </p:spPr>
        <p:txBody>
          <a:bodyPr/>
          <a:lstStyle/>
          <a:p>
            <a:endParaRPr lang="en-IL"/>
          </a:p>
        </p:txBody>
      </p:sp>
      <p:sp>
        <p:nvSpPr>
          <p:cNvPr id="25" name="Text 22"/>
          <p:cNvSpPr/>
          <p:nvPr/>
        </p:nvSpPr>
        <p:spPr>
          <a:xfrm>
            <a:off x="320040" y="4919472"/>
            <a:ext cx="6400800" cy="201168"/>
          </a:xfrm>
          <a:prstGeom prst="rect">
            <a:avLst/>
          </a:prstGeom>
          <a:noFill/>
          <a:ln/>
        </p:spPr>
        <p:txBody>
          <a:bodyPr wrap="square" lIns="0" tIns="0" rIns="0" bIns="0" rtlCol="0" anchor="ctr"/>
          <a:lstStyle/>
          <a:p>
            <a:pPr marL="0" indent="0">
              <a:buNone/>
            </a:pPr>
            <a:r>
              <a:rPr lang="en-US" sz="850" dirty="0">
                <a:solidFill>
                  <a:srgbClr val="8A95A4"/>
                </a:solidFill>
                <a:latin typeface="Calibri" pitchFamily="34" charset="0"/>
                <a:ea typeface="Calibri" pitchFamily="34" charset="-122"/>
                <a:cs typeface="Calibri" pitchFamily="34" charset="-120"/>
              </a:rPr>
              <a:t>Redis as a Vector Database  ·  Architecting for Real-Time AI</a:t>
            </a:r>
            <a:endParaRPr lang="en-US" sz="850" dirty="0"/>
          </a:p>
        </p:txBody>
      </p:sp>
      <p:sp>
        <p:nvSpPr>
          <p:cNvPr id="26" name="Text 23"/>
          <p:cNvSpPr/>
          <p:nvPr/>
        </p:nvSpPr>
        <p:spPr>
          <a:xfrm>
            <a:off x="7955280" y="4919472"/>
            <a:ext cx="914400" cy="201168"/>
          </a:xfrm>
          <a:prstGeom prst="rect">
            <a:avLst/>
          </a:prstGeom>
          <a:noFill/>
          <a:ln/>
        </p:spPr>
        <p:txBody>
          <a:bodyPr wrap="square" lIns="0" tIns="0" rIns="0" bIns="0" rtlCol="0" anchor="ctr"/>
          <a:lstStyle/>
          <a:p>
            <a:pPr marL="0" indent="0" algn="r">
              <a:buNone/>
            </a:pPr>
            <a:r>
              <a:rPr lang="en-US" sz="850" dirty="0">
                <a:solidFill>
                  <a:srgbClr val="8A95A4"/>
                </a:solidFill>
                <a:latin typeface="Calibri" pitchFamily="34" charset="0"/>
                <a:ea typeface="Calibri" pitchFamily="34" charset="-122"/>
                <a:cs typeface="Calibri" pitchFamily="34" charset="-120"/>
              </a:rPr>
              <a:t>6 / 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FF4438"/>
          </a:solidFill>
          <a:ln/>
        </p:spPr>
        <p:txBody>
          <a:bodyPr/>
          <a:lstStyle/>
          <a:p>
            <a:endParaRPr lang="en-IL"/>
          </a:p>
        </p:txBody>
      </p:sp>
      <p:pic>
        <p:nvPicPr>
          <p:cNvPr id="3" name="Image 0" descr="/sessions/eloquent-friendly-cori/mnt/outputs/assets/redis_cube.png"/>
          <p:cNvPicPr>
            <a:picLocks noChangeAspect="1"/>
          </p:cNvPicPr>
          <p:nvPr/>
        </p:nvPicPr>
        <p:blipFill>
          <a:blip r:embed="rId3"/>
          <a:stretch>
            <a:fillRect/>
          </a:stretch>
        </p:blipFill>
        <p:spPr>
          <a:xfrm>
            <a:off x="320040" y="201168"/>
            <a:ext cx="502920" cy="475488"/>
          </a:xfrm>
          <a:prstGeom prst="rect">
            <a:avLst/>
          </a:prstGeom>
        </p:spPr>
      </p:pic>
      <p:sp>
        <p:nvSpPr>
          <p:cNvPr id="4" name="Text 1"/>
          <p:cNvSpPr/>
          <p:nvPr/>
        </p:nvSpPr>
        <p:spPr>
          <a:xfrm>
            <a:off x="960120" y="201168"/>
            <a:ext cx="5943600" cy="228600"/>
          </a:xfrm>
          <a:prstGeom prst="rect">
            <a:avLst/>
          </a:prstGeom>
          <a:noFill/>
          <a:ln/>
        </p:spPr>
        <p:txBody>
          <a:bodyPr wrap="square" lIns="0" tIns="0" rIns="0" bIns="0" rtlCol="0" anchor="ctr"/>
          <a:lstStyle/>
          <a:p>
            <a:pPr marL="0" indent="0">
              <a:buNone/>
            </a:pPr>
            <a:r>
              <a:rPr lang="en-US" sz="900" b="1" kern="0" spc="400" dirty="0">
                <a:solidFill>
                  <a:srgbClr val="FF4438"/>
                </a:solidFill>
                <a:latin typeface="Calibri" pitchFamily="34" charset="0"/>
                <a:ea typeface="Calibri" pitchFamily="34" charset="-122"/>
                <a:cs typeface="Calibri" pitchFamily="34" charset="-120"/>
              </a:rPr>
              <a:t>06  ·  ENTERPRISE ECONOMICS</a:t>
            </a:r>
            <a:endParaRPr lang="en-US" sz="900" dirty="0"/>
          </a:p>
        </p:txBody>
      </p:sp>
      <p:sp>
        <p:nvSpPr>
          <p:cNvPr id="5" name="Text 2"/>
          <p:cNvSpPr/>
          <p:nvPr/>
        </p:nvSpPr>
        <p:spPr>
          <a:xfrm>
            <a:off x="960120" y="384048"/>
            <a:ext cx="7863840" cy="411480"/>
          </a:xfrm>
          <a:prstGeom prst="rect">
            <a:avLst/>
          </a:prstGeom>
          <a:noFill/>
          <a:ln/>
        </p:spPr>
        <p:txBody>
          <a:bodyPr wrap="square" lIns="0" tIns="0" rIns="0" bIns="0" rtlCol="0" anchor="ctr"/>
          <a:lstStyle/>
          <a:p>
            <a:pPr marL="0" indent="0">
              <a:buNone/>
            </a:pPr>
            <a:r>
              <a:rPr lang="en-US" sz="2200" b="1" dirty="0">
                <a:solidFill>
                  <a:srgbClr val="163341"/>
                </a:solidFill>
                <a:latin typeface="Calibri" pitchFamily="34" charset="0"/>
                <a:ea typeface="Calibri" pitchFamily="34" charset="-122"/>
                <a:cs typeface="Calibri" pitchFamily="34" charset="-120"/>
              </a:rPr>
              <a:t>Scalability, TCO and Competitive Positioning</a:t>
            </a:r>
            <a:endParaRPr lang="en-US" sz="2200" dirty="0"/>
          </a:p>
        </p:txBody>
      </p:sp>
      <p:sp>
        <p:nvSpPr>
          <p:cNvPr id="6" name="Shape 3"/>
          <p:cNvSpPr/>
          <p:nvPr/>
        </p:nvSpPr>
        <p:spPr>
          <a:xfrm>
            <a:off x="320040" y="868680"/>
            <a:ext cx="8503920" cy="10973"/>
          </a:xfrm>
          <a:prstGeom prst="rect">
            <a:avLst/>
          </a:prstGeom>
          <a:solidFill>
            <a:srgbClr val="D9DDE3"/>
          </a:solidFill>
          <a:ln/>
        </p:spPr>
        <p:txBody>
          <a:bodyPr/>
          <a:lstStyle/>
          <a:p>
            <a:endParaRPr lang="en-IL"/>
          </a:p>
        </p:txBody>
      </p:sp>
      <p:sp>
        <p:nvSpPr>
          <p:cNvPr id="7" name="Shape 4"/>
          <p:cNvSpPr/>
          <p:nvPr/>
        </p:nvSpPr>
        <p:spPr>
          <a:xfrm>
            <a:off x="457200" y="1051560"/>
            <a:ext cx="4114800" cy="2377440"/>
          </a:xfrm>
          <a:prstGeom prst="rect">
            <a:avLst/>
          </a:prstGeom>
          <a:solidFill>
            <a:srgbClr val="FFFFFF"/>
          </a:solidFill>
          <a:ln w="9525">
            <a:solidFill>
              <a:srgbClr val="E5E8EE"/>
            </a:solidFill>
            <a:prstDash val="solid"/>
          </a:ln>
        </p:spPr>
        <p:txBody>
          <a:bodyPr/>
          <a:lstStyle/>
          <a:p>
            <a:endParaRPr lang="en-IL"/>
          </a:p>
        </p:txBody>
      </p:sp>
      <p:sp>
        <p:nvSpPr>
          <p:cNvPr id="8" name="Shape 5"/>
          <p:cNvSpPr/>
          <p:nvPr/>
        </p:nvSpPr>
        <p:spPr>
          <a:xfrm>
            <a:off x="457200" y="1051560"/>
            <a:ext cx="54864" cy="2377440"/>
          </a:xfrm>
          <a:prstGeom prst="rect">
            <a:avLst/>
          </a:prstGeom>
          <a:solidFill>
            <a:srgbClr val="FF4438"/>
          </a:solidFill>
          <a:ln/>
        </p:spPr>
        <p:txBody>
          <a:bodyPr/>
          <a:lstStyle/>
          <a:p>
            <a:endParaRPr lang="en-IL"/>
          </a:p>
        </p:txBody>
      </p:sp>
      <p:sp>
        <p:nvSpPr>
          <p:cNvPr id="9" name="Text 6"/>
          <p:cNvSpPr/>
          <p:nvPr/>
        </p:nvSpPr>
        <p:spPr>
          <a:xfrm>
            <a:off x="621792" y="1124712"/>
            <a:ext cx="3931920" cy="292608"/>
          </a:xfrm>
          <a:prstGeom prst="rect">
            <a:avLst/>
          </a:prstGeom>
          <a:noFill/>
          <a:ln/>
        </p:spPr>
        <p:txBody>
          <a:bodyPr wrap="square" lIns="0" tIns="0" rIns="0" bIns="0" rtlCol="0" anchor="ctr"/>
          <a:lstStyle/>
          <a:p>
            <a:pPr marL="0" indent="0">
              <a:buNone/>
            </a:pPr>
            <a:r>
              <a:rPr lang="en-US" sz="1300" b="1" dirty="0">
                <a:solidFill>
                  <a:srgbClr val="163341"/>
                </a:solidFill>
                <a:latin typeface="Calibri" pitchFamily="34" charset="0"/>
                <a:ea typeface="Calibri" pitchFamily="34" charset="-122"/>
                <a:cs typeface="Calibri" pitchFamily="34" charset="-120"/>
              </a:rPr>
              <a:t>Redis Flex  —  RAM + NVMe data tiering</a:t>
            </a:r>
            <a:endParaRPr lang="en-US" sz="1300" dirty="0"/>
          </a:p>
        </p:txBody>
      </p:sp>
      <p:sp>
        <p:nvSpPr>
          <p:cNvPr id="10" name="Text 7"/>
          <p:cNvSpPr/>
          <p:nvPr/>
        </p:nvSpPr>
        <p:spPr>
          <a:xfrm>
            <a:off x="621792" y="1554480"/>
            <a:ext cx="1371600" cy="502920"/>
          </a:xfrm>
          <a:prstGeom prst="rect">
            <a:avLst/>
          </a:prstGeom>
          <a:noFill/>
          <a:ln/>
        </p:spPr>
        <p:txBody>
          <a:bodyPr wrap="square" lIns="0" tIns="0" rIns="0" bIns="0" rtlCol="0" anchor="ctr"/>
          <a:lstStyle/>
          <a:p>
            <a:pPr marL="0" indent="0">
              <a:buNone/>
            </a:pPr>
            <a:r>
              <a:rPr lang="en-US" sz="1000" b="1" dirty="0">
                <a:solidFill>
                  <a:srgbClr val="163341"/>
                </a:solidFill>
                <a:latin typeface="Calibri" pitchFamily="34" charset="0"/>
                <a:ea typeface="Calibri" pitchFamily="34" charset="-122"/>
                <a:cs typeface="Calibri" pitchFamily="34" charset="-120"/>
              </a:rPr>
              <a:t>Hot keys (RAM)</a:t>
            </a:r>
            <a:endParaRPr lang="en-US" sz="1000" dirty="0"/>
          </a:p>
        </p:txBody>
      </p:sp>
      <p:sp>
        <p:nvSpPr>
          <p:cNvPr id="11" name="Shape 8"/>
          <p:cNvSpPr/>
          <p:nvPr/>
        </p:nvSpPr>
        <p:spPr>
          <a:xfrm>
            <a:off x="2057400" y="1719072"/>
            <a:ext cx="2377440" cy="182880"/>
          </a:xfrm>
          <a:prstGeom prst="rect">
            <a:avLst/>
          </a:prstGeom>
          <a:solidFill>
            <a:srgbClr val="EEF1F5"/>
          </a:solidFill>
          <a:ln/>
        </p:spPr>
        <p:txBody>
          <a:bodyPr/>
          <a:lstStyle/>
          <a:p>
            <a:endParaRPr lang="en-IL"/>
          </a:p>
        </p:txBody>
      </p:sp>
      <p:sp>
        <p:nvSpPr>
          <p:cNvPr id="12" name="Shape 9"/>
          <p:cNvSpPr/>
          <p:nvPr/>
        </p:nvSpPr>
        <p:spPr>
          <a:xfrm>
            <a:off x="2057400" y="1719072"/>
            <a:ext cx="2258568" cy="182880"/>
          </a:xfrm>
          <a:prstGeom prst="rect">
            <a:avLst/>
          </a:prstGeom>
          <a:solidFill>
            <a:srgbClr val="FF4438"/>
          </a:solidFill>
          <a:ln/>
        </p:spPr>
        <p:txBody>
          <a:bodyPr/>
          <a:lstStyle/>
          <a:p>
            <a:endParaRPr lang="en-IL"/>
          </a:p>
        </p:txBody>
      </p:sp>
      <p:sp>
        <p:nvSpPr>
          <p:cNvPr id="13" name="Text 10"/>
          <p:cNvSpPr/>
          <p:nvPr/>
        </p:nvSpPr>
        <p:spPr>
          <a:xfrm>
            <a:off x="2057400" y="1883664"/>
            <a:ext cx="2377440" cy="164592"/>
          </a:xfrm>
          <a:prstGeom prst="rect">
            <a:avLst/>
          </a:prstGeom>
          <a:noFill/>
          <a:ln/>
        </p:spPr>
        <p:txBody>
          <a:bodyPr wrap="square" lIns="0" tIns="0" rIns="0" bIns="0" rtlCol="0" anchor="ctr"/>
          <a:lstStyle/>
          <a:p>
            <a:pPr marL="0" indent="0">
              <a:buNone/>
            </a:pPr>
            <a:r>
              <a:rPr lang="en-US" sz="800" i="1" dirty="0">
                <a:solidFill>
                  <a:srgbClr val="5A6678"/>
                </a:solidFill>
                <a:latin typeface="Calibri" pitchFamily="34" charset="0"/>
                <a:ea typeface="Calibri" pitchFamily="34" charset="-122"/>
                <a:cs typeface="Calibri" pitchFamily="34" charset="-120"/>
              </a:rPr>
              <a:t>queried vectors, indices</a:t>
            </a:r>
            <a:endParaRPr lang="en-US" sz="800" dirty="0"/>
          </a:p>
        </p:txBody>
      </p:sp>
      <p:sp>
        <p:nvSpPr>
          <p:cNvPr id="14" name="Text 11"/>
          <p:cNvSpPr/>
          <p:nvPr/>
        </p:nvSpPr>
        <p:spPr>
          <a:xfrm>
            <a:off x="621792" y="2103120"/>
            <a:ext cx="1371600" cy="502920"/>
          </a:xfrm>
          <a:prstGeom prst="rect">
            <a:avLst/>
          </a:prstGeom>
          <a:noFill/>
          <a:ln/>
        </p:spPr>
        <p:txBody>
          <a:bodyPr wrap="square" lIns="0" tIns="0" rIns="0" bIns="0" rtlCol="0" anchor="ctr"/>
          <a:lstStyle/>
          <a:p>
            <a:pPr marL="0" indent="0">
              <a:buNone/>
            </a:pPr>
            <a:r>
              <a:rPr lang="en-US" sz="1000" b="1" dirty="0">
                <a:solidFill>
                  <a:srgbClr val="163341"/>
                </a:solidFill>
                <a:latin typeface="Calibri" pitchFamily="34" charset="0"/>
                <a:ea typeface="Calibri" pitchFamily="34" charset="-122"/>
                <a:cs typeface="Calibri" pitchFamily="34" charset="-120"/>
              </a:rPr>
              <a:t>Warm (RAM/NVMe)</a:t>
            </a:r>
            <a:endParaRPr lang="en-US" sz="1000" dirty="0"/>
          </a:p>
        </p:txBody>
      </p:sp>
      <p:sp>
        <p:nvSpPr>
          <p:cNvPr id="15" name="Shape 12"/>
          <p:cNvSpPr/>
          <p:nvPr/>
        </p:nvSpPr>
        <p:spPr>
          <a:xfrm>
            <a:off x="2057400" y="2267712"/>
            <a:ext cx="2377440" cy="182880"/>
          </a:xfrm>
          <a:prstGeom prst="rect">
            <a:avLst/>
          </a:prstGeom>
          <a:solidFill>
            <a:srgbClr val="EEF1F5"/>
          </a:solidFill>
          <a:ln/>
        </p:spPr>
        <p:txBody>
          <a:bodyPr/>
          <a:lstStyle/>
          <a:p>
            <a:endParaRPr lang="en-IL"/>
          </a:p>
        </p:txBody>
      </p:sp>
      <p:sp>
        <p:nvSpPr>
          <p:cNvPr id="16" name="Shape 13"/>
          <p:cNvSpPr/>
          <p:nvPr/>
        </p:nvSpPr>
        <p:spPr>
          <a:xfrm>
            <a:off x="2057400" y="2267712"/>
            <a:ext cx="1307592" cy="182880"/>
          </a:xfrm>
          <a:prstGeom prst="rect">
            <a:avLst/>
          </a:prstGeom>
          <a:solidFill>
            <a:srgbClr val="F59169"/>
          </a:solidFill>
          <a:ln/>
        </p:spPr>
        <p:txBody>
          <a:bodyPr/>
          <a:lstStyle/>
          <a:p>
            <a:endParaRPr lang="en-IL"/>
          </a:p>
        </p:txBody>
      </p:sp>
      <p:sp>
        <p:nvSpPr>
          <p:cNvPr id="17" name="Text 14"/>
          <p:cNvSpPr/>
          <p:nvPr/>
        </p:nvSpPr>
        <p:spPr>
          <a:xfrm>
            <a:off x="2057400" y="2432304"/>
            <a:ext cx="2377440" cy="164592"/>
          </a:xfrm>
          <a:prstGeom prst="rect">
            <a:avLst/>
          </a:prstGeom>
          <a:noFill/>
          <a:ln/>
        </p:spPr>
        <p:txBody>
          <a:bodyPr wrap="square" lIns="0" tIns="0" rIns="0" bIns="0" rtlCol="0" anchor="ctr"/>
          <a:lstStyle/>
          <a:p>
            <a:pPr marL="0" indent="0">
              <a:buNone/>
            </a:pPr>
            <a:r>
              <a:rPr lang="en-US" sz="800" i="1" dirty="0">
                <a:solidFill>
                  <a:srgbClr val="5A6678"/>
                </a:solidFill>
                <a:latin typeface="Calibri" pitchFamily="34" charset="0"/>
                <a:ea typeface="Calibri" pitchFamily="34" charset="-122"/>
                <a:cs typeface="Calibri" pitchFamily="34" charset="-120"/>
              </a:rPr>
              <a:t>recent sessions</a:t>
            </a:r>
            <a:endParaRPr lang="en-US" sz="800" dirty="0"/>
          </a:p>
        </p:txBody>
      </p:sp>
      <p:sp>
        <p:nvSpPr>
          <p:cNvPr id="18" name="Text 15"/>
          <p:cNvSpPr/>
          <p:nvPr/>
        </p:nvSpPr>
        <p:spPr>
          <a:xfrm>
            <a:off x="621792" y="2651760"/>
            <a:ext cx="1371600" cy="502920"/>
          </a:xfrm>
          <a:prstGeom prst="rect">
            <a:avLst/>
          </a:prstGeom>
          <a:noFill/>
          <a:ln/>
        </p:spPr>
        <p:txBody>
          <a:bodyPr wrap="square" lIns="0" tIns="0" rIns="0" bIns="0" rtlCol="0" anchor="ctr"/>
          <a:lstStyle/>
          <a:p>
            <a:pPr marL="0" indent="0">
              <a:buNone/>
            </a:pPr>
            <a:r>
              <a:rPr lang="en-US" sz="1000" b="1" dirty="0">
                <a:solidFill>
                  <a:srgbClr val="163341"/>
                </a:solidFill>
                <a:latin typeface="Calibri" pitchFamily="34" charset="0"/>
                <a:ea typeface="Calibri" pitchFamily="34" charset="-122"/>
                <a:cs typeface="Calibri" pitchFamily="34" charset="-120"/>
              </a:rPr>
              <a:t>Cold (NVMe SSD)</a:t>
            </a:r>
            <a:endParaRPr lang="en-US" sz="1000" dirty="0"/>
          </a:p>
        </p:txBody>
      </p:sp>
      <p:sp>
        <p:nvSpPr>
          <p:cNvPr id="19" name="Shape 16"/>
          <p:cNvSpPr/>
          <p:nvPr/>
        </p:nvSpPr>
        <p:spPr>
          <a:xfrm>
            <a:off x="2057400" y="2816352"/>
            <a:ext cx="2377440" cy="182880"/>
          </a:xfrm>
          <a:prstGeom prst="rect">
            <a:avLst/>
          </a:prstGeom>
          <a:solidFill>
            <a:srgbClr val="EEF1F5"/>
          </a:solidFill>
          <a:ln/>
        </p:spPr>
        <p:txBody>
          <a:bodyPr/>
          <a:lstStyle/>
          <a:p>
            <a:endParaRPr lang="en-IL"/>
          </a:p>
        </p:txBody>
      </p:sp>
      <p:sp>
        <p:nvSpPr>
          <p:cNvPr id="20" name="Shape 17"/>
          <p:cNvSpPr/>
          <p:nvPr/>
        </p:nvSpPr>
        <p:spPr>
          <a:xfrm>
            <a:off x="2057400" y="2816352"/>
            <a:ext cx="594360" cy="182880"/>
          </a:xfrm>
          <a:prstGeom prst="rect">
            <a:avLst/>
          </a:prstGeom>
          <a:solidFill>
            <a:srgbClr val="163341"/>
          </a:solidFill>
          <a:ln/>
        </p:spPr>
        <p:txBody>
          <a:bodyPr/>
          <a:lstStyle/>
          <a:p>
            <a:endParaRPr lang="en-IL"/>
          </a:p>
        </p:txBody>
      </p:sp>
      <p:sp>
        <p:nvSpPr>
          <p:cNvPr id="21" name="Text 18"/>
          <p:cNvSpPr/>
          <p:nvPr/>
        </p:nvSpPr>
        <p:spPr>
          <a:xfrm>
            <a:off x="2057400" y="2980944"/>
            <a:ext cx="2377440" cy="164592"/>
          </a:xfrm>
          <a:prstGeom prst="rect">
            <a:avLst/>
          </a:prstGeom>
          <a:noFill/>
          <a:ln/>
        </p:spPr>
        <p:txBody>
          <a:bodyPr wrap="square" lIns="0" tIns="0" rIns="0" bIns="0" rtlCol="0" anchor="ctr"/>
          <a:lstStyle/>
          <a:p>
            <a:pPr marL="0" indent="0">
              <a:buNone/>
            </a:pPr>
            <a:r>
              <a:rPr lang="en-US" sz="800" i="1" dirty="0">
                <a:solidFill>
                  <a:srgbClr val="5A6678"/>
                </a:solidFill>
                <a:latin typeface="Calibri" pitchFamily="34" charset="0"/>
                <a:ea typeface="Calibri" pitchFamily="34" charset="-122"/>
                <a:cs typeface="Calibri" pitchFamily="34" charset="-120"/>
              </a:rPr>
              <a:t>archived embeddings</a:t>
            </a:r>
            <a:endParaRPr lang="en-US" sz="800" dirty="0"/>
          </a:p>
        </p:txBody>
      </p:sp>
      <p:sp>
        <p:nvSpPr>
          <p:cNvPr id="22" name="Text 19"/>
          <p:cNvSpPr/>
          <p:nvPr/>
        </p:nvSpPr>
        <p:spPr>
          <a:xfrm>
            <a:off x="621792" y="3154680"/>
            <a:ext cx="3931920" cy="228600"/>
          </a:xfrm>
          <a:prstGeom prst="rect">
            <a:avLst/>
          </a:prstGeom>
          <a:noFill/>
          <a:ln/>
        </p:spPr>
        <p:txBody>
          <a:bodyPr wrap="square" lIns="0" tIns="0" rIns="0" bIns="0" rtlCol="0" anchor="ctr"/>
          <a:lstStyle/>
          <a:p>
            <a:pPr marL="0" indent="0">
              <a:buNone/>
            </a:pPr>
            <a:r>
              <a:rPr lang="en-US" sz="900" b="1" i="1" dirty="0">
                <a:solidFill>
                  <a:srgbClr val="FF4438"/>
                </a:solidFill>
                <a:latin typeface="Calibri" pitchFamily="34" charset="0"/>
                <a:ea typeface="Calibri" pitchFamily="34" charset="-122"/>
                <a:cs typeface="Calibri" pitchFamily="34" charset="-120"/>
              </a:rPr>
              <a:t>Up to 90% infra-cost reduction vs. pure RAM provisioning  ·  ~10K ops/sec/core</a:t>
            </a:r>
            <a:endParaRPr lang="en-US" sz="900" dirty="0"/>
          </a:p>
        </p:txBody>
      </p:sp>
      <p:sp>
        <p:nvSpPr>
          <p:cNvPr id="23" name="Shape 20"/>
          <p:cNvSpPr/>
          <p:nvPr/>
        </p:nvSpPr>
        <p:spPr>
          <a:xfrm>
            <a:off x="4663440" y="1051560"/>
            <a:ext cx="4069080" cy="2377440"/>
          </a:xfrm>
          <a:prstGeom prst="rect">
            <a:avLst/>
          </a:prstGeom>
          <a:solidFill>
            <a:srgbClr val="FFFFFF"/>
          </a:solidFill>
          <a:ln w="9525">
            <a:solidFill>
              <a:srgbClr val="E5E8EE"/>
            </a:solidFill>
            <a:prstDash val="solid"/>
          </a:ln>
        </p:spPr>
        <p:txBody>
          <a:bodyPr/>
          <a:lstStyle/>
          <a:p>
            <a:endParaRPr lang="en-IL"/>
          </a:p>
        </p:txBody>
      </p:sp>
      <p:sp>
        <p:nvSpPr>
          <p:cNvPr id="24" name="Shape 21"/>
          <p:cNvSpPr/>
          <p:nvPr/>
        </p:nvSpPr>
        <p:spPr>
          <a:xfrm>
            <a:off x="4663440" y="1051560"/>
            <a:ext cx="54864" cy="2377440"/>
          </a:xfrm>
          <a:prstGeom prst="rect">
            <a:avLst/>
          </a:prstGeom>
          <a:solidFill>
            <a:srgbClr val="163341"/>
          </a:solidFill>
          <a:ln/>
        </p:spPr>
        <p:txBody>
          <a:bodyPr/>
          <a:lstStyle/>
          <a:p>
            <a:endParaRPr lang="en-IL"/>
          </a:p>
        </p:txBody>
      </p:sp>
      <p:sp>
        <p:nvSpPr>
          <p:cNvPr id="25" name="Text 22"/>
          <p:cNvSpPr/>
          <p:nvPr/>
        </p:nvSpPr>
        <p:spPr>
          <a:xfrm>
            <a:off x="4828032" y="1124712"/>
            <a:ext cx="3886200" cy="292608"/>
          </a:xfrm>
          <a:prstGeom prst="rect">
            <a:avLst/>
          </a:prstGeom>
          <a:noFill/>
          <a:ln/>
        </p:spPr>
        <p:txBody>
          <a:bodyPr wrap="square" lIns="0" tIns="0" rIns="0" bIns="0" rtlCol="0" anchor="ctr"/>
          <a:lstStyle/>
          <a:p>
            <a:pPr marL="0" indent="0">
              <a:buNone/>
            </a:pPr>
            <a:r>
              <a:rPr lang="en-US" sz="1300" b="1" dirty="0">
                <a:solidFill>
                  <a:srgbClr val="163341"/>
                </a:solidFill>
                <a:latin typeface="Calibri" pitchFamily="34" charset="0"/>
                <a:ea typeface="Calibri" pitchFamily="34" charset="-122"/>
                <a:cs typeface="Calibri" pitchFamily="34" charset="-120"/>
              </a:rPr>
              <a:t>Decision matrix  —  when to choose which</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828032" y="1508760"/>
          <a:ext cx="3794760" cy="1783080"/>
        </p:xfrm>
        <a:graphic>
          <a:graphicData uri="http://schemas.openxmlformats.org/drawingml/2006/table">
            <a:tbl>
              <a:tblPr/>
              <a:tblGrid>
                <a:gridCol w="1143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56616">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Solution</a:t>
                      </a:r>
                      <a:endParaRPr lang="en-US" sz="950" dirty="0">
                        <a:latin typeface="Calibri" charset="0"/>
                        <a:ea typeface="Calibri" charset="0"/>
                        <a:cs typeface="Calibri" charset="0"/>
                      </a:endParaRPr>
                    </a:p>
                  </a:txBody>
                  <a:tcPr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solidFill>
                      <a:srgbClr val="163341"/>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Best when…</a:t>
                      </a:r>
                      <a:endParaRPr lang="en-US" sz="950" dirty="0">
                        <a:latin typeface="Calibri" charset="0"/>
                        <a:ea typeface="Calibri" charset="0"/>
                        <a:cs typeface="Calibri" charset="0"/>
                      </a:endParaRPr>
                    </a:p>
                  </a:txBody>
                  <a:tcPr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solidFill>
                      <a:srgbClr val="163341"/>
                    </a:solidFill>
                  </a:tcPr>
                </a:tc>
                <a:extLst>
                  <a:ext uri="{0D108BD9-81ED-4DB2-BD59-A6C34878D82A}">
                    <a16:rowId xmlns:a16="http://schemas.microsoft.com/office/drawing/2014/main" val="10000"/>
                  </a:ext>
                </a:extLst>
              </a:tr>
              <a:tr h="356616">
                <a:tc>
                  <a:txBody>
                    <a:bodyPr/>
                    <a:lstStyle/>
                    <a:p>
                      <a:pPr marL="0" indent="0">
                        <a:buNone/>
                      </a:pPr>
                      <a:r>
                        <a:rPr lang="en-US" sz="950" dirty="0">
                          <a:solidFill>
                            <a:srgbClr val="3A4756"/>
                          </a:solidFill>
                          <a:latin typeface="Calibri" pitchFamily="34" charset="0"/>
                          <a:ea typeface="Calibri" pitchFamily="34" charset="-122"/>
                          <a:cs typeface="Calibri" pitchFamily="34" charset="-120"/>
                        </a:rPr>
                        <a:t>Redis 8.x</a:t>
                      </a:r>
                      <a:endParaRPr lang="en-US" sz="950" dirty="0">
                        <a:latin typeface="Calibri" charset="0"/>
                        <a:ea typeface="Calibri" charset="0"/>
                        <a:cs typeface="Calibri" charset="0"/>
                      </a:endParaRPr>
                    </a:p>
                  </a:txBody>
                  <a:tcPr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tcPr>
                </a:tc>
                <a:tc>
                  <a:txBody>
                    <a:bodyPr/>
                    <a:lstStyle/>
                    <a:p>
                      <a:pPr marL="0" indent="0">
                        <a:buNone/>
                      </a:pPr>
                      <a:r>
                        <a:rPr lang="en-US" sz="950" dirty="0">
                          <a:solidFill>
                            <a:srgbClr val="3A4756"/>
                          </a:solidFill>
                          <a:latin typeface="Calibri" pitchFamily="34" charset="0"/>
                          <a:ea typeface="Calibri" pitchFamily="34" charset="-122"/>
                          <a:cs typeface="Calibri" pitchFamily="34" charset="-120"/>
                        </a:rPr>
                        <a:t>Cache + session + vectors already on Redis  ·  sub-ms p99 latency demands</a:t>
                      </a:r>
                      <a:endParaRPr lang="en-US" sz="950" dirty="0">
                        <a:latin typeface="Calibri" charset="0"/>
                        <a:ea typeface="Calibri" charset="0"/>
                        <a:cs typeface="Calibri" charset="0"/>
                      </a:endParaRPr>
                    </a:p>
                  </a:txBody>
                  <a:tcPr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tcPr>
                </a:tc>
                <a:extLst>
                  <a:ext uri="{0D108BD9-81ED-4DB2-BD59-A6C34878D82A}">
                    <a16:rowId xmlns:a16="http://schemas.microsoft.com/office/drawing/2014/main" val="10001"/>
                  </a:ext>
                </a:extLst>
              </a:tr>
              <a:tr h="356616">
                <a:tc>
                  <a:txBody>
                    <a:bodyPr/>
                    <a:lstStyle/>
                    <a:p>
                      <a:pPr marL="0" indent="0">
                        <a:buNone/>
                      </a:pPr>
                      <a:r>
                        <a:rPr lang="en-US" sz="950" dirty="0">
                          <a:solidFill>
                            <a:srgbClr val="3A4756"/>
                          </a:solidFill>
                          <a:latin typeface="Calibri" pitchFamily="34" charset="0"/>
                          <a:ea typeface="Calibri" pitchFamily="34" charset="-122"/>
                          <a:cs typeface="Calibri" pitchFamily="34" charset="-120"/>
                        </a:rPr>
                        <a:t>Pinecone (SaaS)</a:t>
                      </a:r>
                      <a:endParaRPr lang="en-US" sz="950" dirty="0">
                        <a:latin typeface="Calibri" charset="0"/>
                        <a:ea typeface="Calibri" charset="0"/>
                        <a:cs typeface="Calibri" charset="0"/>
                      </a:endParaRPr>
                    </a:p>
                  </a:txBody>
                  <a:tcPr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tcPr>
                </a:tc>
                <a:tc>
                  <a:txBody>
                    <a:bodyPr/>
                    <a:lstStyle/>
                    <a:p>
                      <a:pPr marL="0" indent="0">
                        <a:buNone/>
                      </a:pPr>
                      <a:r>
                        <a:rPr lang="en-US" sz="950" dirty="0">
                          <a:solidFill>
                            <a:srgbClr val="3A4756"/>
                          </a:solidFill>
                          <a:latin typeface="Calibri" pitchFamily="34" charset="0"/>
                          <a:ea typeface="Calibri" pitchFamily="34" charset="-122"/>
                          <a:cs typeface="Calibri" pitchFamily="34" charset="-120"/>
                        </a:rPr>
                        <a:t>Zero-ops, multi-tenant, spiky workloads  ·  isolated AI stack acceptable</a:t>
                      </a:r>
                      <a:endParaRPr lang="en-US" sz="950" dirty="0">
                        <a:latin typeface="Calibri" charset="0"/>
                        <a:ea typeface="Calibri" charset="0"/>
                        <a:cs typeface="Calibri" charset="0"/>
                      </a:endParaRPr>
                    </a:p>
                  </a:txBody>
                  <a:tcPr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tcPr>
                </a:tc>
                <a:extLst>
                  <a:ext uri="{0D108BD9-81ED-4DB2-BD59-A6C34878D82A}">
                    <a16:rowId xmlns:a16="http://schemas.microsoft.com/office/drawing/2014/main" val="10002"/>
                  </a:ext>
                </a:extLst>
              </a:tr>
              <a:tr h="356616">
                <a:tc>
                  <a:txBody>
                    <a:bodyPr/>
                    <a:lstStyle/>
                    <a:p>
                      <a:pPr marL="0" indent="0">
                        <a:buNone/>
                      </a:pPr>
                      <a:r>
                        <a:rPr lang="en-US" sz="950" dirty="0">
                          <a:solidFill>
                            <a:srgbClr val="3A4756"/>
                          </a:solidFill>
                          <a:latin typeface="Calibri" pitchFamily="34" charset="0"/>
                          <a:ea typeface="Calibri" pitchFamily="34" charset="-122"/>
                          <a:cs typeface="Calibri" pitchFamily="34" charset="-120"/>
                        </a:rPr>
                        <a:t>Milvus / Weaviate</a:t>
                      </a:r>
                      <a:endParaRPr lang="en-US" sz="950" dirty="0">
                        <a:latin typeface="Calibri" charset="0"/>
                        <a:ea typeface="Calibri" charset="0"/>
                        <a:cs typeface="Calibri" charset="0"/>
                      </a:endParaRPr>
                    </a:p>
                  </a:txBody>
                  <a:tcPr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tcPr>
                </a:tc>
                <a:tc>
                  <a:txBody>
                    <a:bodyPr/>
                    <a:lstStyle/>
                    <a:p>
                      <a:pPr marL="0" indent="0">
                        <a:buNone/>
                      </a:pPr>
                      <a:r>
                        <a:rPr lang="en-US" sz="950" dirty="0">
                          <a:solidFill>
                            <a:srgbClr val="3A4756"/>
                          </a:solidFill>
                          <a:latin typeface="Calibri" pitchFamily="34" charset="0"/>
                          <a:ea typeface="Calibri" pitchFamily="34" charset="-122"/>
                          <a:cs typeface="Calibri" pitchFamily="34" charset="-120"/>
                        </a:rPr>
                        <a:t>Tens of billions of vectors  ·  GPU-accelerated  ·  dedicated platform team</a:t>
                      </a:r>
                      <a:endParaRPr lang="en-US" sz="950" dirty="0">
                        <a:latin typeface="Calibri" charset="0"/>
                        <a:ea typeface="Calibri" charset="0"/>
                        <a:cs typeface="Calibri" charset="0"/>
                      </a:endParaRPr>
                    </a:p>
                  </a:txBody>
                  <a:tcPr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tcPr>
                </a:tc>
                <a:extLst>
                  <a:ext uri="{0D108BD9-81ED-4DB2-BD59-A6C34878D82A}">
                    <a16:rowId xmlns:a16="http://schemas.microsoft.com/office/drawing/2014/main" val="10003"/>
                  </a:ext>
                </a:extLst>
              </a:tr>
              <a:tr h="356616">
                <a:tc>
                  <a:txBody>
                    <a:bodyPr/>
                    <a:lstStyle/>
                    <a:p>
                      <a:pPr marL="0" indent="0">
                        <a:buNone/>
                      </a:pPr>
                      <a:r>
                        <a:rPr lang="en-US" sz="950" dirty="0">
                          <a:solidFill>
                            <a:srgbClr val="3A4756"/>
                          </a:solidFill>
                          <a:latin typeface="Calibri" pitchFamily="34" charset="0"/>
                          <a:ea typeface="Calibri" pitchFamily="34" charset="-122"/>
                          <a:cs typeface="Calibri" pitchFamily="34" charset="-120"/>
                        </a:rPr>
                        <a:t>Postgres + pgvector</a:t>
                      </a:r>
                      <a:endParaRPr lang="en-US" sz="950" dirty="0">
                        <a:latin typeface="Calibri" charset="0"/>
                        <a:ea typeface="Calibri" charset="0"/>
                        <a:cs typeface="Calibri" charset="0"/>
                      </a:endParaRPr>
                    </a:p>
                  </a:txBody>
                  <a:tcPr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tcPr>
                </a:tc>
                <a:tc>
                  <a:txBody>
                    <a:bodyPr/>
                    <a:lstStyle/>
                    <a:p>
                      <a:pPr marL="0" indent="0">
                        <a:buNone/>
                      </a:pPr>
                      <a:r>
                        <a:rPr lang="en-US" sz="950" dirty="0">
                          <a:solidFill>
                            <a:srgbClr val="3A4756"/>
                          </a:solidFill>
                          <a:latin typeface="Calibri" pitchFamily="34" charset="0"/>
                          <a:ea typeface="Calibri" pitchFamily="34" charset="-122"/>
                          <a:cs typeface="Calibri" pitchFamily="34" charset="-120"/>
                        </a:rPr>
                        <a:t>Existing OLTP workload  ·  small-to-medium vector sets in same DB</a:t>
                      </a:r>
                      <a:endParaRPr lang="en-US" sz="950" dirty="0">
                        <a:latin typeface="Calibri" charset="0"/>
                        <a:ea typeface="Calibri" charset="0"/>
                        <a:cs typeface="Calibri" charset="0"/>
                      </a:endParaRPr>
                    </a:p>
                  </a:txBody>
                  <a:tcPr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7" name="Shape 23"/>
          <p:cNvSpPr/>
          <p:nvPr/>
        </p:nvSpPr>
        <p:spPr>
          <a:xfrm>
            <a:off x="457200" y="3611880"/>
            <a:ext cx="4114800" cy="1188720"/>
          </a:xfrm>
          <a:prstGeom prst="rect">
            <a:avLst/>
          </a:prstGeom>
          <a:solidFill>
            <a:srgbClr val="FFFFFF"/>
          </a:solidFill>
          <a:ln w="9525">
            <a:solidFill>
              <a:srgbClr val="E5E8EE"/>
            </a:solidFill>
            <a:prstDash val="solid"/>
          </a:ln>
        </p:spPr>
        <p:txBody>
          <a:bodyPr/>
          <a:lstStyle/>
          <a:p>
            <a:endParaRPr lang="en-IL"/>
          </a:p>
        </p:txBody>
      </p:sp>
      <p:sp>
        <p:nvSpPr>
          <p:cNvPr id="28" name="Shape 24"/>
          <p:cNvSpPr/>
          <p:nvPr/>
        </p:nvSpPr>
        <p:spPr>
          <a:xfrm>
            <a:off x="457200" y="3611880"/>
            <a:ext cx="54864" cy="1188720"/>
          </a:xfrm>
          <a:prstGeom prst="rect">
            <a:avLst/>
          </a:prstGeom>
          <a:solidFill>
            <a:srgbClr val="5A6678"/>
          </a:solidFill>
          <a:ln/>
        </p:spPr>
        <p:txBody>
          <a:bodyPr/>
          <a:lstStyle/>
          <a:p>
            <a:endParaRPr lang="en-IL"/>
          </a:p>
        </p:txBody>
      </p:sp>
      <p:sp>
        <p:nvSpPr>
          <p:cNvPr id="29" name="Text 25"/>
          <p:cNvSpPr/>
          <p:nvPr/>
        </p:nvSpPr>
        <p:spPr>
          <a:xfrm>
            <a:off x="621792" y="3685032"/>
            <a:ext cx="3840480" cy="274320"/>
          </a:xfrm>
          <a:prstGeom prst="rect">
            <a:avLst/>
          </a:prstGeom>
          <a:noFill/>
          <a:ln/>
        </p:spPr>
        <p:txBody>
          <a:bodyPr wrap="square" lIns="0" tIns="0" rIns="0" bIns="0" rtlCol="0" anchor="ctr"/>
          <a:lstStyle/>
          <a:p>
            <a:pPr marL="0" indent="0">
              <a:buNone/>
            </a:pPr>
            <a:r>
              <a:rPr lang="en-US" sz="1150" b="1" dirty="0">
                <a:solidFill>
                  <a:srgbClr val="163341"/>
                </a:solidFill>
                <a:latin typeface="Calibri" pitchFamily="34" charset="0"/>
                <a:ea typeface="Calibri" pitchFamily="34" charset="-122"/>
                <a:cs typeface="Calibri" pitchFamily="34" charset="-120"/>
              </a:rPr>
              <a:t>Cluster sharding behaviour</a:t>
            </a:r>
            <a:endParaRPr lang="en-US" sz="1150" dirty="0"/>
          </a:p>
        </p:txBody>
      </p:sp>
      <p:sp>
        <p:nvSpPr>
          <p:cNvPr id="30" name="Text 26"/>
          <p:cNvSpPr/>
          <p:nvPr/>
        </p:nvSpPr>
        <p:spPr>
          <a:xfrm>
            <a:off x="621792" y="3959352"/>
            <a:ext cx="3840480" cy="777240"/>
          </a:xfrm>
          <a:prstGeom prst="rect">
            <a:avLst/>
          </a:prstGeom>
          <a:noFill/>
          <a:ln/>
        </p:spPr>
        <p:txBody>
          <a:bodyPr wrap="square" lIns="0" tIns="0" rIns="0" bIns="0" rtlCol="0" anchor="t"/>
          <a:lstStyle/>
          <a:p>
            <a:pPr marL="0" indent="0">
              <a:buNone/>
            </a:pPr>
            <a:r>
              <a:rPr lang="en-US" sz="950" dirty="0">
                <a:solidFill>
                  <a:srgbClr val="3A4756"/>
                </a:solidFill>
                <a:latin typeface="Calibri" pitchFamily="34" charset="0"/>
                <a:ea typeface="Calibri" pitchFamily="34" charset="-122"/>
                <a:cs typeface="Calibri" pitchFamily="34" charset="-120"/>
              </a:rPr>
              <a:t>Up to 1,000 nodes via Redis Cluster.  Writes (VADD/VREM) scale linearly via consistent hashing. Reads (VSIM) require scatter-gather across all shards — every shard returns its local top-K, the proxy merges. Plan shard counts carefully.</a:t>
            </a:r>
            <a:endParaRPr lang="en-US" sz="950" dirty="0"/>
          </a:p>
        </p:txBody>
      </p:sp>
      <p:sp>
        <p:nvSpPr>
          <p:cNvPr id="31" name="Shape 27"/>
          <p:cNvSpPr/>
          <p:nvPr/>
        </p:nvSpPr>
        <p:spPr>
          <a:xfrm>
            <a:off x="4663440" y="3611880"/>
            <a:ext cx="4069080" cy="1188720"/>
          </a:xfrm>
          <a:prstGeom prst="rect">
            <a:avLst/>
          </a:prstGeom>
          <a:solidFill>
            <a:srgbClr val="163341"/>
          </a:solidFill>
          <a:ln/>
        </p:spPr>
        <p:txBody>
          <a:bodyPr/>
          <a:lstStyle/>
          <a:p>
            <a:endParaRPr lang="en-IL"/>
          </a:p>
        </p:txBody>
      </p:sp>
      <p:sp>
        <p:nvSpPr>
          <p:cNvPr id="32" name="Text 28"/>
          <p:cNvSpPr/>
          <p:nvPr/>
        </p:nvSpPr>
        <p:spPr>
          <a:xfrm>
            <a:off x="4846320" y="3685032"/>
            <a:ext cx="3749040" cy="274320"/>
          </a:xfrm>
          <a:prstGeom prst="rect">
            <a:avLst/>
          </a:prstGeom>
          <a:noFill/>
          <a:ln/>
        </p:spPr>
        <p:txBody>
          <a:bodyPr wrap="square" lIns="0" tIns="0" rIns="0" bIns="0" rtlCol="0" anchor="ctr"/>
          <a:lstStyle/>
          <a:p>
            <a:pPr marL="0" indent="0">
              <a:buNone/>
            </a:pPr>
            <a:r>
              <a:rPr lang="en-US" sz="1150" b="1" dirty="0">
                <a:solidFill>
                  <a:srgbClr val="DCFF1E"/>
                </a:solidFill>
                <a:latin typeface="Calibri" pitchFamily="34" charset="0"/>
                <a:ea typeface="Calibri" pitchFamily="34" charset="-122"/>
                <a:cs typeface="Calibri" pitchFamily="34" charset="-120"/>
              </a:rPr>
              <a:t>VectorDBBench results  (Recall ≥ 0.98)</a:t>
            </a:r>
            <a:endParaRPr lang="en-US" sz="1150" dirty="0"/>
          </a:p>
        </p:txBody>
      </p:sp>
      <p:sp>
        <p:nvSpPr>
          <p:cNvPr id="33" name="Text 29"/>
          <p:cNvSpPr/>
          <p:nvPr/>
        </p:nvSpPr>
        <p:spPr>
          <a:xfrm>
            <a:off x="4846320" y="3977640"/>
            <a:ext cx="3749040" cy="777240"/>
          </a:xfrm>
          <a:prstGeom prst="rect">
            <a:avLst/>
          </a:prstGeom>
          <a:noFill/>
          <a:ln/>
        </p:spPr>
        <p:txBody>
          <a:bodyPr wrap="square" lIns="0" tIns="0" rIns="0" bIns="0" rtlCol="0" anchor="t"/>
          <a:lstStyle/>
          <a:p>
            <a:pPr marL="0" indent="0">
              <a:buNone/>
            </a:pPr>
            <a:r>
              <a:rPr lang="en-US" sz="1000" b="1" dirty="0">
                <a:solidFill>
                  <a:srgbClr val="FFFFFF"/>
                </a:solidFill>
                <a:latin typeface="Calibri" pitchFamily="34" charset="0"/>
                <a:ea typeface="Calibri" pitchFamily="34" charset="-122"/>
                <a:cs typeface="Calibri" pitchFamily="34" charset="-120"/>
              </a:rPr>
              <a:t>+62% throughput </a:t>
            </a:r>
            <a:r>
              <a:rPr lang="en-US" sz="1000" dirty="0">
                <a:solidFill>
                  <a:srgbClr val="C9D3DD"/>
                </a:solidFill>
                <a:latin typeface="Calibri" pitchFamily="34" charset="0"/>
                <a:ea typeface="Calibri" pitchFamily="34" charset="-122"/>
                <a:cs typeface="Calibri" pitchFamily="34" charset="-120"/>
              </a:rPr>
              <a:t>vs. #2 on deep-image-96-angular</a:t>
            </a:r>
            <a:endParaRPr lang="en-US" sz="1000" dirty="0"/>
          </a:p>
          <a:p>
            <a:pPr marL="0" indent="0">
              <a:buNone/>
            </a:pPr>
            <a:r>
              <a:rPr lang="en-US" sz="1000" b="1" dirty="0">
                <a:solidFill>
                  <a:srgbClr val="FFFFFF"/>
                </a:solidFill>
                <a:latin typeface="Calibri" pitchFamily="34" charset="0"/>
                <a:ea typeface="Calibri" pitchFamily="34" charset="-122"/>
                <a:cs typeface="Calibri" pitchFamily="34" charset="-120"/>
              </a:rPr>
              <a:t>+21% throughput </a:t>
            </a:r>
            <a:endParaRPr lang="en-US" sz="1000" dirty="0"/>
          </a:p>
          <a:p>
            <a:pPr marL="0" indent="0">
              <a:buNone/>
            </a:pPr>
            <a:r>
              <a:rPr lang="en-US" sz="1000" dirty="0">
                <a:solidFill>
                  <a:srgbClr val="C9D3DD"/>
                </a:solidFill>
                <a:latin typeface="Calibri" pitchFamily="34" charset="0"/>
                <a:ea typeface="Calibri" pitchFamily="34" charset="-122"/>
                <a:cs typeface="Calibri" pitchFamily="34" charset="-120"/>
              </a:rPr>
              <a:t>vs. #2 on dbpedia-openai-1M-angular</a:t>
            </a:r>
            <a:endParaRPr lang="en-US" sz="1000" dirty="0"/>
          </a:p>
        </p:txBody>
      </p:sp>
      <p:sp>
        <p:nvSpPr>
          <p:cNvPr id="34" name="Shape 30"/>
          <p:cNvSpPr/>
          <p:nvPr/>
        </p:nvSpPr>
        <p:spPr>
          <a:xfrm>
            <a:off x="320040" y="4864608"/>
            <a:ext cx="8503920" cy="10973"/>
          </a:xfrm>
          <a:prstGeom prst="rect">
            <a:avLst/>
          </a:prstGeom>
          <a:solidFill>
            <a:srgbClr val="D9DDE3"/>
          </a:solidFill>
          <a:ln/>
        </p:spPr>
        <p:txBody>
          <a:bodyPr/>
          <a:lstStyle/>
          <a:p>
            <a:endParaRPr lang="en-IL"/>
          </a:p>
        </p:txBody>
      </p:sp>
      <p:sp>
        <p:nvSpPr>
          <p:cNvPr id="35" name="Text 31"/>
          <p:cNvSpPr/>
          <p:nvPr/>
        </p:nvSpPr>
        <p:spPr>
          <a:xfrm>
            <a:off x="320040" y="4919472"/>
            <a:ext cx="6400800" cy="201168"/>
          </a:xfrm>
          <a:prstGeom prst="rect">
            <a:avLst/>
          </a:prstGeom>
          <a:noFill/>
          <a:ln/>
        </p:spPr>
        <p:txBody>
          <a:bodyPr wrap="square" lIns="0" tIns="0" rIns="0" bIns="0" rtlCol="0" anchor="ctr"/>
          <a:lstStyle/>
          <a:p>
            <a:pPr marL="0" indent="0">
              <a:buNone/>
            </a:pPr>
            <a:r>
              <a:rPr lang="en-US" sz="850" dirty="0">
                <a:solidFill>
                  <a:srgbClr val="8A95A4"/>
                </a:solidFill>
                <a:latin typeface="Calibri" pitchFamily="34" charset="0"/>
                <a:ea typeface="Calibri" pitchFamily="34" charset="-122"/>
                <a:cs typeface="Calibri" pitchFamily="34" charset="-120"/>
              </a:rPr>
              <a:t>Redis as a Vector Database  ·  Architecting for Real-Time AI</a:t>
            </a:r>
            <a:endParaRPr lang="en-US" sz="850" dirty="0"/>
          </a:p>
        </p:txBody>
      </p:sp>
      <p:sp>
        <p:nvSpPr>
          <p:cNvPr id="36" name="Text 32"/>
          <p:cNvSpPr/>
          <p:nvPr/>
        </p:nvSpPr>
        <p:spPr>
          <a:xfrm>
            <a:off x="7955280" y="4919472"/>
            <a:ext cx="914400" cy="201168"/>
          </a:xfrm>
          <a:prstGeom prst="rect">
            <a:avLst/>
          </a:prstGeom>
          <a:noFill/>
          <a:ln/>
        </p:spPr>
        <p:txBody>
          <a:bodyPr wrap="square" lIns="0" tIns="0" rIns="0" bIns="0" rtlCol="0" anchor="ctr"/>
          <a:lstStyle/>
          <a:p>
            <a:pPr marL="0" indent="0" algn="r">
              <a:buNone/>
            </a:pPr>
            <a:r>
              <a:rPr lang="en-US" sz="850" dirty="0">
                <a:solidFill>
                  <a:srgbClr val="8A95A4"/>
                </a:solidFill>
                <a:latin typeface="Calibri" pitchFamily="34" charset="0"/>
                <a:ea typeface="Calibri" pitchFamily="34" charset="-122"/>
                <a:cs typeface="Calibri" pitchFamily="34" charset="-120"/>
              </a:rPr>
              <a:t>7 / 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3341"/>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4438"/>
          </a:solidFill>
          <a:ln/>
        </p:spPr>
        <p:txBody>
          <a:bodyPr/>
          <a:lstStyle/>
          <a:p>
            <a:endParaRPr lang="en-IL"/>
          </a:p>
        </p:txBody>
      </p:sp>
      <p:pic>
        <p:nvPicPr>
          <p:cNvPr id="3" name="Image 0" descr="/sessions/eloquent-friendly-cori/mnt/outputs/assets/redis_logo_trimmed.png"/>
          <p:cNvPicPr>
            <a:picLocks noChangeAspect="1"/>
          </p:cNvPicPr>
          <p:nvPr/>
        </p:nvPicPr>
        <p:blipFill>
          <a:blip r:embed="rId3"/>
          <a:stretch>
            <a:fillRect/>
          </a:stretch>
        </p:blipFill>
        <p:spPr>
          <a:xfrm>
            <a:off x="548640" y="502920"/>
            <a:ext cx="1828800" cy="594360"/>
          </a:xfrm>
          <a:prstGeom prst="rect">
            <a:avLst/>
          </a:prstGeom>
        </p:spPr>
      </p:pic>
      <p:sp>
        <p:nvSpPr>
          <p:cNvPr id="4" name="Text 1"/>
          <p:cNvSpPr/>
          <p:nvPr/>
        </p:nvSpPr>
        <p:spPr>
          <a:xfrm>
            <a:off x="548640" y="1325880"/>
            <a:ext cx="7863840" cy="45720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Key Takeaways</a:t>
            </a:r>
            <a:endParaRPr lang="en-US" sz="2800" dirty="0"/>
          </a:p>
        </p:txBody>
      </p:sp>
      <p:sp>
        <p:nvSpPr>
          <p:cNvPr id="5" name="Text 2"/>
          <p:cNvSpPr/>
          <p:nvPr/>
        </p:nvSpPr>
        <p:spPr>
          <a:xfrm>
            <a:off x="548640" y="1783080"/>
            <a:ext cx="7863840" cy="320040"/>
          </a:xfrm>
          <a:prstGeom prst="rect">
            <a:avLst/>
          </a:prstGeom>
          <a:noFill/>
          <a:ln/>
        </p:spPr>
        <p:txBody>
          <a:bodyPr wrap="square" lIns="0" tIns="0" rIns="0" bIns="0" rtlCol="0" anchor="ctr"/>
          <a:lstStyle/>
          <a:p>
            <a:pPr marL="0" indent="0">
              <a:buNone/>
            </a:pPr>
            <a:r>
              <a:rPr lang="en-US" sz="1300" i="1" dirty="0">
                <a:solidFill>
                  <a:srgbClr val="DCFF1E"/>
                </a:solidFill>
                <a:latin typeface="Calibri" pitchFamily="34" charset="0"/>
                <a:ea typeface="Calibri" pitchFamily="34" charset="-122"/>
                <a:cs typeface="Calibri" pitchFamily="34" charset="-120"/>
              </a:rPr>
              <a:t>Architecting Redis as the unified real-time AI data platform</a:t>
            </a:r>
            <a:endParaRPr lang="en-US" sz="1300" dirty="0"/>
          </a:p>
        </p:txBody>
      </p:sp>
      <p:sp>
        <p:nvSpPr>
          <p:cNvPr id="6" name="Shape 3"/>
          <p:cNvSpPr/>
          <p:nvPr/>
        </p:nvSpPr>
        <p:spPr>
          <a:xfrm>
            <a:off x="548640" y="2240280"/>
            <a:ext cx="3931920" cy="1005840"/>
          </a:xfrm>
          <a:prstGeom prst="rect">
            <a:avLst/>
          </a:prstGeom>
          <a:solidFill>
            <a:srgbClr val="FFFFFF">
              <a:alpha val="8000"/>
            </a:srgbClr>
          </a:solidFill>
          <a:ln w="6350">
            <a:solidFill>
              <a:srgbClr val="FFFFFF"/>
            </a:solidFill>
            <a:prstDash val="solid"/>
          </a:ln>
        </p:spPr>
        <p:txBody>
          <a:bodyPr/>
          <a:lstStyle/>
          <a:p>
            <a:endParaRPr lang="en-IL"/>
          </a:p>
        </p:txBody>
      </p:sp>
      <p:sp>
        <p:nvSpPr>
          <p:cNvPr id="7" name="Shape 4"/>
          <p:cNvSpPr/>
          <p:nvPr/>
        </p:nvSpPr>
        <p:spPr>
          <a:xfrm>
            <a:off x="713232" y="2404872"/>
            <a:ext cx="502920" cy="502920"/>
          </a:xfrm>
          <a:prstGeom prst="line">
            <a:avLst/>
          </a:prstGeom>
          <a:solidFill>
            <a:srgbClr val="FF4438"/>
          </a:solidFill>
          <a:ln/>
        </p:spPr>
        <p:txBody>
          <a:bodyPr/>
          <a:lstStyle/>
          <a:p>
            <a:endParaRPr lang="en-IL"/>
          </a:p>
        </p:txBody>
      </p:sp>
      <p:sp>
        <p:nvSpPr>
          <p:cNvPr id="8" name="Text 5"/>
          <p:cNvSpPr/>
          <p:nvPr/>
        </p:nvSpPr>
        <p:spPr>
          <a:xfrm>
            <a:off x="713232" y="2404872"/>
            <a:ext cx="50292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9" name="Text 6"/>
          <p:cNvSpPr/>
          <p:nvPr/>
        </p:nvSpPr>
        <p:spPr>
          <a:xfrm>
            <a:off x="1325880" y="2331720"/>
            <a:ext cx="306324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Unify the stack</a:t>
            </a:r>
            <a:endParaRPr lang="en-US" sz="1300" dirty="0"/>
          </a:p>
        </p:txBody>
      </p:sp>
      <p:sp>
        <p:nvSpPr>
          <p:cNvPr id="10" name="Text 7"/>
          <p:cNvSpPr/>
          <p:nvPr/>
        </p:nvSpPr>
        <p:spPr>
          <a:xfrm>
            <a:off x="1325880" y="2651760"/>
            <a:ext cx="3063240" cy="502920"/>
          </a:xfrm>
          <a:prstGeom prst="rect">
            <a:avLst/>
          </a:prstGeom>
          <a:noFill/>
          <a:ln/>
        </p:spPr>
        <p:txBody>
          <a:bodyPr wrap="square" lIns="0" tIns="0" rIns="0" bIns="0" rtlCol="0" anchor="t"/>
          <a:lstStyle/>
          <a:p>
            <a:pPr marL="0" indent="0">
              <a:buNone/>
            </a:pPr>
            <a:r>
              <a:rPr lang="en-US" sz="1000" dirty="0">
                <a:solidFill>
                  <a:srgbClr val="C9D3DD"/>
                </a:solidFill>
                <a:latin typeface="Calibri" pitchFamily="34" charset="0"/>
                <a:ea typeface="Calibri" pitchFamily="34" charset="-122"/>
                <a:cs typeface="Calibri" pitchFamily="34" charset="-120"/>
              </a:rPr>
              <a:t>Eliminate the standalone-vector-DB trap.  Cache, session and vectors share one in-memory address space.</a:t>
            </a:r>
            <a:endParaRPr lang="en-US" sz="1000" dirty="0"/>
          </a:p>
        </p:txBody>
      </p:sp>
      <p:sp>
        <p:nvSpPr>
          <p:cNvPr id="11" name="Shape 8"/>
          <p:cNvSpPr/>
          <p:nvPr/>
        </p:nvSpPr>
        <p:spPr>
          <a:xfrm>
            <a:off x="4663440" y="2240280"/>
            <a:ext cx="3931920" cy="1005840"/>
          </a:xfrm>
          <a:prstGeom prst="rect">
            <a:avLst/>
          </a:prstGeom>
          <a:solidFill>
            <a:srgbClr val="FFFFFF">
              <a:alpha val="8000"/>
            </a:srgbClr>
          </a:solidFill>
          <a:ln w="6350">
            <a:solidFill>
              <a:srgbClr val="FFFFFF"/>
            </a:solidFill>
            <a:prstDash val="solid"/>
          </a:ln>
        </p:spPr>
        <p:txBody>
          <a:bodyPr/>
          <a:lstStyle/>
          <a:p>
            <a:endParaRPr lang="en-IL"/>
          </a:p>
        </p:txBody>
      </p:sp>
      <p:sp>
        <p:nvSpPr>
          <p:cNvPr id="12" name="Shape 9"/>
          <p:cNvSpPr/>
          <p:nvPr/>
        </p:nvSpPr>
        <p:spPr>
          <a:xfrm>
            <a:off x="4828032" y="2404872"/>
            <a:ext cx="502920" cy="502920"/>
          </a:xfrm>
          <a:prstGeom prst="line">
            <a:avLst/>
          </a:prstGeom>
          <a:solidFill>
            <a:srgbClr val="FF4438"/>
          </a:solidFill>
          <a:ln/>
        </p:spPr>
        <p:txBody>
          <a:bodyPr/>
          <a:lstStyle/>
          <a:p>
            <a:endParaRPr lang="en-IL"/>
          </a:p>
        </p:txBody>
      </p:sp>
      <p:sp>
        <p:nvSpPr>
          <p:cNvPr id="13" name="Text 10"/>
          <p:cNvSpPr/>
          <p:nvPr/>
        </p:nvSpPr>
        <p:spPr>
          <a:xfrm>
            <a:off x="4828032" y="2404872"/>
            <a:ext cx="50292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14" name="Text 11"/>
          <p:cNvSpPr/>
          <p:nvPr/>
        </p:nvSpPr>
        <p:spPr>
          <a:xfrm>
            <a:off x="5440680" y="2331720"/>
            <a:ext cx="306324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Redis 8 is the engine</a:t>
            </a:r>
            <a:endParaRPr lang="en-US" sz="1300" dirty="0"/>
          </a:p>
        </p:txBody>
      </p:sp>
      <p:sp>
        <p:nvSpPr>
          <p:cNvPr id="15" name="Text 12"/>
          <p:cNvSpPr/>
          <p:nvPr/>
        </p:nvSpPr>
        <p:spPr>
          <a:xfrm>
            <a:off x="5440680" y="2651760"/>
            <a:ext cx="3063240" cy="502920"/>
          </a:xfrm>
          <a:prstGeom prst="rect">
            <a:avLst/>
          </a:prstGeom>
          <a:noFill/>
          <a:ln/>
        </p:spPr>
        <p:txBody>
          <a:bodyPr wrap="square" lIns="0" tIns="0" rIns="0" bIns="0" rtlCol="0" anchor="t"/>
          <a:lstStyle/>
          <a:p>
            <a:pPr marL="0" indent="0">
              <a:buNone/>
            </a:pPr>
            <a:r>
              <a:rPr lang="en-US" sz="1000" dirty="0">
                <a:solidFill>
                  <a:srgbClr val="C9D3DD"/>
                </a:solidFill>
                <a:latin typeface="Calibri" pitchFamily="34" charset="0"/>
                <a:ea typeface="Calibri" pitchFamily="34" charset="-122"/>
                <a:cs typeface="Calibri" pitchFamily="34" charset="-120"/>
              </a:rPr>
              <a:t>Vector Sets, JSON and Search are now in the core — −87% latency, +144% QPS, native ACLs.</a:t>
            </a:r>
            <a:endParaRPr lang="en-US" sz="1000" dirty="0"/>
          </a:p>
        </p:txBody>
      </p:sp>
      <p:sp>
        <p:nvSpPr>
          <p:cNvPr id="16" name="Shape 13"/>
          <p:cNvSpPr/>
          <p:nvPr/>
        </p:nvSpPr>
        <p:spPr>
          <a:xfrm>
            <a:off x="548640" y="3429000"/>
            <a:ext cx="3931920" cy="1005840"/>
          </a:xfrm>
          <a:prstGeom prst="rect">
            <a:avLst/>
          </a:prstGeom>
          <a:solidFill>
            <a:srgbClr val="FFFFFF">
              <a:alpha val="8000"/>
            </a:srgbClr>
          </a:solidFill>
          <a:ln w="6350">
            <a:solidFill>
              <a:srgbClr val="FFFFFF"/>
            </a:solidFill>
            <a:prstDash val="solid"/>
          </a:ln>
        </p:spPr>
        <p:txBody>
          <a:bodyPr/>
          <a:lstStyle/>
          <a:p>
            <a:endParaRPr lang="en-IL"/>
          </a:p>
        </p:txBody>
      </p:sp>
      <p:sp>
        <p:nvSpPr>
          <p:cNvPr id="17" name="Shape 14"/>
          <p:cNvSpPr/>
          <p:nvPr/>
        </p:nvSpPr>
        <p:spPr>
          <a:xfrm>
            <a:off x="713232" y="3593592"/>
            <a:ext cx="502920" cy="502920"/>
          </a:xfrm>
          <a:prstGeom prst="line">
            <a:avLst/>
          </a:prstGeom>
          <a:solidFill>
            <a:srgbClr val="FF4438"/>
          </a:solidFill>
          <a:ln/>
        </p:spPr>
        <p:txBody>
          <a:bodyPr/>
          <a:lstStyle/>
          <a:p>
            <a:endParaRPr lang="en-IL"/>
          </a:p>
        </p:txBody>
      </p:sp>
      <p:sp>
        <p:nvSpPr>
          <p:cNvPr id="18" name="Text 15"/>
          <p:cNvSpPr/>
          <p:nvPr/>
        </p:nvSpPr>
        <p:spPr>
          <a:xfrm>
            <a:off x="713232" y="3593592"/>
            <a:ext cx="50292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19" name="Text 16"/>
          <p:cNvSpPr/>
          <p:nvPr/>
        </p:nvSpPr>
        <p:spPr>
          <a:xfrm>
            <a:off x="1325880" y="3520440"/>
            <a:ext cx="306324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Pick the right ANN</a:t>
            </a:r>
            <a:endParaRPr lang="en-US" sz="1300" dirty="0"/>
          </a:p>
        </p:txBody>
      </p:sp>
      <p:sp>
        <p:nvSpPr>
          <p:cNvPr id="20" name="Text 17"/>
          <p:cNvSpPr/>
          <p:nvPr/>
        </p:nvSpPr>
        <p:spPr>
          <a:xfrm>
            <a:off x="1325880" y="3840480"/>
            <a:ext cx="3063240" cy="502920"/>
          </a:xfrm>
          <a:prstGeom prst="rect">
            <a:avLst/>
          </a:prstGeom>
          <a:noFill/>
          <a:ln/>
        </p:spPr>
        <p:txBody>
          <a:bodyPr wrap="square" lIns="0" tIns="0" rIns="0" bIns="0" rtlCol="0" anchor="t"/>
          <a:lstStyle/>
          <a:p>
            <a:pPr marL="0" indent="0">
              <a:buNone/>
            </a:pPr>
            <a:r>
              <a:rPr lang="en-US" sz="1000" dirty="0">
                <a:solidFill>
                  <a:srgbClr val="C9D3DD"/>
                </a:solidFill>
                <a:latin typeface="Calibri" pitchFamily="34" charset="0"/>
                <a:ea typeface="Calibri" pitchFamily="34" charset="-122"/>
                <a:cs typeface="Calibri" pitchFamily="34" charset="-120"/>
              </a:rPr>
              <a:t>FLAT for tiny datasets, HNSW for production, SVS-VAMANA for billion-scale memory savings.</a:t>
            </a:r>
            <a:endParaRPr lang="en-US" sz="1000" dirty="0"/>
          </a:p>
        </p:txBody>
      </p:sp>
      <p:sp>
        <p:nvSpPr>
          <p:cNvPr id="21" name="Shape 18"/>
          <p:cNvSpPr/>
          <p:nvPr/>
        </p:nvSpPr>
        <p:spPr>
          <a:xfrm>
            <a:off x="4663440" y="3429000"/>
            <a:ext cx="3931920" cy="1005840"/>
          </a:xfrm>
          <a:prstGeom prst="rect">
            <a:avLst/>
          </a:prstGeom>
          <a:solidFill>
            <a:srgbClr val="FFFFFF">
              <a:alpha val="8000"/>
            </a:srgbClr>
          </a:solidFill>
          <a:ln w="6350">
            <a:solidFill>
              <a:srgbClr val="FFFFFF"/>
            </a:solidFill>
            <a:prstDash val="solid"/>
          </a:ln>
        </p:spPr>
        <p:txBody>
          <a:bodyPr/>
          <a:lstStyle/>
          <a:p>
            <a:endParaRPr lang="en-IL"/>
          </a:p>
        </p:txBody>
      </p:sp>
      <p:sp>
        <p:nvSpPr>
          <p:cNvPr id="22" name="Shape 19"/>
          <p:cNvSpPr/>
          <p:nvPr/>
        </p:nvSpPr>
        <p:spPr>
          <a:xfrm>
            <a:off x="4828032" y="3593592"/>
            <a:ext cx="502920" cy="502920"/>
          </a:xfrm>
          <a:prstGeom prst="line">
            <a:avLst/>
          </a:prstGeom>
          <a:solidFill>
            <a:srgbClr val="FF4438"/>
          </a:solidFill>
          <a:ln/>
        </p:spPr>
        <p:txBody>
          <a:bodyPr/>
          <a:lstStyle/>
          <a:p>
            <a:endParaRPr lang="en-IL"/>
          </a:p>
        </p:txBody>
      </p:sp>
      <p:sp>
        <p:nvSpPr>
          <p:cNvPr id="23" name="Text 20"/>
          <p:cNvSpPr/>
          <p:nvPr/>
        </p:nvSpPr>
        <p:spPr>
          <a:xfrm>
            <a:off x="4828032" y="3593592"/>
            <a:ext cx="50292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24" name="Text 21"/>
          <p:cNvSpPr/>
          <p:nvPr/>
        </p:nvSpPr>
        <p:spPr>
          <a:xfrm>
            <a:off x="5440680" y="3520440"/>
            <a:ext cx="306324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TCO wins</a:t>
            </a:r>
            <a:endParaRPr lang="en-US" sz="1300" dirty="0"/>
          </a:p>
        </p:txBody>
      </p:sp>
      <p:sp>
        <p:nvSpPr>
          <p:cNvPr id="25" name="Text 22"/>
          <p:cNvSpPr/>
          <p:nvPr/>
        </p:nvSpPr>
        <p:spPr>
          <a:xfrm>
            <a:off x="5440680" y="3840480"/>
            <a:ext cx="3063240" cy="502920"/>
          </a:xfrm>
          <a:prstGeom prst="rect">
            <a:avLst/>
          </a:prstGeom>
          <a:noFill/>
          <a:ln/>
        </p:spPr>
        <p:txBody>
          <a:bodyPr wrap="square" lIns="0" tIns="0" rIns="0" bIns="0" rtlCol="0" anchor="t"/>
          <a:lstStyle/>
          <a:p>
            <a:pPr marL="0" indent="0">
              <a:buNone/>
            </a:pPr>
            <a:r>
              <a:rPr lang="en-US" sz="1000" dirty="0">
                <a:solidFill>
                  <a:srgbClr val="C9D3DD"/>
                </a:solidFill>
                <a:latin typeface="Calibri" pitchFamily="34" charset="0"/>
                <a:ea typeface="Calibri" pitchFamily="34" charset="-122"/>
                <a:cs typeface="Calibri" pitchFamily="34" charset="-120"/>
              </a:rPr>
              <a:t>Redis Flex tiering + Semantic Cache often pay for the entire cluster.  Start there tomorrow.</a:t>
            </a:r>
            <a:endParaRPr lang="en-US" sz="1000" dirty="0"/>
          </a:p>
        </p:txBody>
      </p:sp>
      <p:sp>
        <p:nvSpPr>
          <p:cNvPr id="26" name="Shape 23"/>
          <p:cNvSpPr/>
          <p:nvPr/>
        </p:nvSpPr>
        <p:spPr>
          <a:xfrm>
            <a:off x="0" y="4663440"/>
            <a:ext cx="9144000" cy="475488"/>
          </a:xfrm>
          <a:prstGeom prst="rect">
            <a:avLst/>
          </a:prstGeom>
          <a:solidFill>
            <a:srgbClr val="FF4438"/>
          </a:solidFill>
          <a:ln/>
        </p:spPr>
        <p:txBody>
          <a:bodyPr/>
          <a:lstStyle/>
          <a:p>
            <a:endParaRPr lang="en-IL"/>
          </a:p>
        </p:txBody>
      </p:sp>
      <p:sp>
        <p:nvSpPr>
          <p:cNvPr id="27" name="Text 24"/>
          <p:cNvSpPr/>
          <p:nvPr/>
        </p:nvSpPr>
        <p:spPr>
          <a:xfrm>
            <a:off x="548640" y="4663440"/>
            <a:ext cx="4572000" cy="475488"/>
          </a:xfrm>
          <a:prstGeom prst="rect">
            <a:avLst/>
          </a:prstGeom>
          <a:noFill/>
          <a:ln/>
        </p:spPr>
        <p:txBody>
          <a:bodyPr wrap="square" lIns="0" tIns="0" rIns="0" bIns="0" rtlCol="0" anchor="ctr"/>
          <a:lstStyle/>
          <a:p>
            <a:pPr marL="0" indent="0">
              <a:buNone/>
            </a:pPr>
            <a:r>
              <a:rPr lang="en-US" sz="1600" b="1" kern="0" spc="400" dirty="0">
                <a:solidFill>
                  <a:srgbClr val="FFFFFF"/>
                </a:solidFill>
                <a:latin typeface="Calibri" pitchFamily="34" charset="0"/>
                <a:ea typeface="Calibri" pitchFamily="34" charset="-122"/>
                <a:cs typeface="Calibri" pitchFamily="34" charset="-120"/>
              </a:rPr>
              <a:t>Q &amp; A   ·   thank you</a:t>
            </a:r>
            <a:endParaRPr lang="en-US" sz="1600" dirty="0"/>
          </a:p>
        </p:txBody>
      </p:sp>
      <p:sp>
        <p:nvSpPr>
          <p:cNvPr id="28" name="Text 25"/>
          <p:cNvSpPr/>
          <p:nvPr/>
        </p:nvSpPr>
        <p:spPr>
          <a:xfrm>
            <a:off x="4572000" y="4663440"/>
            <a:ext cx="4206240" cy="475488"/>
          </a:xfrm>
          <a:prstGeom prst="rect">
            <a:avLst/>
          </a:prstGeom>
          <a:noFill/>
          <a:ln/>
        </p:spPr>
        <p:txBody>
          <a:bodyPr wrap="square" lIns="0" tIns="0" rIns="0" bIns="0" rtlCol="0" anchor="ctr"/>
          <a:lstStyle/>
          <a:p>
            <a:pPr marL="0" indent="0" algn="r">
              <a:buNone/>
            </a:pPr>
            <a:r>
              <a:rPr lang="en-US" sz="1100" dirty="0">
                <a:solidFill>
                  <a:srgbClr val="FFFFFF"/>
                </a:solidFill>
                <a:latin typeface="Calibri" pitchFamily="34" charset="0"/>
                <a:ea typeface="Calibri" pitchFamily="34" charset="-122"/>
                <a:cs typeface="Calibri" pitchFamily="34" charset="-120"/>
              </a:rPr>
              <a:t>docs.redisvl.com  ·  redis.io/blog  ·  github.com/redis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11432</Words>
  <Application>Microsoft Macintosh PowerPoint</Application>
  <PresentationFormat>On-screen Show (16:9)</PresentationFormat>
  <Paragraphs>174</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Redis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Redis as a Vector Database — Architecting for Real-Time AI</dc:title>
  <dc:subject>PptxGenJS Presentation</dc:subject>
  <dc:creator>eli</dc:creator>
  <cp:lastModifiedBy>אליהו שטינמן</cp:lastModifiedBy>
  <cp:revision>2</cp:revision>
  <dcterms:created xsi:type="dcterms:W3CDTF">2026-05-10T10:50:10Z</dcterms:created>
  <dcterms:modified xsi:type="dcterms:W3CDTF">2026-05-10T12:16:12Z</dcterms:modified>
</cp:coreProperties>
</file>