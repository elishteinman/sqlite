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52" d="100"/>
          <a:sy n="152" d="100"/>
        </p:scale>
        <p:origin x="6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2402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1 מתוך 8 — שקופית פתיחה.
♦ הקשר חשוב: אתה מנהל תשתית מציג חומר חדש לעמיתים שלא מכירים Vector DBs, RAG או Embeddings. זה Knowledge transfer, לא מכירה. הקהל לא סובל מ-Latency, הם לא בנו עדיין RAG. אתה מנגיש נוף טכנולוגי חדש.
★ מה אתה רואה כרגע על המסך:
רקע כהה בצבע נייבי עמוק (Big Stone, ‎#163341‎ — צבע המותג הרשמי של Redis לרקעים כהים).
פס דק בגוון אדום-כתום (Red Orange, ‎#FF4438‎) חוצה את החלק העליון של השקופית.
בפינה השמאלית-עליונה: הלוגו הרשמי של Redis — קוביית הנתונים האדומה והמילה "redis" באפור. זה הלוגו המקורי שהורד ישירות מהמאגר הציבורי של החברה.
במרכז השמאלי: כותרת ראשית גדולה בלבן — "Redis as a Vector Database" (Redis כבסיס נתונים וקטורי).
מתחת לכותרת: כותרת משנה בצבע ירוק-לימוני (Chartreuse Yellow, ‎#DCFF1E‎ — צבע אקסנט של Redis) — "Architecting for Real-Time AI" (אדריכלות ל-AI בזמן אמת).
פסקת פתיחה אפורה-בהירה: "מאחדים cache, session state ושליפה וקטורית במרחב אחד של זיכרון פנימי — לאפליקציות AI במילישניות".
בתחתית השמאל: תגית עם מסגרת לבנה דקה — "25-min technical deep-dive · R&amp;D, Architects, Developers" (צלילה טכנית של 25 דקות · קהל יעד: מו"פ, ארכיטקטים, מפתחים).
שורת תחתית: שמך, גרסת Redis ותאריך.
★ תרגום מהיר של מושגים שמופיעים בשקופית:
• Vector Database — בסיס נתונים וקטורי (מערכת לאחסון ושליפת וקטורים מתמטיים שמייצגים משמעות).
• Embedding — הטמעה: ייצוג מתמטי דחוס של טקסט/תמונה/אודיו במרחב רב-ממדי.
• Real-Time AI — בינה מלאכותית בזמן אמת.
• Caching — זיכרון מטמון.
• Session state — מצב סשן (השיחה הנוכחית של המשתמש).
• Sub-millisecond — תת-מילישניה (פחות מ-1ms לתגובה).
★ מה לומר (פתיחה, 60-90 שניות) — גרסה למנגיש ידע:
"בוקר טוב. במצגת הזו אני רוצה לעדכן אתכם על שינוי משמעותי שהתרחש ב-Redis בשנה האחרונה — שינוי שאני חושב שכדאי שכולנו נכיר, גם אם בארגון שלנו עדיין לא בנינו פרויקט שדורש את היכולת הזו.
Redis, שאנחנו מכירים בעיקר כ-Cache או כתור הודעות, התפתח להיות גם פלטפורמה לאחסון וחיפוש של מה שנקרא 'Vector Embeddings' — והמושג הזה הוא הדבר הראשון שאסביר. ככל שאפליקציות בינה-מלאכותית הופכות לחלק מהמוצרים שלנו, היכולת הזו תהפוך לדרישה תשתיתית, ואני רוצה שניכנס לזה מוכנים.
עוד 30 דקות נצא מפה כשכולם מבינים: מה זה Vector Database, מה השתנה ב-Redis 8, ומה המשמעות לבחירות תשתיתיות שנעשה בעתיד. אני לא מציע פרויקט מיגרציה — אני מציע שנכיר את הכלי שכבר נמצא ב-Stack שלנו ומה הוא יכול לעשות."
★ מסלול הסשן:
שקופית 2 — איך נראה Stack של AI מודרני, ולמה Redis רלוונטי שם.
שקופית 3 — מה השתנה במנוע של Redis 8.
שקופית 4 — איך עובד חיפוש וקטורי (FLAT, HNSW, SVS-VAMANA).
שקופית 5 — Hybrid Search ואלגוריתם RRF.
שקופית 6 — RedisVL, Semantic Cache, Agentic Memory.
שקופית 7 — סקלאביליות, TCO ומיצוב מול אלטרנטיבות.
שקופית 8 — סיכום.
★ מסלול הסשן (לציין בקצרה):
שקופית 2 — הבעיה האדריכלית של ה-Vector DB העצמאי.
שקופית 3 — מה השתנה ב-Redis 8 (87%‎- Latency, 144%+ QPS).
שקופית 4 — שלושת אלגוריתמי האינדקס (FLAT, HNSW, SVS-VAMANA).
שקופית 5 — Hybrid Search ואלגוריתם RRF.
שקופית 6 — RedisVL, Semantic Cache, Agentic Memory.
שקופית 7 — סקלאביליות, TCO ומיצוב מול המתחרים.
שקופית 8 — סיכום ושאלות.
★ טיפ למצגת: אל תקריא את הסלוגן — בסס איתו אנקדוטה אישית או דוגמה מהארגון שלך כדי ליצור קשר עם הקהל.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2 מתוך 8 — צוואר הבקבוק האדריכלי של עידן ה-AI.
★ מה אתה רואה על השקופית (תיאור ויזואלי מלא):
ברקע אפור-בהיר נקי. בראש השקופית — קוביית Redis קטנה (הלוגו הרשמי) בפינה השמאלית-עליונה, ולידה התווית הקטנה "01 · PROBLEM STATEMENT" (הצהרת בעיה) באדום-כתום, ומתחתיה הכותרת הראשית בנייבי כהה: "The Data Bottleneck of the AI Era" (צוואר הבקבוק של הנתונים בעידן ה-AI).
המסך מחולק לשני עמודים שווים:
• עמוד שמאלי — "BEFORE — Fragmented Stack" (לפני — Stack מפוצל). פס כותרת בצבע נייבי כהה. בתוך הקלף שלוש קופסאות מלבניות מעוגלות זו מעל זו: "Primary RDBMS (transactional state)", "In-Memory Cache (session state)", "Standalone Vector DB (embeddings only)". בין הקופסאות יש תווית קטנה באדום-כתום באלכסון: "↕ network hop" (קפיצת רשת). בתחתית הקלף משפט באיטליק אפור: "Result: latency tax, sync drift, duplicated infra cost" (התוצאה: מס זמן-תגובה, דריפט סנכרון, עלויות תשתית כפולות).
• עמוד ימני — "AFTER — Unified Real-Time Platform" (אחרי — פלטפורמה מאוחדת בזמן אמת). פס כותרת בצבע אדום-כתום של Redis. בתוך הקלף קופסה אחת מעוגלת ועבה במסגרת אדומה, ובה הלוגו של Redis וכותרת "Redis 8.x · Single in-memory address space" (Redis 8.x · מרחב כתובות פנימי יחיד). מתחת לקופסה הראשית — שלוש שורות קטנות עם נקודה אדומה: "Operational data + JSON metadata", "Cache + session state", "Vector embeddings + ANN index". בתחתית — משפט מודגש בנייבי: "Result: zero network hops, no sync, single security boundary" (התוצאה: אפס קפיצות רשת, אין סנכרון, גבול אבטחה אחד).
★ תרגום מושגים על השקופית:
• Fragmented Stack — Stack מפוצל / מקוטע (ארכיטקטורה שמורכבת ממערכות נפרדות שלא עובדות יחד באופן אורגני).
• Primary RDBMS — בסיס נתונים רלציוני ראשי (כמו PostgreSQL, MySQL, Oracle).
• Transactional state — מצב טרנזקציוני (נתונים עסקיים שעוברים פעולות INSERT/UPDATE/DELETE).
• In-Memory Cache — מטמון בזיכרון פנימי (לרוב Redis או Memcached בעצמם).
• Standalone — עצמאי / נפרד (מערכת בפני עצמה, לא חלק ממערכת מאוחדת).
• Network hop — קפיצת רשת (כל פעם שבקשה עוברת בין שני שרתים מוסיפה כ-0.5-2ms).
• Unified Real-Time Platform — פלטפורמת נתונים מאוחדת בזמן אמת.
• In-memory address space — מרחב כתובות בזיכרון פנימי (כל הנתונים נגישים תוך nanoseconds במקום milliseconds).
• ANN index — Approximate Nearest Neighbor index (אינדקס לחיפוש שכנים קרובים בקירוב — אלגוריתם שמאפשר למצוא וקטורים דומים מבלי להשוות מול כולם).
• Latency tax — "מס זמן-תגובה" (כל קפיצת רשת מוסיפה זמן ולכן מטילה "מס" על המערכת).
• Sync drift — דריפט סנכרון (כשנתון מתעדכן באחד המערכות אבל לא בשנייה).
★ הקשר נדרש לפני שמתחילים את השקף:
שלושה מושגים שצריך להציג ב-90 שניות לפני שאתה אומר משהו על השקף, כי הקהל לא מכיר:
1. Embedding (הטמעה) — להסביר ככה: "מודלים כמו ChatGPT הם רשתות נוירונים. אחת היכולות שלהם היא לקחת משפט בעברית — נגיד 'איך מאפסים סיסמה' — ולהפוך אותו לרשימה של 1,536 מספרים. שני משפטים בעלי משמעות דומה יקבלו רשימות-מספרים דומות מתמטית. המספרים האלה הם 'Embedding'. כל אפליקציית AI מודרנית מבוססת על היכולת הזו."
2. Vector Database (בסיס נתונים וקטורי) — "סוג חדש של בסיס נתונים שמתמחה באחסון מיליונים מהרשימות-מספרים האלה ובחיפוש 'מי הכי דומה למה'. זה מה שמאפשר חיפוש סמנטי וצ'אטבוטים שזוכרים."
3. RAG (Retrieval-Augmented Generation) — "ארכיטקטורה שבה לפני שאנחנו שואלים את ChatGPT שאלה, אנחנו קודם מחפשים בבסיס הידע הפנימי שלנו את המסמכים הרלוונטיים, ומוסיפים אותם לשאלה. ככה ChatGPT עונה על המידע שלנו, לא רק על מידע פומבי שלמד."
★ הסיפור שצריך לספר (3-4 דקות דיבור):
"אחרי שהבנו מה זה Embedding, Vector DB ו-RAG, השאלה הבאה היא: איך מרכיבים מערכת כזו? אם תפתחו Medium או Stack Overflow ותחפשו 'how to build RAG', תקבלו תמיד את הארכיטקטורה שמופיעה בצד שמאל של השקף. שלוש מערכות נפרדות:
1. בסיס נתונים רלציוני (כמו Postgres, MySQL, או Oracle) — שמחזיק את הנתונים הקלאסיים: משתמשים, מסמכים, הרשאות.
2. מטמון בזיכרון (לרוב Redis עצמו!) — שמחזיק את הסשנים הפעילים של המשתמשים, היסטוריית שיחה, JWT tokens.
3. Vector Database ייעודי (Pinecone, Weaviate, Milvus, Qdrant) — שמחזיק את ה-Embeddings של המסמכים והשאלות.
זו הגישה הנאיבית. היא עובדת. כל הצעדים שלכם בלימוד הראשוני יובילו אתכם לשם. אבל יש לה כמה מאפיינים שכדאי שנכיר לפני שנבחר אותה:
• בכל בקשת משתמש, האפליקציה מבצעת קריאה לכל אחת מהמערכות בנפרד. כל קריאה כזו עוברת ברשת — וזה מה שמסומן בשקף כ-'network hop'. בכל קפיצה כזו אנחנו 'משלמים' 1-5 מילישניות. בבקשת RAG מלאה יש 3-4 קפיצות. סך הכל ‎10-20ms‎ סתם על תיאום, לפני שבכלל הגענו ל-LLM.
• כשהמסמכים מתעדכנים, צריך לסנכרן בין המערכות. אם מסמך חדש נכנס ל-Postgres, מישהו צריך לדאוג להעביר את ה-Embedding שלו ל-Pinecone. כל פיגור או כשל בתהליך הזה יוצר חוסר עקביות שאף אחד לא רואה — Pinecone יחזיר את הגרסה הישנה ולא תהיה הודעת שגיאה. בייצור זה כואב.
• תפעולית — שלוש מערכות = שלושה ACLs, שלוש מערכות backup, שלושה אדמיניסטרטורים שצריך לקרוא בלילה.
הצד הימני של השקף מציג את האפשרות החדשה — לאחד את שלושת התפקידים במנוע אחד. במקום שלוש מערכות נפרדות, יש Redis 8 שמחזיק את שלוש שכבות הנתונים באותו תהליך, באותו זיכרון פנימי. למה זה אפשרי עכשיו, ולא היה אפשרי לפני שנה? את זה נראה בשקופית הבאה.
חשוב להבהיר: אני לא אומר שכולם צריכים לוותר על Postgres או Pinecone. אני אומר שכשנגיע לבנות פרויקט AI ראשון בארגון, זו אופציה ראויה לבחינה — במיוחד כי Redis ממילא יש בארגון."
★ מה הקהל שלי כנראה ישאל:
1. "האם זה אומר שאנחנו מחליפים את Postgres ב-Redis?" — תשובה: לא. Postgres נשאר ל-OLTP הקלאסי. Redis 8 מחליף את הצורך להוסיף מערכת נוספת (Pinecone) רק עבור Vector Search.
2. "אם רוב הבלוגים מציגים את הארכיטקטורה השמאלית — היא לא 'הסטנדרט'?" — תשובה: היא הייתה הסטנדרט עד 2024. ב-2025-2026 Redis (וגם Postgres עם pgvector) הצליחו להשיג ביצועים שמתחרים ב-Pinecone, וזה משנה את הבחירה.
3. "כמה Latency חוסכים בפועל?" — תשובה: באפליקציית RAG טיפוסית, 30-100ms p99. לא הבדל אסטרונומי, אבל משמעותי לתחושת 'שיחה' של המשתמש.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3 מתוך 8 — האבולוציה האדריכלית של מנוע Redis 8.
★ מה אתה רואה על השקופית:
תווית קטנה למעלה: "02 · ARCHITECTURE" (אדריכלות), כותרת ראשית: "Redis 8.0 — From Modules to Native Engine" (Redis 8.0 — ממודולים למנוע מובנה).
שלוש קופסאות סטטיסטיקה גדולות בשורה עליונה, כל אחת עם פס אנכי אדום-כתום משמאל ומספר ענק באדום:
1. "−87%" עם תיאור מתחת: "command latency vs. modular Redis" (זמן-תגובה של פקודות לעומת Redis המודולרי).
2. "+144%" עם תיאור: "QPS with vector quantization" (Queries Per Second — שאילתות לשנייה — עם דחיסת וקטורים).
3. "160K /s" עם תיאור: "vector inserts on a single node" (הוספות וקטור על Node בודד).
מתחת לשלוש הקופסאות שני קלפים מלבניים בשורה:
• הקלף השמאלי (פס אדום-כתום): "Modules dismantled into the core" (המודולים פורקו לתוך הליבה). הטקסט מסביר ש-Search, JSON, Time-Series, Probabilistic ו-Vector Sets כבר אינם תוספים נפרדים אלא חלק מהליבה הפתוחה.
• הקלף הימני (פס נייבי כהה): "Co-location, not query amplification" (אחסון משותף, לא הגברת שאילתות). הטקסט מסביר שווקטורים יושבים באותו Hash/JSON עם המטא-דאטה.
★ תרגום מושגים על השקופית:
• Module — מודול: רכיב הרחבה שמוסיף יכולות לתוכנה ראשית.
• Native engine — מנוע מובנה / מנוע מקורי: רכיב שהוא חלק אינטגרלי מהליבה ולא תוסף.
• Core — ליבה: החלק המרכזי של תוכנה, הקוד הבסיסי.
• Latency — זמן-תגובה / השהייה (מודד בדרך כלל ב-milliseconds).
• Modular Redis — Redis במבנה מודולרי (גרסאות קודמות).
• QPS (Queries Per Second) — שאילתות לשנייה (מדד תפוקה).
• Vector quantization — דחיסת וקטורים: טכניקה שממירה וקטורים מ-32-bit floats ל-8-bit ints או פחות, וחוסכת עד 75% זיכרון.
• Vector inserts — הוספות וקטור (קצב כתיבה).
• Single node — Node בודד / שרת בודד.
• Dismantled — פורק / מפורק.
• Bolt-on — הוסף בדיעבד / "מבורג מבחוץ" (שלילי ביותר בהקשר אדריכלי).
• Multithreaded I/O — מנוע קלט/פלט רב-חוטי (פעולות קריאה/כתיבה רצות במקביל בכמה Threads).
• Main-thread contention — תחרות על ה-thread הראשי (כשפעולות מתחרות על המנוע המרכזי וגורמות לעיכוב).
• Co-location — אחסון משותף (שני סוגי נתונים יושבים באותו מקום פיזית).
• Query amplification — הגברת שאילתות (פעולה אחת של משתמש הופכת לאלפי שאילתות פנימיות במערכת).
• ACL (Access Control List) — רשימת בקרת גישה: מנגנון הרשאות לפי משתמש/תפקיד.
• Replication — רפליקציה / שכפול: העתקה אוטומטית של נתונים לשרתים נוספים לגיבוי וזמינות גבוהה.
★ הקשר נדרש: הקהל שלך מכיר את Redis כ-Cache. מה הוא לא יודע — שיש מאחורי הקלעים מנגנון "Modules" (תוספים), ושב-2024-2025 Redis עברה שינוי אדריכלי גדול. תזכיר זאת לפני שאתה מסביר את המספרים.
★ הסיפור (3-4 דקות):
"כדי להבין למה השינוי הזה רלוונטי לנו, צריך רגע להכיר את ההיסטוריה של Redis עצמה. רובנו מכירים את Redis כ-Cache פשוט: SET key value, GET key, ובחזרה. אבל מאחורי הקלעים, מאז 2017, חברת Redis פיתחה מנגנון בשם 'Modules' — תוספי הרחבה שאפשר להעמיס בזמן ריצה. כך נולדו RediSearch (לחיפוש טקסט), RedisJSON (לאחסון JSON), RedisTimeSeries (לסדרות-זמן). זה היה גמיש מאוד, אבל היה לזה מחיר ביצועי: כל שאילתה צריכה הייתה לחצות גבול בין הליבה למודול, ובכל חצייה יש 'context switch' שעולה מילישניות.
ביוני 2024 יצא Redis 8, ובאוגוסט 2025 גרסה 8.2. החברה החליטה צעד דרסטי: לבטל את מנגנון המודולים. כל היכולות שהיו מודול — חיפוש, JSON, Time-Series, ובעיקר מבנה נתונים חדש בשם Vector Sets — מוטמעות עכשיו בליבה עצמה. כשמורידים Redis 8 בסיסי, מקבלים את הכול בלי תוספים.
המספרים שאתם רואים על השקף הם של הבדיקות הרשמיות של Redis (מקור: blog.redis.io). אסביר אותם:
• ‎−87% Latency‎ — כלומר אם פקודה ב-Redis 7 לקחה 2 מילישניות, ב-Redis 8 היא לוקחת ‎0.26‎. זה ההבדל בין 'ניתן לחוש' ל'בלתי מורגש'.
• ‎+144% QPS‎ — QPS זה Queries Per Second, שאילתות לשנייה. כלומר אותו שרת מטפל ביותר מפי שניים שאילתות. זה רלוונטי אם פעם נצטרך להריץ הרבה חיפושי וקטור במקביל.
• 160,000 הוספות וקטור בשנייה על שרת יחיד. זה אומר שגם אם נחליט להזרים 10 מיליון מסמכים — זה לוקח דקה.
• מנוע I/O רב-חוטי (Multithreaded). תזכרו ש-Redis תמיד עבד על thread יחיד — זה הסוד שלו לעקביות. ב-Redis 8, רק הליבה עדיין על thread יחיד, אבל פעולות הקריאה/כתיבה ברשת והרפליקציה עברו לכמה threads. מה זה אומר תפעולית? שניתן לסנכרן 10GB מ-Master ל-Replica תוך כדי טיפול במיליוני עדכונים — בלי לעצור את הפעילות.
שני הקלפים בתחתית מסכמים שני שינויים אדריכליים נוספים שכדאי להכיר:
• הקלף השמאלי — 'מודולים פורקו לליבה'. זה בעיקר רלוונטי כשאני אומר לכם שאם בעתיד נשדרג Redis לגרסה 8, אנחנו פשוט מקבלים את כל היכולות החדשות. אין צורך להתקין מודולים נפרדים, להגדיר licenses נוספים, או לדאוג להתאמה בין גרסאות.
• הקלף הימני — 'Co-location, not query amplification'. זה מושג חשוב. במערכת רגילה (Pinecone + Postgres) הוקטור יושב במקום אחד והמטא-דאטה במקום אחר. שאילתה אחת של משתמש מתפצלת לשתיים-שלוש שאילתות פנימיות — וזה מה שנקרא 'Query Amplification' (הגברת שאילתות). ב-Redis 8 הוקטור והמטא-דאטה יושבים באותו Hash או JSON. שאילתה אחת מחזירה את שניהם. זה גם מהיר יותר וגם פשוט יותר מבחינת קוד.
הסיכום מבחינתנו כצוות תשתית: אם נחליט לשדרג ל-Redis 8 אצלנו (וזה דבר שנעשה בכל מקרה), נקבל את היכולות האלה ב'חינם'. לא צריך לרכוש מוצר חדש."
★ שאלה צפויה: "האם השדרוג מ-Redis 6/7 ל-Redis 8 שובר תאימות?" — תשובה: לא. כל ה-API נשמר. אם רץ אצלכם RediSearch כמודול, הוא יפעל אחרי השדרוג בלי שינוי קוד.</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4 מתוך 8 — אלגוריתמי האינדוקס: ניווט במרחב רב-ממדי.
★ מה אתה רואה על השקופית:
תווית קטנה: "03 · ALGORITHMS" (אלגוריתמים), כותרת: "Indexing Algorithms — Navigating High-Dimensional Space" (אלגוריתמי אינדוקס — ניווט במרחב רב-ממדי).
שורה עליונה: התווית "Distance metrics:" (מדדי מרחק) ולידה 3 צ'יפים מעוגלים במסגרת אדומה-כתומה: "Cosine Similarity", "L2 (Euclidean)", "Inner Product". מתחתיהן הערה אדומה באיטליק: "⚠ Metric is immutable post-creation — must match embedding-model training" (האזהרה: המדד אינו ניתן לשינוי לאחר היצירה — חייב להתאים לאימון מודל ההטמעה).
מתחת — שלושה עמודים מלבניים שווים, כל אחד עם פס כותרת בצבע שונה:
• עמוד שמאלי (כותרת אפורה-כהה): "FLAT" — Brute-Force Exact Search. סטטיסטיקות: 100% recall, O(n) query time, minimal memory. שורת שימוש: "Use when n &lt; 50K · baseline accuracy validation · zero-tolerance recall environments" (כשיש פחות מ-50K וקטורים · ולידציית דיוק בסיסית · סביבות שלא סובלות אובדן דיוק).
• עמוד אמצעי (כותרת אדומה-כתומה — צבע Redis): "HNSW" — Hierarchical Navigable Small World. סטטיסטיקות: 95-99% recall, O(log n) query time, high RAM cost. שימוש: "Production standard for n &gt; 50K · graph layers route queries from sparse → dense · tune M, EF_CONSTRUCTION, EF_RUNTIME" (סטנדרט production מעל 50K · שכבות גרף מנתבות שאילתות מדליל לצפוף · יש לכוון את הפרמטרים).
• עמוד ימני (כותרת נייבי כהה): "SVS-VAMANA" — Single-Layer + Quantization (Intel). סטטיסטיקות: 94-98% recall, O(log n) query time, 26-37% RAM saved. שימוש: "Billion-scale deployments · Locally-Adaptive Vector Quantization · preferred when memory ceiling dominates TCO" (פריסות בקנה מידה של מיליארדים · דחיסת וקטורים מקומית-אדפטיבית · מועדף כשתקרת זיכרון משפיעה על TCO).
★ תרגום מושגים:
• Indexing algorithm — אלגוריתם אינדוקס: שיטה ארגונית לאחסן וקטורים כך שניתן לחפש בהם במהירות.
• High-Dimensional Space — מרחב רב-ממדי: וקטורים של 768, 1536 או 3072 ממדים חיים במרחב מתמטי שאי אפשר לדמיין ויזואלית.
• Distance metric — מדד מרחק: פונקציה מתמטית שמודדת כמה שני וקטורים "דומים" זה לזה.
• Cosine Similarity — דמיון קוסינוס: מודד את הזווית בין שני וקטורים, מתעלם מאורך. הכי נפוץ ב-NLP.
• L2 / Euclidean — מרחק אוקלידי: המרחק "ישיר" במרחב, כמו שלמדנו בבית ספר ‎√‎((x₁-x₂)² + (y₁-y₂)²).
• Inner Product — מכפלה פנימית: סכום מכפלות הקואורדינטות; שימושי כשהוקטורים נורמלו לאורך 1.
• Immutable — קבוע / בלתי-ניתן-לשינוי: אחרי יצירת האינדקס לא ניתן לשנות את המדד.
• Embedding model — מודל הטמעה: רשת נוירונים שממירה טקסט/תמונה לוקטור (כמו text-embedding-3-small של OpenAI או all-MiniLM-L6-v2 של HuggingFace).
• Brute-Force — בכוח גס: השוואה מול כל וקטור ללא קיצורי דרך.
• Recall — אחזור / דיוק שליפה: אחוז הוקטורים הנכונים שהאלגוריתם החזיר. 100% recall = החזיר את כל ה-k הנכונים.
• Query time — זמן שאילתה.
• O(n), O(log n) — סימון Big-O המתאר סדר גודל זמן ריצה: O(n) = לינארי (הזמן גדל ביחס ישר לכמות הנתונים), O(log n) = לוגריתמי (הזמן גדל הרבה יותר לאט).
• Production standard — סטנדרט production: ברירת המחדל לסביבת ייצור.
• Graph layers — שכבות גרף.
• Sparse → Dense — מדליל לצפוף (השכבה העליונה דלילה — מעט צמתים, התחתונה צפופה — כל הוקטורים).
• Hyperparameters — פרמטרים שמכוונים את התנהגות האלגוריתם:
   - M — מספר השכנים לכל צומת בגרף (טיפוסי 16-64).
   - EF_CONSTRUCTION — איכות בנייה (טיפוסי 200-500). גבוה יותר = גרף איכותי יותר אבל בנייה איטית יותר.
   - EF_RUNTIME — איכות חיפוש בזמן ריצה (טיפוסי 50-200). גבוה יותר = recall גבוה יותר אבל איטי יותר.
• Quantization — קוונטיזציה / דחיסה: המרת floats מדויקים (32 bit) ל-int דחוסים (8 bit או פחות).
• Locally-Adaptive — מקומי-אדפטיבי: רמת הדחיסה משתנה לפי אזורי המרחב (אזורים צפופים נדחסים יותר).
• Billion-scale — בסקלה של מיליארדים.
• Memory ceiling — תקרת זיכרון: הגבול של כמה RAM זמין על השרת.
• TCO — Total Cost of Ownership / עלות בעלות כוללת: כל העלויות (שרתים, רישוי, תחזוקה, חשמל) על פני זמן.
★ הקשר נדרש לפני השקף — שאלה חשובה לקהל:
"כששואלים את עצמכם איך מערכת מוצאת 'את הוקטור הכי דומה' בתוך מיליון וקטורים — מה התשובה?". התשובה הטריוויאלית היא 'תשווה לכל אחד', אבל זה לא ריאלי. השקף הזה מסביר איך עושים את זה במציאות.
★ הסיפור (4-5 דקות) — בגרסה למנגיש ידע:
"אם יום אחד נחליט להריץ Vector Database אצלנו, יהיו לנו שתי החלטות טכניות לקבל מראש. השקף הזה מציג אותן.
ההחלטה הראשונה — בשורה העליונה — היא 'מדד המרחק' (Distance Metric). זה התשובה לשאלה המתמטית: 'איך מודדים כמה שני וקטורים דומים זה לזה?'. יש שלוש אפשרויות סטנדרטיות:
• Cosine Similarity (דמיון קוסינוס) — מודד את הזווית בין שני וקטורים. זו הברירת מחדל לרוב מודלי השפה כמו OpenAI, ולכן רוב המקרים שלנו ייפלו פה.
• L2 או Euclidean — המרחק 'הישיר' במרחב. שימושי בעיקר לתמונות ולא לטקסט.
• Inner Product (מכפלה פנימית) — אופטימיזציה של Cosine למקרים מסוימים.
מה חשוב לדעת? **הבחירה היא בלתי-הפיכה אחרי יצירת האינדקס.** אם נטעה ונבחר L2 כשמודל ה-Embedding מצפה ל-Cosine, נקבל תוצאות מוזרות בלי הודעת שגיאה — מה שנקרא 'כשל שקט'. זו נקודה שצריך לשים לב אליה כשמתכננים. ההמלצה הפרקטית: בשביל מודלי OpenAI/Anthropic — תמיד Cosine.
ההחלטה השנייה — בשורה התחתונה — היא 'אלגוריתם האינדקס'. כלומר: איך מבנה הנתונים מאחסן וקטורים כדי שאפשר יהיה לחפש בהם מהר. ל-Redis יש שלוש אופציות, וכל אחת היא compromise אחר בין דיוק, מהירות וזיכרון.
האפשרות הראשונה היא FLAT. האלגוריתם הפשוט ביותר — בעצם הוא 'לא מחפש' באמת. כשמשתמש שואל שאלה, FLAT משווה את הוקטור של השאלה מול כל וקטור במאגר אחד-אחד, ממיין לפי מרחק, ומחזיר את הקרובים ביותר. דיוק מושלם — 100%. אבל הזמן הוא O(n), כלומר לינארי — מיליון וקטורים = מיליון השוואות = שניות. FLAT מתאים רק למאגרים קטנים מאוד (פחות מ-50,000 וקטורים), לסביבת בדיקות, או למקרים שבהם אסור לפספס אף תוצאה.
האפשרות השנייה היא HNSW — ראשי תיבות של Hierarchical Navigable Small World. זה הסטנדרט של התעשייה היום, ומה ש-Pinecone, Weaviate וכל המתחרים משתמשים בו. הרעיון יפהפה: במקום להחזיק את כל הוקטורים ברשימה שטוחה, בונים גרף בכמה שכבות. השכבה העליונה דלילה — אולי 100 וקטורים מייצגים. השכבה התחתונה צפופה — כל המיליון. כשמחפשים, מתחילים מלמעלה ויורדים שכבה-שכבה לעבר ה-target. זה כמו לחפש כתובת — אתה לא בודק כל בית בעיר, אתה מתחיל ברובע, מתקרב לרחוב, ואז מחפש את המספר. תוצאה: O(log n), מאוד מהיר. החיסרון? הגרף הזה צורך הרבה זיכרון. עבור מיליון וקטורים של 768 ממדים, צריך 2-4GB רק לאינדקס, מעבר לוקטורים עצמם.
האפשרות השלישית והחדשה ביותר היא SVS-VAMANA. זו אופציה שנוספה ל-Redis בגרסה 8.2 (אוגוסט 2025), ופותחה בשיתוף Intel. הרעיון: גם גרף, אבל בלי שכבות — שכבה אחת שטוחה. בנוסף, האלגוריתם 'דוחס' את הוקטורים — הופך אותם ממספרים מדויקים (32 ביט) למספרים פחות מדויקים (8 ביט). מה זה אומר? חיסכון של 26-37% בזיכרון, עם ירידה זניחה בדיוק. זו האפשרות שצריך לבחור כשהמאגר ענק (עשרות מיליונים) ועלות הזיכרון הופכת לקריטריון העיקרי.
המסקנה למי שלא רוצה לזכור את כל הפרטים:
• פרויקט קטן/POC → FLAT.
• פרויקט ייצור רגיל → HNSW.
• מאגר ענק או צמצום עלויות → SVS-VAMANA.
החלק הטוב הוא ש-Redis תומך בכל השלושה ואפשר להחליף ביניהם, אבל בנקודה מסוימת תצטרכו לקבל החלטה מודעת."
★ שאלה צפויה: "מי בוחר את האלגוריתם — המפתח או צוות התשתית?" — תשובה: זו החלטה משותפת. בחירה לא נכונה (HNSW על 100K וקטורים, או FLAT על 10M) משפיעה על עלות תשתית — אז כדאי שצוות תשתית יהיה מעורב.</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5 מתוך 8 — Hybrid Search ואלגוריתם RRF.
★ מה אתה רואה על השקופית:
תווית קטנה: "04 · RETRIEVAL" (שליפה), כותרת: "Hybrid Search &amp; Reciprocal Rank Fusion (RRF)" — חיפוש היברידי ומיזוג דירוגים הדדי.
מתחת לכותרת — קופסת "Pain" (בעיה) במסגרת אדומה-כתומה ופס אנכי אדום, עם הטקסט: "Pure semantic search misses exact tokens — error codes, SKUs, hex IDs, proprietary names — because the keyword is diluted in the embedding" (חיפוש סמנטי טהור מפספס טוקנים מדויקים — קודי שגיאה, מק"טים, מזהי hex, שמות בעלות — כי מילת המפתח 'נמהלת' בתוך ה-Embedding).
מתחת — דיאגרמת Pipeline: בצד שמאל קופסת "User query" (שאילתת משתמש) בנייבי כהה, עם דוגמה ירוקה באיטליק: "Intel H100 throughput". משם יוצאים שני קווים מקבילים שמובילים לשתי קופסאות לבנות:
• "Sparse · BM25" — TF-IDF, exact tokens (חיפוש דליל ב-BM25 — TF-IDF, טוקנים מדויקים).
• "Dense · Vector ANN" — HNSW / VAMANA (חיפוש צפוף וקטורי באמצעות HNSW או VAMANA).
שני הקווים מתאחדים בקופסה אדומה-כתומה גדולה: "RRF · Reciprocal Rank Fusion · score = Σ 1 / (k + rank)". משם קו יחיד יוצא לקופסת "Top-K unified" (Top-K מאוחד) בנייבי.
בתחתית — שלושה כרטיסים בשורה, כל אחד עם פס אנכי בנייבי כהה ושני שדות:
1. "Single command" — FT.HYBRID runs both retrievals inside the engine — no app-side fusion code (פקודה אחת — FT.HYBRID מריצה את שתי השליפות בתוך המנוע — אין קוד מיזוג בצד האפליקציה).
2. "Bounded vs. unbounded scores" — RRF discards raw scores; ranks documents by position, smoothed by tunable k (default 60) (ניקודים חסומים מול לא-חסומים — RRF משליך ניקודים גולמיים, מדרג מסמכים לפי מיקום, מוחלק על-ידי קבוע k המכוון, ברירת מחדל 60).
3. "Linear-fusion fallback" — For explicit control, configure α/β weights for semantic vs. lexical importance (חלופה למיזוג ליניארי — לשליטה מפורשת, ניתן להגדיר משקלי α/β לחשיבות סמנטית מול לקסיקלית).
★ תרגום מושגים:
• Hybrid Search — חיפוש היברידי: שילוב של חיפוש מילולי וחיפוש סמנטי בו-זמנית.
• Retrieval — שליפה / אחזור: התהליך של מציאת מסמכים רלוונטיים לשאילתה.
• Pure semantic search — חיפוש סמנטי טהור: חיפוש שמבוסס רק על משמעות, לא על מילים מדויקות.
• Token — אסימון: יחידה מילונית בסיסית בה משתמשים מודלי שפה (לרוב חלק ממילה).
• Exact tokens — טוקנים מדויקים: מילים או רצפי תווים שצריכים להופיע בדיוק כמו שהם.
• SKU (Stock Keeping Unit) — מק"ט / זיהוי מוצר.
• Hex ID — מזהה הקסדצימלי (כמו "0xABC123").
• Proprietary name — שם בעלות / שם מותג (כמו "Pinecone", "GPT-4").
• Diluted — מהול / נמהל (משמעות המילה הספציפית הולכת לאיבוד בתוך הוקטור).
• Embedding — הטמעה (וקטור צפוף שמייצג משמעות).
• Sparse search — חיפוש דליל: שיטה שעושה ייצוג ויקטור עם רוב הערכים = 0, ועם משקלים גדולים רק למילים הספציפיות שהופיעו במסמך.
• Dense search — חיפוש צפוף: וקטור עם ערך ממשי בכל ממד.
• BM25 (Best Match 25) — אלגוריתם דירוג קלאסי, גרסה מתקדמת של TF-IDF, סטנדרט בכל מנועי חיפוש (Elasticsearch, Lucene).
• TF-IDF — Term Frequency × Inverse Document Frequency: שיטה לדירוג מסמכים לפי כמה מילה נדירה במאגר ולפי כמות הופעותיה במסמך הספציפי.
• Vector ANN — Approximate Nearest Neighbor on vectors (חיפוש שכנים קרובים בקירוב על וקטורים).
• Bounded vs. unbounded — חסום מול לא-חסום: ניקוד BM25 יכול להגיע ל-100 או 1000; ניקוד וקטור מוגבל ל-0 עד 1.
• Reciprocal Rank Fusion (RRF) — מיזוג דירוגים הדדי: שיטה למיזוג רשימות מדורגות שאינה תלויה בניקוד גולמי אלא רק במיקום.
• Smoothing factor — קבוע החלקה: ערך k בנוסחה שמונע שמסמך אחד עם דירוג #1 ידחק את כל השאר.
• Linear-fusion — מיזוג ליניארי: שיטה אחרת בה הניקוד הסופי הוא ‎α·BM25 + β·Vector‎.
★ הקשר נדרש: לפני שאתה מסביר את השקף, תוודא שהקהל מבין את ההבחנה הבאה:
"חיפוש וקטורי הוא חיפוש 'לפי משמעות'. כלומר 'תמצא לי מסמכים שדומים בכוונה לשאלה שלי'. אבל יש מצבים שבהם זה לא מספיק — צריך גם 'תמצא לי מסמכים שמכילים את המילה המדויקת הזו'. השקף הזה מדבר על המתח הזה."
★ הסיפור (3-4 דקות):
"חיפוש וקטורי, שראינו בשקפים הקודמים, הוא מהפכה. אבל הוא לא הפיתרון לכל דבר. הקופסה האדומה למעלה (Pain) מתארת מצב טיפוסי שבו חיפוש וקטורי טהור נכשל:
דמיינו צ'אטבוט תמיכה. משתמש שואל 'איך מתקנים שגיאה ORA-12541?'. במאגר שלכם יש בדיוק מסמך אחד שמסביר את השגיאה הזו, ועוד 1,000 מסמכים שמדברים על Oracle באופן כללי. חיפוש וקטורי טהור עלול להחזיר מסמכים כלליים על Oracle ולפספס את המסמך הספציפי — כי המחרוזת 'ORA-12541' היא ייחודית מאוד, ובתוך וקטור של 1,536 ממדים היא 'נמהלה' עם המשמעות הכללית של המשפט.
הבעיה הזו קיימת בכל מקום שיש מונחים ייחודיים: קודי מוצר (SKU), שמות מותגים, מזהי תקלות, שמות פנימיים בארגון שלא הופיעו בנתוני האימון של המודל.
הפתרון הוא Hybrid Search — חיפוש היברידי. הרעיון: לא לבחור בין חיפוש מילולי וחיפוש וקטורי, אלא להריץ את שניהם במקביל ולמזג את התוצאות. זה בדיוק מה שמתאר הדיאגרמה במרכז השקף:
• הקלף השמאלי בלבן (Sparse · BM25) הוא חיפוש 'מילולי' מסורתי. BM25 הוא אלגוריתם דירוג קלאסי שמשמש כל מנוע חיפוש בעולם — Elasticsearch, Lucene, Google. הוא מצוין במציאת מילים ספציפיות.
• הקלף הימני בלבן (Dense · Vector ANN) הוא החיפוש הוקטורי שלמדנו בשקף הקודם — מבוסס HNSW או VAMANA.
שני החיפושים רצים במקביל ומחזירים שתי רשימות מדורגות. ועכשיו השאלה האמיתית: איך ממזגים את התוצאות?
זה לא טריוויאלי. ה-'ניקוד' של BM25 הוא חסר-גבול עליון — יכול להיות 5, או 50, או 500. הניקוד של חיפוש וקטורי מנורמל בין 0 ל-1. אם נחבר אותם נאיבית, אחד ידחק את השני.
הפתרון הוא RRF — Reciprocal Rank Fusion (מיזוג דירוגים הדדי). זו הקופסה האדומה הגדולה במרכז. הנוסחה אלגנטית: לכל מסמך, מחשבים ‎1 / (60 + מיקום_ברשימה)‎ ומסכמים על פני שתי הרשימות. RRF מתעלם לחלוטין מהניקוד הגולמי — מה שחשוב זה רק המיקום היחסי של המסמך. מסמך שמופיע ב-#1 באחת הרשימות יקבל ציון גבוה גם אם בשנייה הוא במקום 5.
היופי הוא ש-Redis עושה את כל זה דרך פקודה אחת — FT.HYBRID. אין צורך בקוד צד-אפליקציה שמטפל במיזוג. שלוש הקופסאות בתחתית מסכמות את שלושת היתרונות:
• 'Single command' — הכול בפקודה אחת.
• 'Bounded vs. unbounded scores' — RRF פותר את בעיית מיזוג הניקודים.
• 'Linear-fusion fallback' — אם רוצים שליטה עדינה יותר, יש גם אפשרות עם משקלים α ו-β.
מבחינתנו כצוות תשתית: זה אומר ש-Redis מטפל בנושאים שעד היום היינו צריכים לכתוב להם קוד אפליקטיבי או להשתמש ב-Elasticsearch בנפרד."
★ שאלה צפויה: "אם BM25 כל כך טוב, למה לא רק להשתמש בו?" — תשובה: BM25 לא מבין משמעות. אם משתמש ישאל 'איך אני מאפס את הסיסמה' אבל המסמך כתוב 'שכחת סיסמה? לחץ כאן' — BM25 לא ימצא את זה כי המילים שונות. חיפוש וקטורי כן ימצא. שניהם משלימים זה את זה.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6 מתוך 8 — RedisVL, Semantic Cache, Agentic Memory.
★ מה אתה רואה על השקופית:
תווית: "05 · AI APPLICATION LAYER" (שכבת אפליקציית ה-AI), כותרת: "RedisVL — Semantic Cache &amp; Agentic Memory".
שלוש קופסאות שווות בשורה אחת, כל אחת עם פס כותרת בצבע אחר:
• עמודה ראשונה (פס אדום-כתום): "RedisVL" עם כותרת משנה "Production-grade Python client" (קליינט Python ברמת Production), ושלושה bullets:
   - "Maps document chunks + metadata to Redis Hash / JSON" (ממפה מקטעי מסמך + מטא-דאטה ל-Hash/JSON של Redis).
   - "MultiVectorQuery and hybrid RRF in one call" (שאילתת רב-וקטור ו-RRF היברידי בקריאה אחת).
   - "First-class integrations with OpenAI, HuggingFace, LangChain, LlamaIndex" (אינטגרציות מהשורה הראשונה).
• עמודה שנייה (פס נייבי כהה): "Semantic Cache" עם כותרת "Cache by meaning, not text" (מטמון לפי משמעות, לא לפי טקסט):
   - "Vectorize incoming prompt → ANN search vs. cached prompts" (וקטוריזציה של ה-prompt הנכנס → חיפוש ANN מול prompts מטומונים).
   - "If distance &lt; threshold, serve cached LLM response instantly" (אם המרחק קטן מהסף, מחזירים את התשובה המטומונת מיידית).
   - "Up to 70% cut in repeated LLM API spend; sub-ms response" (חיסכון של עד 70% בהוצאות API של LLM; תגובה בפחות ממילישנייה).
• עמודה שלישית (פס אדום-כתום): "Agentic Memory" עם כותרת "Short- and long-term memory in one engine" (זיכרון לטווח קצר וארוך במנוע אחד):
   - "Lists / Streams = short-term working memory (current session)" (Lists/Streams = זיכרון עבודה לטווח קצר עבור הסשן הנוכחי).
   - "Vector index = long-term semantic recall" (אינדקס וקטורים = שליפה סמנטית לטווח ארוך).
   - "TTL-based decay → agents forget stale context automatically" (דעיכה מבוססת TTL → סוכנים שוכחים הקשר ישן באופן אוטומטי).
בתחתית השקופית — פס נייבי כהה צר שמכיל את המשפט הזה בצבע ירוק-לימוני: "In production with high query redundancy, semantic caching savings often offset the entire Redis cluster cost" (בסביבת ייצור עם רדונדנטיות גבוהה של שאילתות, החיסכון מ-Semantic Cache לרוב מכסה את כל עלות הקלאסטר).
★ תרגום מושגים:
• AI Application Layer — שכבת אפליקציית ה-AI.
• Production-grade — ברמת ייצור / איכות אנטרפרייז.
• Python client — קליינט Python: ספרייה שמתחברת ל-Redis מקוד Python.
• Document chunks — מקטעי מסמך: חלוקת מסמך ארוך לחלקים קטנים (פסקאות, משפטים) שכל אחד הופך לוקטור עצמאי.
• Metadata — מטא-דאטה: מידע על המידע (תאריך, מחבר, תגיות, הרשאות).
• Hash / JSON — סוגי מבני נתונים ב-Redis (Hash הוא מילון פשוט, JSON תומך במבנה מורצף ומקונן).
• MultiVectorQuery — שאילתה שיכולה להחזיק מספר וקטורי שאילתה ולמזג תוצאות.
• Hybrid RRF — שילוב חיפוש היברידי עם RRF (כפי שראינו בשקופית הקודמת).
• First-class integration — אינטגרציה מובנית / מהשורה הראשונה: לא תוסף עוקף, אלא חלק רשמי מהמוצר.
• Semantic Cache — מטמון סמנטי: שמירת תשובות לפי משמעות השאלה ולא לפי הטקסט שלה.
• Vectorize — לוקטר / להפוך לוקטור (להריץ embedding).
• Threshold — סף: ערך מספרי שמעליו/מתחתיו מתקבלת החלטה (כאן: כמה דומה זה 'מספיק דומה').
• Cached response — תשובה מטומונת.
• LLM API spend — הוצאות API של LLM (כמה דולרים ביום על קריאות ל-OpenAI/Anthropic).
• Sub-ms — מילישנייה אחת או פחות.
• Agentic Memory — זיכרון של סוכן AI.
• Short-term / Long-term memory — זיכרון לטווח קצר / ארוך (אנלוגיה למוח אנושי).
• Working memory — זיכרון עבודה.
• Lists / Streams — מבני נתונים ב-Redis: List היא רשימה כרונולוגית, Stream דומה אבל עם מזהי הודעות חזקים יותר ותמיכה ב-consumer groups.
• Long-term recall — שליפה לטווח ארוך.
• TTL (Time-To-Live) — אורך חיים: זמן בשניות שאחריו המפתח נמחק אוטומטית.
• Decay — דעיכה (אנלוגיה לשכחה אנושית).
• Stale context — הקשר ישן / לא רלוונטי.
• Query redundancy — רדונדנטיות שאילתות: כמה שאלות חוזרות על עצמן (במחקר טיפוסי, 30-50% מהשאילתות הן דומות).
• Offset the cost — מכסה את העלות.
★ הקשר לפני השקף: עד עכשיו דיברנו על מה Redis יכול לעשות. השקף הזה מציג שלושה דברים שאם נחליט בעתיד לבנות אפליקציית AI אצלנו, אלו הכלים שיהיו לנו בהישג יד.
★ הסיפור (4-5 דקות):
"השקף הזה מציג שלוש יכולות שמגיעות 'בחבילה' עם Redis 8, וכל אחת מהן עונה על בעיה אחרת. נעבור על שלושתן.
הראשונה (העמודה השמאלית באדום) היא RedisVL — ראשי תיבות של Redis Vector Library. זו ספריית Python שאינה חלק מ-Redis עצמו, אלא שכבת אבסטרקציה שמותקנת אצל המפתח. למה היא חשובה? כי כתיבת קוד מול Redis ל-Vector Search הוא לא טריוויאלי — צריך לפרמט וקטורים, להגדיר אינדקסים מורכבים, לטפל ב-encoding. RedisVL פותר את כל זה. במקום 50 שורות קוד, המפתח כותב 5. בנוסף, היא מתחברת אוטומטית למודלי Embedding (OpenAI, HuggingFace, Cohere) ולמסגרות פיתוח פופולריות (LangChain, LlamaIndex) שצוותי AI משתמשים בהן. מבחינתנו: כשמפתחים יבואו לבנות, יש להם API נקי לעבודה.
השנייה (העמודה האמצעית בנייבי) היא Semantic Cache — מטמון סמנטי. זה הפיצ'ר שלדעתי הכי שווה להכיר. הבעיה שהוא פותר: קריאות ל-LLM (כמו ChatGPT) הן יקרות וגם איטיות. כל קריאה עולה כמה סנטים ולוקחת כמה שניות. עכשיו דמיינו צ'אטבוט תמיכה — 40-70% מהשאלות הן וריאציות של אותן 50 שאלות נפוצות. השאלות 'איך מאפסים סיסמה?' ו'איפה אני משנה את הסיסמה שלי?' הן בעצם אותה שאלה. מטמון מסורתי לא יזהה את זה — הוא משווה מחרוזות. Semantic Cache הופך את השאלה לוקטור ומחפש שאלות דומות סמנטית במטמון. אם נמצא — מחזיר מיד את התשובה ששמורה, חוסך קריאה ל-LLM. תגובה תוך 1 מילישנייה במקום 2 שניות. במקרים שראיתי, זה חוסך 60-70% מקריאות ה-LLM. זה לא רק חיסכון כספי — זה גם הבדל בחווית המשתמש.
השלישית (העמודה הימנית באדום) היא Agentic Memory — זיכרון לסוכני AI. סוכן AI (Agent) הוא מערכת שלא רק עונה על שאלות אלא מבצעת משימות מורכבות. כדי לעשות את זה היא צריכה זיכרון. שני סוגי זיכרון, בעצם:
• זיכרון לטווח קצר — מה קרה לפני 30 שניות? איזה כלי השתמשתי? מה הייתה התוצאה? זה זיכרון סדרתי, מהיר, קצר. ב-Redis זה List או Stream.
• זיכרון לטווח ארוך — מה המשתמש סיפר עלי לפני שבוע? אלו העדפות הוא ציין? זה זיכרון סמנטי, נשלף לפי דמיון. ב-Redis זה Vector Index.
היופי הוא ששני הזיכרונות יושבים באותו Redis instance. אין צורך לשלב מערכות נפרדות.
הקופסה השחורה בתחתית מסכמת את הזווית הכלכלית: ברוב המערכות ייצור עם שאילתות חוזרות, החיסכון של Semantic Cache לבדו מכסה את עלות הקלאסטר של Redis. כלומר היכולת משלמת את עצמה.
מה לקחת מהשקף: כשנגיע לבנות, אלו הכלים שאנחנו יכולים להציע לצוותי הפיתוח. לא צריך לבנות מאפס."
★ שאלה צפויה: "האם RedisVL היא Open Source או Enterprise feature?" — תשובה: RedisVL היא Apache 2.0, פתוחה לחלוטין. עובדת על Redis Open Source ועל Redis Enterprise. אין מחיר.</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7 מתוך 8 — סקלאביליות, TCO ומיצוב תחרותי.
★ מה אתה רואה על השקופית:
תווית: "06 · ENTERPRISE ECONOMICS" (כלכלת ארגון), כותרת: "Scalability, TCO and Competitive Positioning".
4 קלפים בפריסת 2x2:
• שמאל-עליון (פס אדום-כתום): "Redis Flex — RAM + NVMe data tiering". בתוכו 3 שורות עם תוויות וברים כתומים-אדומים בעוצמות שונות:
   - "Hot keys (RAM)" — בר ארוך אדום-כתום. הערה: "queried vectors, indices" (וקטורים ואינדקסים בשימוש).
   - "Warm (RAM/NVMe)" — בר באמצע באורנג' בהיר. הערה: "recent sessions" (סשנים אחרונים).
   - "Cold (NVMe SSD)" — בר קצר בנייבי. הערה: "archived embeddings" (הטמעות בארכיון).
   בתחתית: "Up to 90% infra-cost reduction vs. pure RAM provisioning · ~10K ops/sec/core" (חיסכון של עד 90% בעלות תשתית לעומת הקצאת RAM טהור · כ-10,000 פעולות לשנייה לליבה).
• ימין-עליון (פס נייבי): "Decision matrix — when to choose which" — טבלה עם 4 שורות:
   - "Redis 8.x" — Cache + session + vectors already on Redis · sub-ms p99 latency demands.
   - "Pinecone (SaaS)" — Zero-ops, multi-tenant, spiky workloads · isolated AI stack acceptable.
   - "Milvus / Weaviate" — Tens of billions of vectors · GPU-accelerated · dedicated platform team.
   - "Postgres + pgvector" — Existing OLTP workload · small-to-medium vector sets in same DB.
• שמאל-תחתון (פס אפור): "Cluster sharding behaviour" — טקסט: "Up to 1,000 nodes via Redis Cluster. Writes (VADD/VREM) scale linearly via consistent hashing. Reads (VSIM) require scatter-gather across all shards — every shard returns its local top-K, the proxy merges. Plan shard counts carefully" (עד 1,000 צמתים. כתיבות מתפזרות לינארית; קריאות דורשות scatter-gather — לתכנן בקפידה).
• ימין-תחתון (רקע נייבי כהה, כותרת ירוקה-לימונית): "VectorDBBench results (Recall ≥ 0.98)" — שתי שורות מודגשות בלבן עם הסבר באפור-בהיר: "+62% throughput vs. #2 on deep-image-96-angular" ו-"+21% throughput vs. #2 on dbpedia-openai-1M-angular".
★ תרגום מושגים:
• Enterprise Economics — כלכלת ארגון: עלויות תשתית, רישוי, תפעול בקנה מידה גדול.
• TCO (Total Cost of Ownership) — עלות בעלות כוללת: סך כל ההוצאות של מערכת על פני זמן (לא רק רכישה).
• Scalability — סקלאביליות: יכולת להתרחב ולעבוד תחת עומס גובר.
• Competitive Positioning — מיצוב תחרותי: איפה המוצר עומד מול אלטרנטיבות.
• Redis Flex — מותג של Redis לטכנולוגיית tiering (לשעבר Redis on Flash).
• Data tiering — שכבות נתונים: שמירת נתונים ב-2 או 3 רמות אחסון (מהיר/יקר ↔ איטי/זול) לפי תדירות שימוש.
• Hot / Warm / Cold keys — מפתחות חמים/חמימים/קרים: לפי תדירות גישה.
• NVMe SSD — Non-Volatile Memory Express SSD: סוג כונן SSD מהיר במיוחד שמתחבר ישירות ל-PCIe (לא דרך SATA).
• Provisioning — הקצאה: כמה משאבים מקצים מראש.
• Ops/sec/core — operations per second per core: פעולות לשנייה לליבת CPU.
• Decision matrix — מטריצת החלטה: טבלה שעוזרת לבחור בין אלטרנטיבות.
• SaaS — Software-as-a-Service: שירות בענן שמוצרך כמנוי, לא מותקן אצלך.
• Multi-tenant — רב-דייר: ארכיטקטורה שמשרתת לקוחות שונים על אותה תשתית עם בידוד.
• Spiky workloads — עומסים מתפרצים: שימוש לא אחיד (לפעמים 100 בקשות/שנייה, לפעמים 10K).
• Zero-ops — אפס תפעול: שירות שאין צורך בכלל לתחזק.
• OLTP — Online Transaction Processing: מערכות לעיבוד טרנזקציות עסקיות בזמן אמת.
• pgvector — תוסף ל-PostgreSQL שמוסיף תמיכה בוקטורים.
• Cluster sharding — חלוקת קלאסטר ל-shards (פיסות).
• Shard — פיסה / שבר: חלק ממאגר נתונים שיושב על שרת ספציפי.
• Consistent hashing — האשינג עקבי: אלגוריתם שמחלק נתונים לפי hash ושומר על חלוקה גם כשמוסיפים/מסירים שרתים.
• VADD / VREM / VSIM — פקודות Redis לוקטורים: VADD = הוספה, VREM = הסרה, VSIM = חיפוש דמיון (similarity).
• Scatter-gather — פיזור-איסוף: שולחים שאילתה לכל ה-shards (פיזור), אוספים תוצאות וממזגים (איסוף).
• Latency additivity — Latency אדיטיבי: ככל שצריך לחכות ליותר שרתים, ה-Latency מצטבר.
• VectorDBBench — מבחן השוואה תקני בתעשייה לבסיסי נתונים וקטוריים.
• Recall ≥ 0.98 — דיוק שליפה ‎≥ 98%‎: סף איכות מקובל לבסיס נתונים מקצועי.
• deep-image-96-angular / dbpedia-openai-1M-angular — שמות datasets סטנדרטיים. הראשון תמונות עם 96 ממדים, השני מאמרים מ-DBpedia מקודדים ב-OpenAI עם מטריקת Angular (כמו Cosine).
★ הקשר נדרש לפני השקף: "השקף הזה מתעסק בשלוש שאלות תשתיתיות שיעלו אם נחליט להריץ Vector DB אצלנו: כמה זיכרון נצטרך, איך נסקלר אם המאגר גדל, ומה החלופות שכדאי להשוות אליהן."
★ הסיפור (4-5 דקות) — בגרסה למנגיש ידע:
"השקף מחולק לארבעה רבעים, כל אחד נותן זווית אחרת על שיקולים תפעוליים שכדאי להכיר. לא צריך לקבל החלטה היום — אבל צריך לדעת מה השאלות.
הרבע השמאלי-עליון (Redis Flex) מתעסק בעלות הזיכרון. הבעיה: וקטור טיפוסי של מודל OpenAI הוא 1,536 מספרים שתופסים 6KB. מיליון וקטורים = 6GB. מאה מיליון וקטורים = 600GB. לאחסן את זה ב-RAM זה יקר מאוד — RAM של 100GB ב-AWS עולה כ-1,500 דולר בחודש לכל הפחות. Redis Flex פותר את זה: שמירה אוטומטית של הוקטורים החמים (אלו שמחפשים אותם הרבה) ב-RAM, והסטה של הוקטורים הקרים ל-NVMe SSD — כונן SSD מהיר במיוחד. דומה במהותו ל-Swap של מערכת הפעלה, אבל חכם יותר. שלוש הברים שאתם רואים בקלף הם המחשה ויזואלית: וקטורים בשימוש (הבר הארוך) נשארים ב-RAM, וקטורים נדירים (הבר הקצר) יורדים ל-SSD. החיסכון בעלות יכול להגיע ל-90%, עם השפעה זניחה על Latency.
הרבע הימני-עליון הוא Decision Matrix — איזה כלי לבחור מתי. ארבעה מועמדים, כל אחד מתאים לסיטואציה אחרת:
• Redis 8.x — מתאים אם המערכת שלנו כבר משתמשת ב-Redis (וזה המצב אצלנו). להוסיף Vector Search זה לא להוסיף מערכת חדשה.
• Pinecone — שירות SaaS מנוהל. מצוין למי שלא רוצה לתחזק כלום. החיסרון — עוד מערכת בנפרד.
• Milvus / Weaviate — Open Source חזקים, אבל דורשים צוות תשתית ייעודי. רלוונטי לחברות עם מיליארדי וקטורים.
• Postgres + pgvector — אם המערכת רלציונית בעיקרה ויש פחות מ-10 מיליון וקטורים, זה לעיתים הפשוט ביותר.
מבחינתי כצוות תשתית, אין כאן 'הכי טוב' — יש התאמה לסיטואציה. השקף מספק לנו framework להחליט.
הרבע השמאלי-תחתון מסביר נקודה חשובה לצוות תשתית: כשנעבור ל-Redis Cluster, הפעולות הרגילות (SET/GET) מתחלקות יפה בין שרתים. אבל חיפוש וקטורי דורש 'scatter-gather' — לשלוח את השאילתה לכל השרתים בו-זמנית, כי אי אפשר לדעת מראש על איזה שרת נמצא הוקטור הקרוב. זה אומר שתכנון מספר ה-shards חשוב — יותר מדי שרתים יוסיפו latency. נקודה חשובה: AWS MemoryDB עדיין מוגבל ל-shard יחיד עבור Vector Search. אם נשתמש בו — צריך לדעת.
הרבע הימני-תחתון מציג בנצ'מרקים מ-VectorDBBench, הסטנדרט של התעשייה לבדיקת ביצועים של Vector DBs. תוצאות יחסיות ל-#2 בתעשייה. כלומר Redis 8 מהיר ב-62% ו-21% מהמתחרה הבא בשתי בדיקות סטנדרטיות, בתנאי Recall ≥ 0.98 — דרישת איכות שמקובלת בייצור.
מה לקחת מהשקף: יש כלי לכל מצב. Redis 8 הוא בחירה לגיטימית במיוחד כשהוא כבר חלק מה-Stack שלנו, אבל הוא לא 'הפתרון היחיד'. כשנגיע להחליט — נתאים את הבחירה לדרישות הספציפיות."
★ שאלה צפויה: "האם Redis Flex זה Enterprise-only?" — תשובה: כן, Flex היא יכולת של Redis Enterprise (Cloud או Self-managed). ב-Open Source זה לא קיים בצורה זו. הוסיף נקודה לבדיקה אם נחליט ללכת בכיוון.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שקופית 8 מתוך 8 — סיכום ושאלות.
★ מה אתה רואה על השקופית:
חזרה לרקע נייבי כהה (Big Stone) כמו בשקופית הפתיחה — סוגרים מעגל ויזואלי. פס דק אדום-כתום בראש.
לוגו Redis הרשמי בפינה השמאלית-עליונה.
כותרת ראשית גדולה בלבן: "Key Takeaways" (מסקנות מפתח).
כותרת משנה ירוקה-לימונית באיטליק: "Architecting Redis as the unified real-time AI data platform".
ארבעה כרטיסי "זכוכית" (white שקוף 92%) בפריסת 2x2, כל אחד עם:
   - עיגול אדום-כתום שמאלי עם מספר לבן ‎01, 02, 03, 04‎.
   - כותרת קצרה בלבן.
   - תיאור באפור-בהיר.
תוכן הכרטיסים:
01 - "Unify the stack" (אחדו את ה-Stack) — "Eliminate the standalone-vector-DB trap. Cache, session and vectors share one in-memory address space" (חסלו את מלכודת ה-Vector DB העצמאי. Cache, Session ווקטורים חולקים מרחב כתובות אחד בזיכרון).
02 - "Redis 8 is the engine" (Redis 8 הוא המנוע) — "Vector Sets, JSON and Search are now in the core — −87% latency, +144% QPS, native ACLs" (Vector Sets, JSON ו-Search כעת בליבה — ירידה של 87% ב-Latency, עלייה של 144% ב-QPS, ACLs מובנים).
03 - "Pick the right ANN" (בחרו את אלגוריתם ה-ANN הנכון) — "FLAT for tiny datasets, HNSW for production, SVS-VAMANA for billion-scale memory savings" (FLAT למאגרים קטנים, HNSW לייצור, SVS-VAMANA לחיסכון זיכרון בקנה מידה של מיליארדים).
04 - "TCO wins" (TCO מנצח) — "Redis Flex tiering + Semantic Cache often pay for the entire cluster. Start there tomorrow" (שכבות Flex + Semantic Cache לרוב מכסים את עלות הקלאסטר. התחילו שם מחר).
בתחתית — פס אדום-כתום שעובר את כל רוחב השקופית, עם הטקסט בלבן: "Q &amp; A · thank you" משמאל ו-"docs.redisvl.com · redis.io/blog · github.com/redis" מימין.
★ תרגום מושגים:
• Key Takeaways — מסקנות מפתח / סיכום עיקרי.
• Architecting — אדריכלות (כפועל): לתכנן את הארכיטקטורה של.
• Unified Real-Time AI Data Platform — פלטפורמת נתונים מאוחדת לבינה מלאכותית בזמן אמת.
• Eliminate — לחסל / לבטל.
• Trap — מלכודת.
• Address space — מרחב כתובות (טכני: כל הזיכרון הנגיש לתהליך).
• Native ACLs — ACLs מובנים (כחלק מהליבה ולא תוסף).
• ANN (Approximate Nearest Neighbor) — שכן קרוב בקירוב.
• Tiny datasets — מאגרים קטנים.
• Billion-scale — בקנה מידה של מיליארדים.
• Memory savings — חיסכון זיכרון.
• Tiering — שכבות אחסון.
• Q &amp; A — Questions &amp; Answers / שאלות ותשובות.
★ הסיפור (סיכום, 4-5 דקות) — בגרסה למנגיש ידע:
"בואו נסכם את 30 הדקות האחרונות בארבעה דברים שאני רוצה שתישארו איתם. אם תזכרו רק דבר אחד מהמצגת, אני מקווה שזה יהיה אחד מהארבעה האלה.
מסר 1 — מושג ה'Stack המאוחד'. הכרנו היום את הרעיון שבמערכת AI מודרנית יש 3 שכבות נתונים: עסקיים, מטמון/סשן, וחיפוש סמנטי. ראינו שהגישה הקלאסית מפצלת אותן ל-3 מערכות, וזה יוצר עלויות נסתרות. כשנגיע לבנות בארגון, כדאי לזכור שיש אופציה לאחד את שלושתן ב-Redis אחד.
מסר 2 — Redis 8 הוא לא ה-Redis שאנחנו זוכרים. אם בעבר Redis היה רק Cache, היום הוא פלטפורמת נתונים מלאה: Vector Search, JSON, Time-Series, ויותר. השדרוג ל-Redis 8 הוא משהו שאנחנו נעשה ממילא, וכשנעשה — נקבל את כל היכולות 'בחינם'.
מסר 3 — אלגוריתמי חיפוש. הכרנו 3 אלגוריתמים: FLAT (פשוט, איטי), HNSW (סטנדרט הייצור), SVS-VAMANA (חוסך זיכרון). כשמפתחים יבואו לבקש מאיתנו להקים Vector DB — נדע לשאול אותם 'איזה אלגוריתם?' ולהבין את ההשלכות.
מסר 4 — שיקולים תפעוליים. ראינו ש-Redis Flex מאפשר לחסוך עלויות זיכרון, שחיפוש ב-Cluster דורש תכנון מיוחד (scatter-gather), ושיש Decision Matrix להשוואה מול אלטרנטיבות. כל אלה נקודות שצריכות להיות לנו במודעות לפני שנקבל החלטה תשתיתית.
המסקנה האופרטיבית שלי: אני לא מציע שנעשה משהו מחר בבוקר. אני מציע שתי פעולות מתונות:
1. ברגע שמישהו בארגון יציע פרויקט שדורש 'Vector DB' או 'RAG' — שנוודא שב-Architecture Review השוואת Redis לאלטרנטיבות נכללת.
2. כשנשדרג Redis בפעם הבאה — שנשדרג לגרסה 8, גם אם עדיין אין שימוש בוקטור. ככה כשהצורך יגיע, התשתית תהיה מוכנה.
תודה לכולם על תשומת הלב. אני שמח לענות על שאלות."
★ נקודה לפתיחת שאלות:
"לפני שנעבור לשאלות, אשמח לדעת — אצל מי בארגון כאן מתחיל פרויקט שעלול לצטרך Vector Search או RAG? שווה שנדע מי המתעניינים."
★ תרחישי שאלות צפויות:
1. "מתי המעבר ל-Redis 8 צפוי אצלנו?" — תשובה הגונה: זה תלוי בלוחות הזמנים של צוות התשתית. כדאי לדבר על זה אחרי המצגת.
2. "האם זה מחליף את ה-Cache הקיים שלנו?" — תשובה: לא — זה אותו Redis, רק עם יותר יכולות. הקאש הקיים ימשיך לעבוד בלי שינוי.
3. "כמה זה יעלה לארגון?" — תשובה: בגלל שזה Open Source ב-Redis הקלאסי, רוב היכולות שראינו זמינות ללא תוספת מחיר. רק Redis Flex דורש Enterprise.
4. "איך לומדים את זה?" — תשובה: docs.redisvl.com יש tutorial של חצי שעה. אני ממליץ לכל מי שמתעניין.
5. "האם זה רלוונטי לפרויקטים non-AI?" — תשובה: בעיקר לא, אבל יכולות JSON ו-Search משופרות עוזרות גם שם.</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34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4438"/>
          </a:solidFill>
          <a:ln/>
        </p:spPr>
        <p:txBody>
          <a:bodyPr/>
          <a:lstStyle/>
          <a:p>
            <a:endParaRPr lang="en-IL"/>
          </a:p>
        </p:txBody>
      </p:sp>
      <p:sp>
        <p:nvSpPr>
          <p:cNvPr id="3" name="Shape 1"/>
          <p:cNvSpPr/>
          <p:nvPr/>
        </p:nvSpPr>
        <p:spPr>
          <a:xfrm rot="720000">
            <a:off x="5486400" y="-914400"/>
            <a:ext cx="5486400" cy="6400800"/>
          </a:xfrm>
          <a:prstGeom prst="rect">
            <a:avLst/>
          </a:prstGeom>
          <a:solidFill>
            <a:srgbClr val="FF4438">
              <a:alpha val="12000"/>
            </a:srgbClr>
          </a:solidFill>
          <a:ln/>
        </p:spPr>
        <p:txBody>
          <a:bodyPr/>
          <a:lstStyle/>
          <a:p>
            <a:endParaRPr lang="en-IL"/>
          </a:p>
        </p:txBody>
      </p:sp>
      <p:pic>
        <p:nvPicPr>
          <p:cNvPr id="4" name="Image 0" descr="/sessions/eloquent-friendly-cori/mnt/outputs/assets/redis_logo_trimmed.png"/>
          <p:cNvPicPr>
            <a:picLocks noChangeAspect="1"/>
          </p:cNvPicPr>
          <p:nvPr/>
        </p:nvPicPr>
        <p:blipFill>
          <a:blip r:embed="rId3"/>
          <a:stretch>
            <a:fillRect/>
          </a:stretch>
        </p:blipFill>
        <p:spPr>
          <a:xfrm>
            <a:off x="548640" y="640080"/>
            <a:ext cx="2286000" cy="731520"/>
          </a:xfrm>
          <a:prstGeom prst="rect">
            <a:avLst/>
          </a:prstGeom>
        </p:spPr>
      </p:pic>
      <p:sp>
        <p:nvSpPr>
          <p:cNvPr id="5" name="Text 2"/>
          <p:cNvSpPr/>
          <p:nvPr/>
        </p:nvSpPr>
        <p:spPr>
          <a:xfrm>
            <a:off x="548640" y="1691640"/>
            <a:ext cx="8046720" cy="8686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Redis as a Vector Database</a:t>
            </a:r>
            <a:endParaRPr lang="en-US" sz="4400" dirty="0"/>
          </a:p>
        </p:txBody>
      </p:sp>
      <p:sp>
        <p:nvSpPr>
          <p:cNvPr id="6" name="Text 3"/>
          <p:cNvSpPr/>
          <p:nvPr/>
        </p:nvSpPr>
        <p:spPr>
          <a:xfrm>
            <a:off x="548640" y="2606040"/>
            <a:ext cx="8046720" cy="502920"/>
          </a:xfrm>
          <a:prstGeom prst="rect">
            <a:avLst/>
          </a:prstGeom>
          <a:noFill/>
          <a:ln/>
        </p:spPr>
        <p:txBody>
          <a:bodyPr wrap="square" lIns="0" tIns="0" rIns="0" bIns="0" rtlCol="0" anchor="ctr"/>
          <a:lstStyle/>
          <a:p>
            <a:pPr marL="0" indent="0">
              <a:buNone/>
            </a:pPr>
            <a:r>
              <a:rPr lang="en-US" sz="2400" dirty="0">
                <a:solidFill>
                  <a:srgbClr val="DCFF1E"/>
                </a:solidFill>
                <a:latin typeface="Calibri" pitchFamily="34" charset="0"/>
                <a:ea typeface="Calibri" pitchFamily="34" charset="-122"/>
                <a:cs typeface="Calibri" pitchFamily="34" charset="-120"/>
              </a:rPr>
              <a:t>Architecting for Real-Time AI</a:t>
            </a:r>
            <a:endParaRPr lang="en-US" sz="2400" dirty="0"/>
          </a:p>
        </p:txBody>
      </p:sp>
      <p:sp>
        <p:nvSpPr>
          <p:cNvPr id="7" name="Text 4"/>
          <p:cNvSpPr/>
          <p:nvPr/>
        </p:nvSpPr>
        <p:spPr>
          <a:xfrm>
            <a:off x="548640" y="3246120"/>
            <a:ext cx="7315200" cy="822960"/>
          </a:xfrm>
          <a:prstGeom prst="rect">
            <a:avLst/>
          </a:prstGeom>
          <a:noFill/>
          <a:ln/>
        </p:spPr>
        <p:txBody>
          <a:bodyPr wrap="square" lIns="0" tIns="0" rIns="0" bIns="0" rtlCol="0" anchor="ctr"/>
          <a:lstStyle/>
          <a:p>
            <a:pPr marL="0" indent="0">
              <a:spcAft>
                <a:spcPts val="400"/>
              </a:spcAft>
              <a:buNone/>
            </a:pPr>
            <a:r>
              <a:rPr lang="en-US" sz="1350" dirty="0">
                <a:solidFill>
                  <a:srgbClr val="C9D3DD"/>
                </a:solidFill>
                <a:latin typeface="Calibri" pitchFamily="34" charset="0"/>
                <a:ea typeface="Calibri" pitchFamily="34" charset="-122"/>
                <a:cs typeface="Calibri" pitchFamily="34" charset="-120"/>
              </a:rPr>
              <a:t>Unifying caching, session state, and high-dimensional vector retrieval inside a single in-memory platform — for sub-millisecond AI applications.</a:t>
            </a:r>
            <a:endParaRPr lang="en-US" sz="1350" dirty="0"/>
          </a:p>
        </p:txBody>
      </p:sp>
      <p:sp>
        <p:nvSpPr>
          <p:cNvPr id="8" name="Shape 5"/>
          <p:cNvSpPr/>
          <p:nvPr/>
        </p:nvSpPr>
        <p:spPr>
          <a:xfrm>
            <a:off x="548640" y="4206240"/>
            <a:ext cx="4206240" cy="457200"/>
          </a:xfrm>
          <a:prstGeom prst="rect">
            <a:avLst/>
          </a:prstGeom>
          <a:solidFill>
            <a:srgbClr val="FFFFFF">
              <a:alpha val="8000"/>
            </a:srgbClr>
          </a:solidFill>
          <a:ln w="6350">
            <a:solidFill>
              <a:srgbClr val="FFFFFF"/>
            </a:solidFill>
            <a:prstDash val="solid"/>
          </a:ln>
        </p:spPr>
        <p:txBody>
          <a:bodyPr/>
          <a:lstStyle/>
          <a:p>
            <a:endParaRPr lang="en-IL"/>
          </a:p>
        </p:txBody>
      </p:sp>
      <p:sp>
        <p:nvSpPr>
          <p:cNvPr id="9" name="Text 6"/>
          <p:cNvSpPr/>
          <p:nvPr/>
        </p:nvSpPr>
        <p:spPr>
          <a:xfrm>
            <a:off x="640080" y="4206240"/>
            <a:ext cx="4114800" cy="457200"/>
          </a:xfrm>
          <a:prstGeom prst="rect">
            <a:avLst/>
          </a:prstGeom>
          <a:noFill/>
          <a:ln/>
        </p:spPr>
        <p:txBody>
          <a:bodyPr wrap="square" lIns="0" tIns="0" rIns="0" bIns="0" rtlCol="0" anchor="ctr"/>
          <a:lstStyle/>
          <a:p>
            <a:pPr marL="0" indent="0">
              <a:buNone/>
            </a:pPr>
            <a:r>
              <a:rPr lang="en-US" sz="1100" dirty="0">
                <a:solidFill>
                  <a:srgbClr val="E5EAF0"/>
                </a:solidFill>
                <a:latin typeface="Calibri" pitchFamily="34" charset="0"/>
                <a:ea typeface="Calibri" pitchFamily="34" charset="-122"/>
                <a:cs typeface="Calibri" pitchFamily="34" charset="-120"/>
              </a:rPr>
              <a:t>25-min technical deep-dive  ·  R&amp;D, Architects, Developers</a:t>
            </a:r>
            <a:endParaRPr lang="en-US" sz="1100" dirty="0"/>
          </a:p>
        </p:txBody>
      </p:sp>
      <p:sp>
        <p:nvSpPr>
          <p:cNvPr id="10" name="Text 7"/>
          <p:cNvSpPr/>
          <p:nvPr/>
        </p:nvSpPr>
        <p:spPr>
          <a:xfrm>
            <a:off x="548640" y="4709160"/>
            <a:ext cx="5486400" cy="274320"/>
          </a:xfrm>
          <a:prstGeom prst="rect">
            <a:avLst/>
          </a:prstGeom>
          <a:noFill/>
          <a:ln/>
        </p:spPr>
        <p:txBody>
          <a:bodyPr wrap="square" lIns="0" tIns="0" rIns="0" bIns="0" rtlCol="0" anchor="ctr"/>
          <a:lstStyle/>
          <a:p>
            <a:pPr marL="0" indent="0">
              <a:buNone/>
            </a:pPr>
            <a:r>
              <a:rPr lang="en-US" sz="950" i="1" dirty="0">
                <a:solidFill>
                  <a:srgbClr val="8A95A4"/>
                </a:solidFill>
                <a:latin typeface="Calibri" pitchFamily="34" charset="0"/>
                <a:ea typeface="Calibri" pitchFamily="34" charset="-122"/>
                <a:cs typeface="Calibri" pitchFamily="34" charset="-120"/>
              </a:rPr>
              <a:t>eli  ·  Redis 8.x  ·  May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01  ·  PROBLEM STATEMENT</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The Data Bottleneck of the AI Era</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Shape 4"/>
          <p:cNvSpPr/>
          <p:nvPr/>
        </p:nvSpPr>
        <p:spPr>
          <a:xfrm>
            <a:off x="457200" y="1051560"/>
            <a:ext cx="4023360" cy="3657600"/>
          </a:xfrm>
          <a:prstGeom prst="rect">
            <a:avLst/>
          </a:prstGeom>
          <a:solidFill>
            <a:srgbClr val="FFFFFF"/>
          </a:solidFill>
          <a:ln w="9525">
            <a:solidFill>
              <a:srgbClr val="E5E8EE"/>
            </a:solidFill>
            <a:prstDash val="solid"/>
          </a:ln>
        </p:spPr>
        <p:txBody>
          <a:bodyPr/>
          <a:lstStyle/>
          <a:p>
            <a:endParaRPr lang="en-IL"/>
          </a:p>
        </p:txBody>
      </p:sp>
      <p:sp>
        <p:nvSpPr>
          <p:cNvPr id="8" name="Shape 5"/>
          <p:cNvSpPr/>
          <p:nvPr/>
        </p:nvSpPr>
        <p:spPr>
          <a:xfrm>
            <a:off x="457200" y="1051560"/>
            <a:ext cx="4023360" cy="384048"/>
          </a:xfrm>
          <a:prstGeom prst="rect">
            <a:avLst/>
          </a:prstGeom>
          <a:solidFill>
            <a:srgbClr val="163341"/>
          </a:solidFill>
          <a:ln/>
        </p:spPr>
        <p:txBody>
          <a:bodyPr/>
          <a:lstStyle/>
          <a:p>
            <a:endParaRPr lang="en-IL"/>
          </a:p>
        </p:txBody>
      </p:sp>
      <p:sp>
        <p:nvSpPr>
          <p:cNvPr id="9" name="Text 6"/>
          <p:cNvSpPr/>
          <p:nvPr/>
        </p:nvSpPr>
        <p:spPr>
          <a:xfrm>
            <a:off x="594360" y="1051560"/>
            <a:ext cx="3749040" cy="384048"/>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BEFORE  —  Fragmented Stack</a:t>
            </a:r>
            <a:endParaRPr lang="en-US" sz="1100" dirty="0"/>
          </a:p>
        </p:txBody>
      </p:sp>
      <p:sp>
        <p:nvSpPr>
          <p:cNvPr id="10" name="Shape 7"/>
          <p:cNvSpPr/>
          <p:nvPr/>
        </p:nvSpPr>
        <p:spPr>
          <a:xfrm>
            <a:off x="731520" y="1691640"/>
            <a:ext cx="3474720" cy="640080"/>
          </a:xfrm>
          <a:prstGeom prst="roundRect">
            <a:avLst>
              <a:gd name="adj" fmla="val 8571"/>
            </a:avLst>
          </a:prstGeom>
          <a:solidFill>
            <a:srgbClr val="F4F6FA"/>
          </a:solidFill>
          <a:ln w="6350">
            <a:solidFill>
              <a:srgbClr val="D9DDE3"/>
            </a:solidFill>
            <a:prstDash val="solid"/>
          </a:ln>
        </p:spPr>
        <p:txBody>
          <a:bodyPr/>
          <a:lstStyle/>
          <a:p>
            <a:endParaRPr lang="en-IL"/>
          </a:p>
        </p:txBody>
      </p:sp>
      <p:sp>
        <p:nvSpPr>
          <p:cNvPr id="11" name="Text 8"/>
          <p:cNvSpPr/>
          <p:nvPr/>
        </p:nvSpPr>
        <p:spPr>
          <a:xfrm>
            <a:off x="868680" y="1737360"/>
            <a:ext cx="3200400" cy="548640"/>
          </a:xfrm>
          <a:prstGeom prst="rect">
            <a:avLst/>
          </a:prstGeom>
          <a:noFill/>
          <a:ln/>
        </p:spPr>
        <p:txBody>
          <a:bodyPr wrap="square" lIns="0" tIns="0" rIns="0" bIns="0" rtlCol="0" anchor="ctr"/>
          <a:lstStyle/>
          <a:p>
            <a:pPr marL="0" indent="0">
              <a:buNone/>
            </a:pPr>
            <a:r>
              <a:rPr lang="en-US" sz="1050" dirty="0">
                <a:solidFill>
                  <a:srgbClr val="3A4756"/>
                </a:solidFill>
                <a:latin typeface="Calibri" pitchFamily="34" charset="0"/>
                <a:ea typeface="Calibri" pitchFamily="34" charset="-122"/>
                <a:cs typeface="Calibri" pitchFamily="34" charset="-120"/>
              </a:rPr>
              <a:t>Primary RDBMS</a:t>
            </a:r>
            <a:endParaRPr lang="en-US" sz="1050" dirty="0"/>
          </a:p>
          <a:p>
            <a:pPr marL="0" indent="0">
              <a:buNone/>
            </a:pPr>
            <a:r>
              <a:rPr lang="en-US" sz="1050" dirty="0">
                <a:solidFill>
                  <a:srgbClr val="3A4756"/>
                </a:solidFill>
                <a:latin typeface="Calibri" pitchFamily="34" charset="0"/>
                <a:ea typeface="Calibri" pitchFamily="34" charset="-122"/>
                <a:cs typeface="Calibri" pitchFamily="34" charset="-120"/>
              </a:rPr>
              <a:t>(transactional state)</a:t>
            </a:r>
            <a:endParaRPr lang="en-US" sz="1050" dirty="0"/>
          </a:p>
        </p:txBody>
      </p:sp>
      <p:sp>
        <p:nvSpPr>
          <p:cNvPr id="12" name="Text 9"/>
          <p:cNvSpPr/>
          <p:nvPr/>
        </p:nvSpPr>
        <p:spPr>
          <a:xfrm>
            <a:off x="3383280" y="2331720"/>
            <a:ext cx="1280160" cy="137160"/>
          </a:xfrm>
          <a:prstGeom prst="rect">
            <a:avLst/>
          </a:prstGeom>
          <a:noFill/>
          <a:ln/>
        </p:spPr>
        <p:txBody>
          <a:bodyPr wrap="square" lIns="0" tIns="0" rIns="0" bIns="0" rtlCol="0" anchor="ctr"/>
          <a:lstStyle/>
          <a:p>
            <a:pPr marL="0" indent="0" algn="r">
              <a:buNone/>
            </a:pPr>
            <a:r>
              <a:rPr lang="en-US" sz="800" i="1" dirty="0">
                <a:solidFill>
                  <a:srgbClr val="FF4438"/>
                </a:solidFill>
                <a:latin typeface="Calibri" pitchFamily="34" charset="0"/>
                <a:ea typeface="Calibri" pitchFamily="34" charset="-122"/>
                <a:cs typeface="Calibri" pitchFamily="34" charset="-120"/>
              </a:rPr>
              <a:t>⇅  network hop</a:t>
            </a:r>
            <a:endParaRPr lang="en-US" sz="800" dirty="0"/>
          </a:p>
        </p:txBody>
      </p:sp>
      <p:sp>
        <p:nvSpPr>
          <p:cNvPr id="13" name="Shape 10"/>
          <p:cNvSpPr/>
          <p:nvPr/>
        </p:nvSpPr>
        <p:spPr>
          <a:xfrm>
            <a:off x="731520" y="2468880"/>
            <a:ext cx="3474720" cy="640080"/>
          </a:xfrm>
          <a:prstGeom prst="roundRect">
            <a:avLst>
              <a:gd name="adj" fmla="val 8571"/>
            </a:avLst>
          </a:prstGeom>
          <a:solidFill>
            <a:srgbClr val="F4F6FA"/>
          </a:solidFill>
          <a:ln w="6350">
            <a:solidFill>
              <a:srgbClr val="D9DDE3"/>
            </a:solidFill>
            <a:prstDash val="solid"/>
          </a:ln>
        </p:spPr>
        <p:txBody>
          <a:bodyPr/>
          <a:lstStyle/>
          <a:p>
            <a:endParaRPr lang="en-IL"/>
          </a:p>
        </p:txBody>
      </p:sp>
      <p:sp>
        <p:nvSpPr>
          <p:cNvPr id="14" name="Text 11"/>
          <p:cNvSpPr/>
          <p:nvPr/>
        </p:nvSpPr>
        <p:spPr>
          <a:xfrm>
            <a:off x="868680" y="2514600"/>
            <a:ext cx="3200400" cy="548640"/>
          </a:xfrm>
          <a:prstGeom prst="rect">
            <a:avLst/>
          </a:prstGeom>
          <a:noFill/>
          <a:ln/>
        </p:spPr>
        <p:txBody>
          <a:bodyPr wrap="square" lIns="0" tIns="0" rIns="0" bIns="0" rtlCol="0" anchor="ctr"/>
          <a:lstStyle/>
          <a:p>
            <a:pPr marL="0" indent="0">
              <a:buNone/>
            </a:pPr>
            <a:r>
              <a:rPr lang="en-US" sz="1050" dirty="0">
                <a:solidFill>
                  <a:srgbClr val="3A4756"/>
                </a:solidFill>
                <a:latin typeface="Calibri" pitchFamily="34" charset="0"/>
                <a:ea typeface="Calibri" pitchFamily="34" charset="-122"/>
                <a:cs typeface="Calibri" pitchFamily="34" charset="-120"/>
              </a:rPr>
              <a:t>In-Memory Cache</a:t>
            </a:r>
            <a:endParaRPr lang="en-US" sz="1050" dirty="0"/>
          </a:p>
          <a:p>
            <a:pPr marL="0" indent="0">
              <a:buNone/>
            </a:pPr>
            <a:r>
              <a:rPr lang="en-US" sz="1050" dirty="0">
                <a:solidFill>
                  <a:srgbClr val="3A4756"/>
                </a:solidFill>
                <a:latin typeface="Calibri" pitchFamily="34" charset="0"/>
                <a:ea typeface="Calibri" pitchFamily="34" charset="-122"/>
                <a:cs typeface="Calibri" pitchFamily="34" charset="-120"/>
              </a:rPr>
              <a:t>(session state)</a:t>
            </a:r>
            <a:endParaRPr lang="en-US" sz="1050" dirty="0"/>
          </a:p>
        </p:txBody>
      </p:sp>
      <p:sp>
        <p:nvSpPr>
          <p:cNvPr id="15" name="Text 12"/>
          <p:cNvSpPr/>
          <p:nvPr/>
        </p:nvSpPr>
        <p:spPr>
          <a:xfrm>
            <a:off x="3383280" y="3108960"/>
            <a:ext cx="1280160" cy="137160"/>
          </a:xfrm>
          <a:prstGeom prst="rect">
            <a:avLst/>
          </a:prstGeom>
          <a:noFill/>
          <a:ln/>
        </p:spPr>
        <p:txBody>
          <a:bodyPr wrap="square" lIns="0" tIns="0" rIns="0" bIns="0" rtlCol="0" anchor="ctr"/>
          <a:lstStyle/>
          <a:p>
            <a:pPr marL="0" indent="0" algn="r">
              <a:buNone/>
            </a:pPr>
            <a:r>
              <a:rPr lang="en-US" sz="800" i="1" dirty="0">
                <a:solidFill>
                  <a:srgbClr val="FF4438"/>
                </a:solidFill>
                <a:latin typeface="Calibri" pitchFamily="34" charset="0"/>
                <a:ea typeface="Calibri" pitchFamily="34" charset="-122"/>
                <a:cs typeface="Calibri" pitchFamily="34" charset="-120"/>
              </a:rPr>
              <a:t>⇅  network hop</a:t>
            </a:r>
            <a:endParaRPr lang="en-US" sz="800" dirty="0"/>
          </a:p>
        </p:txBody>
      </p:sp>
      <p:sp>
        <p:nvSpPr>
          <p:cNvPr id="16" name="Shape 13"/>
          <p:cNvSpPr/>
          <p:nvPr/>
        </p:nvSpPr>
        <p:spPr>
          <a:xfrm>
            <a:off x="731520" y="3246120"/>
            <a:ext cx="3474720" cy="640080"/>
          </a:xfrm>
          <a:prstGeom prst="roundRect">
            <a:avLst>
              <a:gd name="adj" fmla="val 8571"/>
            </a:avLst>
          </a:prstGeom>
          <a:solidFill>
            <a:srgbClr val="F4F6FA"/>
          </a:solidFill>
          <a:ln w="6350">
            <a:solidFill>
              <a:srgbClr val="D9DDE3"/>
            </a:solidFill>
            <a:prstDash val="solid"/>
          </a:ln>
        </p:spPr>
        <p:txBody>
          <a:bodyPr/>
          <a:lstStyle/>
          <a:p>
            <a:endParaRPr lang="en-IL"/>
          </a:p>
        </p:txBody>
      </p:sp>
      <p:sp>
        <p:nvSpPr>
          <p:cNvPr id="17" name="Text 14"/>
          <p:cNvSpPr/>
          <p:nvPr/>
        </p:nvSpPr>
        <p:spPr>
          <a:xfrm>
            <a:off x="868680" y="3291840"/>
            <a:ext cx="3200400" cy="548640"/>
          </a:xfrm>
          <a:prstGeom prst="rect">
            <a:avLst/>
          </a:prstGeom>
          <a:noFill/>
          <a:ln/>
        </p:spPr>
        <p:txBody>
          <a:bodyPr wrap="square" lIns="0" tIns="0" rIns="0" bIns="0" rtlCol="0" anchor="ctr"/>
          <a:lstStyle/>
          <a:p>
            <a:pPr marL="0" indent="0">
              <a:buNone/>
            </a:pPr>
            <a:r>
              <a:rPr lang="en-US" sz="1050" dirty="0">
                <a:solidFill>
                  <a:srgbClr val="3A4756"/>
                </a:solidFill>
                <a:latin typeface="Calibri" pitchFamily="34" charset="0"/>
                <a:ea typeface="Calibri" pitchFamily="34" charset="-122"/>
                <a:cs typeface="Calibri" pitchFamily="34" charset="-120"/>
              </a:rPr>
              <a:t>Standalone Vector DB</a:t>
            </a:r>
            <a:endParaRPr lang="en-US" sz="1050" dirty="0"/>
          </a:p>
          <a:p>
            <a:pPr marL="0" indent="0">
              <a:buNone/>
            </a:pPr>
            <a:r>
              <a:rPr lang="en-US" sz="1050" dirty="0">
                <a:solidFill>
                  <a:srgbClr val="3A4756"/>
                </a:solidFill>
                <a:latin typeface="Calibri" pitchFamily="34" charset="0"/>
                <a:ea typeface="Calibri" pitchFamily="34" charset="-122"/>
                <a:cs typeface="Calibri" pitchFamily="34" charset="-120"/>
              </a:rPr>
              <a:t>(embeddings only)</a:t>
            </a:r>
            <a:endParaRPr lang="en-US" sz="1050" dirty="0"/>
          </a:p>
        </p:txBody>
      </p:sp>
      <p:sp>
        <p:nvSpPr>
          <p:cNvPr id="18" name="Text 15"/>
          <p:cNvSpPr/>
          <p:nvPr/>
        </p:nvSpPr>
        <p:spPr>
          <a:xfrm>
            <a:off x="640080" y="4343400"/>
            <a:ext cx="3657600" cy="274320"/>
          </a:xfrm>
          <a:prstGeom prst="rect">
            <a:avLst/>
          </a:prstGeom>
          <a:noFill/>
          <a:ln/>
        </p:spPr>
        <p:txBody>
          <a:bodyPr wrap="square" lIns="0" tIns="0" rIns="0" bIns="0" rtlCol="0" anchor="ctr"/>
          <a:lstStyle/>
          <a:p>
            <a:pPr marL="0" indent="0">
              <a:buNone/>
            </a:pPr>
            <a:r>
              <a:rPr lang="en-US" sz="1000" i="1" dirty="0">
                <a:solidFill>
                  <a:srgbClr val="5A6678"/>
                </a:solidFill>
                <a:latin typeface="Calibri" pitchFamily="34" charset="0"/>
                <a:ea typeface="Calibri" pitchFamily="34" charset="-122"/>
                <a:cs typeface="Calibri" pitchFamily="34" charset="-120"/>
              </a:rPr>
              <a:t>Result: latency tax, sync drift, duplicated infra cost</a:t>
            </a:r>
            <a:endParaRPr lang="en-US" sz="1000" dirty="0"/>
          </a:p>
        </p:txBody>
      </p:sp>
      <p:sp>
        <p:nvSpPr>
          <p:cNvPr id="19" name="Shape 16"/>
          <p:cNvSpPr/>
          <p:nvPr/>
        </p:nvSpPr>
        <p:spPr>
          <a:xfrm>
            <a:off x="4663440" y="1051560"/>
            <a:ext cx="4023360" cy="3657600"/>
          </a:xfrm>
          <a:prstGeom prst="rect">
            <a:avLst/>
          </a:prstGeom>
          <a:solidFill>
            <a:srgbClr val="FFFFFF"/>
          </a:solidFill>
          <a:ln w="9525">
            <a:solidFill>
              <a:srgbClr val="E5E8EE"/>
            </a:solidFill>
            <a:prstDash val="solid"/>
          </a:ln>
        </p:spPr>
        <p:txBody>
          <a:bodyPr/>
          <a:lstStyle/>
          <a:p>
            <a:endParaRPr lang="en-IL"/>
          </a:p>
        </p:txBody>
      </p:sp>
      <p:sp>
        <p:nvSpPr>
          <p:cNvPr id="20" name="Shape 17"/>
          <p:cNvSpPr/>
          <p:nvPr/>
        </p:nvSpPr>
        <p:spPr>
          <a:xfrm>
            <a:off x="4663440" y="1051560"/>
            <a:ext cx="4023360" cy="384048"/>
          </a:xfrm>
          <a:prstGeom prst="rect">
            <a:avLst/>
          </a:prstGeom>
          <a:solidFill>
            <a:srgbClr val="FF4438"/>
          </a:solidFill>
          <a:ln/>
        </p:spPr>
        <p:txBody>
          <a:bodyPr/>
          <a:lstStyle/>
          <a:p>
            <a:endParaRPr lang="en-IL"/>
          </a:p>
        </p:txBody>
      </p:sp>
      <p:sp>
        <p:nvSpPr>
          <p:cNvPr id="21" name="Text 18"/>
          <p:cNvSpPr/>
          <p:nvPr/>
        </p:nvSpPr>
        <p:spPr>
          <a:xfrm>
            <a:off x="4800600" y="1051560"/>
            <a:ext cx="3749040" cy="384048"/>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AFTER  —  Unified Real-Time Platform</a:t>
            </a:r>
            <a:endParaRPr lang="en-US" sz="1100" dirty="0"/>
          </a:p>
        </p:txBody>
      </p:sp>
      <p:sp>
        <p:nvSpPr>
          <p:cNvPr id="22" name="Shape 19"/>
          <p:cNvSpPr/>
          <p:nvPr/>
        </p:nvSpPr>
        <p:spPr>
          <a:xfrm>
            <a:off x="4937760" y="1691640"/>
            <a:ext cx="3474720" cy="2377440"/>
          </a:xfrm>
          <a:prstGeom prst="roundRect">
            <a:avLst>
              <a:gd name="adj" fmla="val 3077"/>
            </a:avLst>
          </a:prstGeom>
          <a:solidFill>
            <a:srgbClr val="FFF6F4"/>
          </a:solidFill>
          <a:ln w="15240">
            <a:solidFill>
              <a:srgbClr val="FF4438"/>
            </a:solidFill>
            <a:prstDash val="solid"/>
          </a:ln>
        </p:spPr>
        <p:txBody>
          <a:bodyPr/>
          <a:lstStyle/>
          <a:p>
            <a:endParaRPr lang="en-IL"/>
          </a:p>
        </p:txBody>
      </p:sp>
      <p:pic>
        <p:nvPicPr>
          <p:cNvPr id="23" name="Image 1" descr="/sessions/eloquent-friendly-cori/mnt/outputs/assets/redis_cube.png"/>
          <p:cNvPicPr>
            <a:picLocks noChangeAspect="1"/>
          </p:cNvPicPr>
          <p:nvPr/>
        </p:nvPicPr>
        <p:blipFill>
          <a:blip r:embed="rId3"/>
          <a:stretch>
            <a:fillRect/>
          </a:stretch>
        </p:blipFill>
        <p:spPr>
          <a:xfrm>
            <a:off x="5074920" y="1828800"/>
            <a:ext cx="548640" cy="502920"/>
          </a:xfrm>
          <a:prstGeom prst="rect">
            <a:avLst/>
          </a:prstGeom>
        </p:spPr>
      </p:pic>
      <p:sp>
        <p:nvSpPr>
          <p:cNvPr id="24" name="Text 20"/>
          <p:cNvSpPr/>
          <p:nvPr/>
        </p:nvSpPr>
        <p:spPr>
          <a:xfrm>
            <a:off x="5669280" y="1856232"/>
            <a:ext cx="2926080" cy="274320"/>
          </a:xfrm>
          <a:prstGeom prst="rect">
            <a:avLst/>
          </a:prstGeom>
          <a:noFill/>
          <a:ln/>
        </p:spPr>
        <p:txBody>
          <a:bodyPr wrap="square" lIns="0" tIns="0" rIns="0" bIns="0" rtlCol="0" anchor="ctr"/>
          <a:lstStyle/>
          <a:p>
            <a:pPr marL="0" indent="0">
              <a:buNone/>
            </a:pPr>
            <a:r>
              <a:rPr lang="en-US" sz="1600" b="1" dirty="0">
                <a:solidFill>
                  <a:srgbClr val="163341"/>
                </a:solidFill>
                <a:latin typeface="Calibri" pitchFamily="34" charset="0"/>
                <a:ea typeface="Calibri" pitchFamily="34" charset="-122"/>
                <a:cs typeface="Calibri" pitchFamily="34" charset="-120"/>
              </a:rPr>
              <a:t>Redis 8.x</a:t>
            </a:r>
            <a:endParaRPr lang="en-US" sz="1600" dirty="0"/>
          </a:p>
        </p:txBody>
      </p:sp>
      <p:sp>
        <p:nvSpPr>
          <p:cNvPr id="25" name="Text 21"/>
          <p:cNvSpPr/>
          <p:nvPr/>
        </p:nvSpPr>
        <p:spPr>
          <a:xfrm>
            <a:off x="5669280" y="2130552"/>
            <a:ext cx="2926080" cy="201168"/>
          </a:xfrm>
          <a:prstGeom prst="rect">
            <a:avLst/>
          </a:prstGeom>
          <a:noFill/>
          <a:ln/>
        </p:spPr>
        <p:txBody>
          <a:bodyPr wrap="square" lIns="0" tIns="0" rIns="0" bIns="0" rtlCol="0" anchor="ctr"/>
          <a:lstStyle/>
          <a:p>
            <a:pPr marL="0" indent="0">
              <a:buNone/>
            </a:pPr>
            <a:r>
              <a:rPr lang="en-US" sz="900" dirty="0">
                <a:solidFill>
                  <a:srgbClr val="5A6678"/>
                </a:solidFill>
                <a:latin typeface="Calibri" pitchFamily="34" charset="0"/>
                <a:ea typeface="Calibri" pitchFamily="34" charset="-122"/>
                <a:cs typeface="Calibri" pitchFamily="34" charset="-120"/>
              </a:rPr>
              <a:t>Single in-memory address space</a:t>
            </a:r>
            <a:endParaRPr lang="en-US" sz="900" dirty="0"/>
          </a:p>
        </p:txBody>
      </p:sp>
      <p:sp>
        <p:nvSpPr>
          <p:cNvPr id="26" name="Shape 22"/>
          <p:cNvSpPr/>
          <p:nvPr/>
        </p:nvSpPr>
        <p:spPr>
          <a:xfrm>
            <a:off x="5074920" y="2468880"/>
            <a:ext cx="3200400" cy="411480"/>
          </a:xfrm>
          <a:prstGeom prst="rect">
            <a:avLst/>
          </a:prstGeom>
          <a:solidFill>
            <a:srgbClr val="FFFFFF"/>
          </a:solidFill>
          <a:ln w="6350">
            <a:solidFill>
              <a:srgbClr val="D9DDE3"/>
            </a:solidFill>
            <a:prstDash val="solid"/>
          </a:ln>
        </p:spPr>
        <p:txBody>
          <a:bodyPr/>
          <a:lstStyle/>
          <a:p>
            <a:endParaRPr lang="en-IL"/>
          </a:p>
        </p:txBody>
      </p:sp>
      <p:sp>
        <p:nvSpPr>
          <p:cNvPr id="27" name="Shape 23"/>
          <p:cNvSpPr/>
          <p:nvPr/>
        </p:nvSpPr>
        <p:spPr>
          <a:xfrm>
            <a:off x="5166360" y="2578608"/>
            <a:ext cx="182880" cy="182880"/>
          </a:xfrm>
          <a:prstGeom prst="line">
            <a:avLst/>
          </a:prstGeom>
          <a:solidFill>
            <a:srgbClr val="FF4438"/>
          </a:solidFill>
          <a:ln/>
        </p:spPr>
        <p:txBody>
          <a:bodyPr/>
          <a:lstStyle/>
          <a:p>
            <a:endParaRPr lang="en-IL"/>
          </a:p>
        </p:txBody>
      </p:sp>
      <p:sp>
        <p:nvSpPr>
          <p:cNvPr id="28" name="Text 24"/>
          <p:cNvSpPr/>
          <p:nvPr/>
        </p:nvSpPr>
        <p:spPr>
          <a:xfrm>
            <a:off x="5440680" y="2468880"/>
            <a:ext cx="2834640" cy="411480"/>
          </a:xfrm>
          <a:prstGeom prst="rect">
            <a:avLst/>
          </a:prstGeom>
          <a:noFill/>
          <a:ln/>
        </p:spPr>
        <p:txBody>
          <a:bodyPr wrap="square" lIns="0" tIns="0" rIns="0" bIns="0" rtlCol="0" anchor="ctr"/>
          <a:lstStyle/>
          <a:p>
            <a:pPr marL="0" indent="0">
              <a:buNone/>
            </a:pPr>
            <a:r>
              <a:rPr lang="en-US" sz="1050" dirty="0">
                <a:solidFill>
                  <a:srgbClr val="163341"/>
                </a:solidFill>
                <a:latin typeface="Calibri" pitchFamily="34" charset="0"/>
                <a:ea typeface="Calibri" pitchFamily="34" charset="-122"/>
                <a:cs typeface="Calibri" pitchFamily="34" charset="-120"/>
              </a:rPr>
              <a:t>Operational data  +  JSON metadata</a:t>
            </a:r>
            <a:endParaRPr lang="en-US" sz="1050" dirty="0"/>
          </a:p>
        </p:txBody>
      </p:sp>
      <p:sp>
        <p:nvSpPr>
          <p:cNvPr id="29" name="Shape 25"/>
          <p:cNvSpPr/>
          <p:nvPr/>
        </p:nvSpPr>
        <p:spPr>
          <a:xfrm>
            <a:off x="5074920" y="2971800"/>
            <a:ext cx="3200400" cy="411480"/>
          </a:xfrm>
          <a:prstGeom prst="rect">
            <a:avLst/>
          </a:prstGeom>
          <a:solidFill>
            <a:srgbClr val="FFFFFF"/>
          </a:solidFill>
          <a:ln w="6350">
            <a:solidFill>
              <a:srgbClr val="D9DDE3"/>
            </a:solidFill>
            <a:prstDash val="solid"/>
          </a:ln>
        </p:spPr>
        <p:txBody>
          <a:bodyPr/>
          <a:lstStyle/>
          <a:p>
            <a:endParaRPr lang="en-IL"/>
          </a:p>
        </p:txBody>
      </p:sp>
      <p:sp>
        <p:nvSpPr>
          <p:cNvPr id="30" name="Shape 26"/>
          <p:cNvSpPr/>
          <p:nvPr/>
        </p:nvSpPr>
        <p:spPr>
          <a:xfrm>
            <a:off x="5166360" y="3081528"/>
            <a:ext cx="182880" cy="182880"/>
          </a:xfrm>
          <a:prstGeom prst="line">
            <a:avLst/>
          </a:prstGeom>
          <a:solidFill>
            <a:srgbClr val="FF4438"/>
          </a:solidFill>
          <a:ln/>
        </p:spPr>
        <p:txBody>
          <a:bodyPr/>
          <a:lstStyle/>
          <a:p>
            <a:endParaRPr lang="en-IL"/>
          </a:p>
        </p:txBody>
      </p:sp>
      <p:sp>
        <p:nvSpPr>
          <p:cNvPr id="31" name="Text 27"/>
          <p:cNvSpPr/>
          <p:nvPr/>
        </p:nvSpPr>
        <p:spPr>
          <a:xfrm>
            <a:off x="5440680" y="2971800"/>
            <a:ext cx="2834640" cy="411480"/>
          </a:xfrm>
          <a:prstGeom prst="rect">
            <a:avLst/>
          </a:prstGeom>
          <a:noFill/>
          <a:ln/>
        </p:spPr>
        <p:txBody>
          <a:bodyPr wrap="square" lIns="0" tIns="0" rIns="0" bIns="0" rtlCol="0" anchor="ctr"/>
          <a:lstStyle/>
          <a:p>
            <a:pPr marL="0" indent="0">
              <a:buNone/>
            </a:pPr>
            <a:r>
              <a:rPr lang="en-US" sz="1050" dirty="0">
                <a:solidFill>
                  <a:srgbClr val="163341"/>
                </a:solidFill>
                <a:latin typeface="Calibri" pitchFamily="34" charset="0"/>
                <a:ea typeface="Calibri" pitchFamily="34" charset="-122"/>
                <a:cs typeface="Calibri" pitchFamily="34" charset="-120"/>
              </a:rPr>
              <a:t>Cache  +  session state</a:t>
            </a:r>
            <a:endParaRPr lang="en-US" sz="1050" dirty="0"/>
          </a:p>
        </p:txBody>
      </p:sp>
      <p:sp>
        <p:nvSpPr>
          <p:cNvPr id="32" name="Shape 28"/>
          <p:cNvSpPr/>
          <p:nvPr/>
        </p:nvSpPr>
        <p:spPr>
          <a:xfrm>
            <a:off x="5074920" y="3474720"/>
            <a:ext cx="3200400" cy="411480"/>
          </a:xfrm>
          <a:prstGeom prst="rect">
            <a:avLst/>
          </a:prstGeom>
          <a:solidFill>
            <a:srgbClr val="FFFFFF"/>
          </a:solidFill>
          <a:ln w="6350">
            <a:solidFill>
              <a:srgbClr val="D9DDE3"/>
            </a:solidFill>
            <a:prstDash val="solid"/>
          </a:ln>
        </p:spPr>
        <p:txBody>
          <a:bodyPr/>
          <a:lstStyle/>
          <a:p>
            <a:endParaRPr lang="en-IL"/>
          </a:p>
        </p:txBody>
      </p:sp>
      <p:sp>
        <p:nvSpPr>
          <p:cNvPr id="33" name="Shape 29"/>
          <p:cNvSpPr/>
          <p:nvPr/>
        </p:nvSpPr>
        <p:spPr>
          <a:xfrm>
            <a:off x="5166360" y="3584448"/>
            <a:ext cx="182880" cy="182880"/>
          </a:xfrm>
          <a:prstGeom prst="line">
            <a:avLst/>
          </a:prstGeom>
          <a:solidFill>
            <a:srgbClr val="FF4438"/>
          </a:solidFill>
          <a:ln/>
        </p:spPr>
        <p:txBody>
          <a:bodyPr/>
          <a:lstStyle/>
          <a:p>
            <a:endParaRPr lang="en-IL"/>
          </a:p>
        </p:txBody>
      </p:sp>
      <p:sp>
        <p:nvSpPr>
          <p:cNvPr id="34" name="Text 30"/>
          <p:cNvSpPr/>
          <p:nvPr/>
        </p:nvSpPr>
        <p:spPr>
          <a:xfrm>
            <a:off x="5440680" y="3474720"/>
            <a:ext cx="2834640" cy="411480"/>
          </a:xfrm>
          <a:prstGeom prst="rect">
            <a:avLst/>
          </a:prstGeom>
          <a:noFill/>
          <a:ln/>
        </p:spPr>
        <p:txBody>
          <a:bodyPr wrap="square" lIns="0" tIns="0" rIns="0" bIns="0" rtlCol="0" anchor="ctr"/>
          <a:lstStyle/>
          <a:p>
            <a:pPr marL="0" indent="0">
              <a:buNone/>
            </a:pPr>
            <a:r>
              <a:rPr lang="en-US" sz="1050" dirty="0">
                <a:solidFill>
                  <a:srgbClr val="163341"/>
                </a:solidFill>
                <a:latin typeface="Calibri" pitchFamily="34" charset="0"/>
                <a:ea typeface="Calibri" pitchFamily="34" charset="-122"/>
                <a:cs typeface="Calibri" pitchFamily="34" charset="-120"/>
              </a:rPr>
              <a:t>Vector embeddings  +  ANN index</a:t>
            </a:r>
            <a:endParaRPr lang="en-US" sz="1050" dirty="0"/>
          </a:p>
        </p:txBody>
      </p:sp>
      <p:sp>
        <p:nvSpPr>
          <p:cNvPr id="35" name="Text 31"/>
          <p:cNvSpPr/>
          <p:nvPr/>
        </p:nvSpPr>
        <p:spPr>
          <a:xfrm>
            <a:off x="4846320" y="4343400"/>
            <a:ext cx="3657600" cy="274320"/>
          </a:xfrm>
          <a:prstGeom prst="rect">
            <a:avLst/>
          </a:prstGeom>
          <a:noFill/>
          <a:ln/>
        </p:spPr>
        <p:txBody>
          <a:bodyPr wrap="square" lIns="0" tIns="0" rIns="0" bIns="0" rtlCol="0" anchor="ctr"/>
          <a:lstStyle/>
          <a:p>
            <a:pPr marL="0" indent="0">
              <a:buNone/>
            </a:pPr>
            <a:r>
              <a:rPr lang="en-US" sz="1000" b="1" i="1" dirty="0">
                <a:solidFill>
                  <a:srgbClr val="163341"/>
                </a:solidFill>
                <a:latin typeface="Calibri" pitchFamily="34" charset="0"/>
                <a:ea typeface="Calibri" pitchFamily="34" charset="-122"/>
                <a:cs typeface="Calibri" pitchFamily="34" charset="-120"/>
              </a:rPr>
              <a:t>Result: zero network hops, no sync, single security boundary</a:t>
            </a:r>
            <a:endParaRPr lang="en-US" sz="1000" dirty="0"/>
          </a:p>
        </p:txBody>
      </p:sp>
      <p:sp>
        <p:nvSpPr>
          <p:cNvPr id="36" name="Shape 32"/>
          <p:cNvSpPr/>
          <p:nvPr/>
        </p:nvSpPr>
        <p:spPr>
          <a:xfrm>
            <a:off x="320040" y="4864608"/>
            <a:ext cx="8503920" cy="10973"/>
          </a:xfrm>
          <a:prstGeom prst="rect">
            <a:avLst/>
          </a:prstGeom>
          <a:solidFill>
            <a:srgbClr val="D9DDE3"/>
          </a:solidFill>
          <a:ln/>
        </p:spPr>
        <p:txBody>
          <a:bodyPr/>
          <a:lstStyle/>
          <a:p>
            <a:endParaRPr lang="en-IL"/>
          </a:p>
        </p:txBody>
      </p:sp>
      <p:sp>
        <p:nvSpPr>
          <p:cNvPr id="37" name="Text 33"/>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38" name="Text 34"/>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2 / 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02  ·  ARCHITECTURE</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Redis 8.0 — From Modules to Native Engine</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Shape 4"/>
          <p:cNvSpPr/>
          <p:nvPr/>
        </p:nvSpPr>
        <p:spPr>
          <a:xfrm>
            <a:off x="457200" y="1097280"/>
            <a:ext cx="2697480" cy="1005840"/>
          </a:xfrm>
          <a:prstGeom prst="rect">
            <a:avLst/>
          </a:prstGeom>
          <a:solidFill>
            <a:srgbClr val="FFFFFF"/>
          </a:solidFill>
          <a:ln w="9525">
            <a:solidFill>
              <a:srgbClr val="E5E8EE"/>
            </a:solidFill>
            <a:prstDash val="solid"/>
          </a:ln>
        </p:spPr>
        <p:txBody>
          <a:bodyPr/>
          <a:lstStyle/>
          <a:p>
            <a:endParaRPr lang="en-IL"/>
          </a:p>
        </p:txBody>
      </p:sp>
      <p:sp>
        <p:nvSpPr>
          <p:cNvPr id="8" name="Shape 5"/>
          <p:cNvSpPr/>
          <p:nvPr/>
        </p:nvSpPr>
        <p:spPr>
          <a:xfrm>
            <a:off x="457200" y="1097280"/>
            <a:ext cx="54864" cy="1005840"/>
          </a:xfrm>
          <a:prstGeom prst="rect">
            <a:avLst/>
          </a:prstGeom>
          <a:solidFill>
            <a:srgbClr val="FF4438"/>
          </a:solidFill>
          <a:ln/>
        </p:spPr>
        <p:txBody>
          <a:bodyPr/>
          <a:lstStyle/>
          <a:p>
            <a:endParaRPr lang="en-IL"/>
          </a:p>
        </p:txBody>
      </p:sp>
      <p:sp>
        <p:nvSpPr>
          <p:cNvPr id="9" name="Text 6"/>
          <p:cNvSpPr/>
          <p:nvPr/>
        </p:nvSpPr>
        <p:spPr>
          <a:xfrm>
            <a:off x="594360" y="1170432"/>
            <a:ext cx="2514600" cy="553212"/>
          </a:xfrm>
          <a:prstGeom prst="rect">
            <a:avLst/>
          </a:prstGeom>
          <a:noFill/>
          <a:ln/>
        </p:spPr>
        <p:txBody>
          <a:bodyPr wrap="square" lIns="0" tIns="0" rIns="0" bIns="0" rtlCol="0" anchor="b"/>
          <a:lstStyle/>
          <a:p>
            <a:pPr marL="0" indent="0">
              <a:buNone/>
            </a:pPr>
            <a:r>
              <a:rPr lang="en-US" sz="2800" b="1" dirty="0">
                <a:solidFill>
                  <a:srgbClr val="FF4438"/>
                </a:solidFill>
                <a:latin typeface="Calibri" pitchFamily="34" charset="0"/>
                <a:ea typeface="Calibri" pitchFamily="34" charset="-122"/>
                <a:cs typeface="Calibri" pitchFamily="34" charset="-120"/>
              </a:rPr>
              <a:t>−87%</a:t>
            </a:r>
            <a:endParaRPr lang="en-US" sz="2800" dirty="0"/>
          </a:p>
        </p:txBody>
      </p:sp>
      <p:sp>
        <p:nvSpPr>
          <p:cNvPr id="10" name="Text 7"/>
          <p:cNvSpPr/>
          <p:nvPr/>
        </p:nvSpPr>
        <p:spPr>
          <a:xfrm>
            <a:off x="594360" y="1668780"/>
            <a:ext cx="2514600" cy="402336"/>
          </a:xfrm>
          <a:prstGeom prst="rect">
            <a:avLst/>
          </a:prstGeom>
          <a:noFill/>
          <a:ln/>
        </p:spPr>
        <p:txBody>
          <a:bodyPr wrap="square" lIns="0" tIns="0" rIns="0" bIns="0" rtlCol="0" anchor="t"/>
          <a:lstStyle/>
          <a:p>
            <a:pPr marL="0" indent="0">
              <a:buNone/>
            </a:pPr>
            <a:r>
              <a:rPr lang="en-US" sz="1000" dirty="0">
                <a:solidFill>
                  <a:srgbClr val="5A6678"/>
                </a:solidFill>
                <a:latin typeface="Calibri" pitchFamily="34" charset="0"/>
                <a:ea typeface="Calibri" pitchFamily="34" charset="-122"/>
                <a:cs typeface="Calibri" pitchFamily="34" charset="-120"/>
              </a:rPr>
              <a:t>command latency vs. modular Redis</a:t>
            </a:r>
            <a:endParaRPr lang="en-US" sz="1000" dirty="0"/>
          </a:p>
        </p:txBody>
      </p:sp>
      <p:sp>
        <p:nvSpPr>
          <p:cNvPr id="11" name="Shape 8"/>
          <p:cNvSpPr/>
          <p:nvPr/>
        </p:nvSpPr>
        <p:spPr>
          <a:xfrm>
            <a:off x="3246120" y="1097280"/>
            <a:ext cx="2697480" cy="1005840"/>
          </a:xfrm>
          <a:prstGeom prst="rect">
            <a:avLst/>
          </a:prstGeom>
          <a:solidFill>
            <a:srgbClr val="FFFFFF"/>
          </a:solidFill>
          <a:ln w="9525">
            <a:solidFill>
              <a:srgbClr val="E5E8EE"/>
            </a:solidFill>
            <a:prstDash val="solid"/>
          </a:ln>
        </p:spPr>
        <p:txBody>
          <a:bodyPr/>
          <a:lstStyle/>
          <a:p>
            <a:endParaRPr lang="en-IL"/>
          </a:p>
        </p:txBody>
      </p:sp>
      <p:sp>
        <p:nvSpPr>
          <p:cNvPr id="12" name="Shape 9"/>
          <p:cNvSpPr/>
          <p:nvPr/>
        </p:nvSpPr>
        <p:spPr>
          <a:xfrm>
            <a:off x="3246120" y="1097280"/>
            <a:ext cx="54864" cy="1005840"/>
          </a:xfrm>
          <a:prstGeom prst="rect">
            <a:avLst/>
          </a:prstGeom>
          <a:solidFill>
            <a:srgbClr val="FF4438"/>
          </a:solidFill>
          <a:ln/>
        </p:spPr>
        <p:txBody>
          <a:bodyPr/>
          <a:lstStyle/>
          <a:p>
            <a:endParaRPr lang="en-IL"/>
          </a:p>
        </p:txBody>
      </p:sp>
      <p:sp>
        <p:nvSpPr>
          <p:cNvPr id="13" name="Text 10"/>
          <p:cNvSpPr/>
          <p:nvPr/>
        </p:nvSpPr>
        <p:spPr>
          <a:xfrm>
            <a:off x="3383280" y="1170432"/>
            <a:ext cx="2514600" cy="553212"/>
          </a:xfrm>
          <a:prstGeom prst="rect">
            <a:avLst/>
          </a:prstGeom>
          <a:noFill/>
          <a:ln/>
        </p:spPr>
        <p:txBody>
          <a:bodyPr wrap="square" lIns="0" tIns="0" rIns="0" bIns="0" rtlCol="0" anchor="b"/>
          <a:lstStyle/>
          <a:p>
            <a:pPr marL="0" indent="0">
              <a:buNone/>
            </a:pPr>
            <a:r>
              <a:rPr lang="en-US" sz="2800" b="1" dirty="0">
                <a:solidFill>
                  <a:srgbClr val="FF4438"/>
                </a:solidFill>
                <a:latin typeface="Calibri" pitchFamily="34" charset="0"/>
                <a:ea typeface="Calibri" pitchFamily="34" charset="-122"/>
                <a:cs typeface="Calibri" pitchFamily="34" charset="-120"/>
              </a:rPr>
              <a:t>+144%</a:t>
            </a:r>
            <a:endParaRPr lang="en-US" sz="2800" dirty="0"/>
          </a:p>
        </p:txBody>
      </p:sp>
      <p:sp>
        <p:nvSpPr>
          <p:cNvPr id="14" name="Text 11"/>
          <p:cNvSpPr/>
          <p:nvPr/>
        </p:nvSpPr>
        <p:spPr>
          <a:xfrm>
            <a:off x="3383280" y="1668780"/>
            <a:ext cx="2514600" cy="402336"/>
          </a:xfrm>
          <a:prstGeom prst="rect">
            <a:avLst/>
          </a:prstGeom>
          <a:noFill/>
          <a:ln/>
        </p:spPr>
        <p:txBody>
          <a:bodyPr wrap="square" lIns="0" tIns="0" rIns="0" bIns="0" rtlCol="0" anchor="t"/>
          <a:lstStyle/>
          <a:p>
            <a:pPr marL="0" indent="0">
              <a:buNone/>
            </a:pPr>
            <a:r>
              <a:rPr lang="en-US" sz="1000" dirty="0">
                <a:solidFill>
                  <a:srgbClr val="5A6678"/>
                </a:solidFill>
                <a:latin typeface="Calibri" pitchFamily="34" charset="0"/>
                <a:ea typeface="Calibri" pitchFamily="34" charset="-122"/>
                <a:cs typeface="Calibri" pitchFamily="34" charset="-120"/>
              </a:rPr>
              <a:t>QPS with vector quantization</a:t>
            </a:r>
            <a:endParaRPr lang="en-US" sz="1000" dirty="0"/>
          </a:p>
        </p:txBody>
      </p:sp>
      <p:sp>
        <p:nvSpPr>
          <p:cNvPr id="15" name="Shape 12"/>
          <p:cNvSpPr/>
          <p:nvPr/>
        </p:nvSpPr>
        <p:spPr>
          <a:xfrm>
            <a:off x="6035040" y="1097280"/>
            <a:ext cx="2697480" cy="1005840"/>
          </a:xfrm>
          <a:prstGeom prst="rect">
            <a:avLst/>
          </a:prstGeom>
          <a:solidFill>
            <a:srgbClr val="FFFFFF"/>
          </a:solidFill>
          <a:ln w="9525">
            <a:solidFill>
              <a:srgbClr val="E5E8EE"/>
            </a:solidFill>
            <a:prstDash val="solid"/>
          </a:ln>
        </p:spPr>
        <p:txBody>
          <a:bodyPr/>
          <a:lstStyle/>
          <a:p>
            <a:endParaRPr lang="en-IL"/>
          </a:p>
        </p:txBody>
      </p:sp>
      <p:sp>
        <p:nvSpPr>
          <p:cNvPr id="16" name="Shape 13"/>
          <p:cNvSpPr/>
          <p:nvPr/>
        </p:nvSpPr>
        <p:spPr>
          <a:xfrm>
            <a:off x="6035040" y="1097280"/>
            <a:ext cx="54864" cy="1005840"/>
          </a:xfrm>
          <a:prstGeom prst="rect">
            <a:avLst/>
          </a:prstGeom>
          <a:solidFill>
            <a:srgbClr val="FF4438"/>
          </a:solidFill>
          <a:ln/>
        </p:spPr>
        <p:txBody>
          <a:bodyPr/>
          <a:lstStyle/>
          <a:p>
            <a:endParaRPr lang="en-IL"/>
          </a:p>
        </p:txBody>
      </p:sp>
      <p:sp>
        <p:nvSpPr>
          <p:cNvPr id="17" name="Text 14"/>
          <p:cNvSpPr/>
          <p:nvPr/>
        </p:nvSpPr>
        <p:spPr>
          <a:xfrm>
            <a:off x="6172200" y="1170432"/>
            <a:ext cx="2514600" cy="553212"/>
          </a:xfrm>
          <a:prstGeom prst="rect">
            <a:avLst/>
          </a:prstGeom>
          <a:noFill/>
          <a:ln/>
        </p:spPr>
        <p:txBody>
          <a:bodyPr wrap="square" lIns="0" tIns="0" rIns="0" bIns="0" rtlCol="0" anchor="b"/>
          <a:lstStyle/>
          <a:p>
            <a:pPr marL="0" indent="0">
              <a:buNone/>
            </a:pPr>
            <a:r>
              <a:rPr lang="en-US" sz="2800" b="1" dirty="0">
                <a:solidFill>
                  <a:srgbClr val="FF4438"/>
                </a:solidFill>
                <a:latin typeface="Calibri" pitchFamily="34" charset="0"/>
                <a:ea typeface="Calibri" pitchFamily="34" charset="-122"/>
                <a:cs typeface="Calibri" pitchFamily="34" charset="-120"/>
              </a:rPr>
              <a:t>160K /s</a:t>
            </a:r>
            <a:endParaRPr lang="en-US" sz="2800" dirty="0"/>
          </a:p>
        </p:txBody>
      </p:sp>
      <p:sp>
        <p:nvSpPr>
          <p:cNvPr id="18" name="Text 15"/>
          <p:cNvSpPr/>
          <p:nvPr/>
        </p:nvSpPr>
        <p:spPr>
          <a:xfrm>
            <a:off x="6172200" y="1668780"/>
            <a:ext cx="2514600" cy="402336"/>
          </a:xfrm>
          <a:prstGeom prst="rect">
            <a:avLst/>
          </a:prstGeom>
          <a:noFill/>
          <a:ln/>
        </p:spPr>
        <p:txBody>
          <a:bodyPr wrap="square" lIns="0" tIns="0" rIns="0" bIns="0" rtlCol="0" anchor="t"/>
          <a:lstStyle/>
          <a:p>
            <a:pPr marL="0" indent="0">
              <a:buNone/>
            </a:pPr>
            <a:r>
              <a:rPr lang="en-US" sz="1000" dirty="0">
                <a:solidFill>
                  <a:srgbClr val="5A6678"/>
                </a:solidFill>
                <a:latin typeface="Calibri" pitchFamily="34" charset="0"/>
                <a:ea typeface="Calibri" pitchFamily="34" charset="-122"/>
                <a:cs typeface="Calibri" pitchFamily="34" charset="-120"/>
              </a:rPr>
              <a:t>vector inserts on a single node</a:t>
            </a:r>
            <a:endParaRPr lang="en-US" sz="1000" dirty="0"/>
          </a:p>
        </p:txBody>
      </p:sp>
      <p:sp>
        <p:nvSpPr>
          <p:cNvPr id="19" name="Shape 16"/>
          <p:cNvSpPr/>
          <p:nvPr/>
        </p:nvSpPr>
        <p:spPr>
          <a:xfrm>
            <a:off x="457200" y="2286000"/>
            <a:ext cx="4114800" cy="2377440"/>
          </a:xfrm>
          <a:prstGeom prst="rect">
            <a:avLst/>
          </a:prstGeom>
          <a:solidFill>
            <a:srgbClr val="FFFFFF"/>
          </a:solidFill>
          <a:ln w="9525">
            <a:solidFill>
              <a:srgbClr val="E5E8EE"/>
            </a:solidFill>
            <a:prstDash val="solid"/>
          </a:ln>
        </p:spPr>
        <p:txBody>
          <a:bodyPr/>
          <a:lstStyle/>
          <a:p>
            <a:endParaRPr lang="en-IL"/>
          </a:p>
        </p:txBody>
      </p:sp>
      <p:sp>
        <p:nvSpPr>
          <p:cNvPr id="20" name="Shape 17"/>
          <p:cNvSpPr/>
          <p:nvPr/>
        </p:nvSpPr>
        <p:spPr>
          <a:xfrm>
            <a:off x="457200" y="2286000"/>
            <a:ext cx="54864" cy="2377440"/>
          </a:xfrm>
          <a:prstGeom prst="rect">
            <a:avLst/>
          </a:prstGeom>
          <a:solidFill>
            <a:srgbClr val="FF4438"/>
          </a:solidFill>
          <a:ln/>
        </p:spPr>
        <p:txBody>
          <a:bodyPr/>
          <a:lstStyle/>
          <a:p>
            <a:endParaRPr lang="en-IL"/>
          </a:p>
        </p:txBody>
      </p:sp>
      <p:sp>
        <p:nvSpPr>
          <p:cNvPr id="21" name="Text 18"/>
          <p:cNvSpPr/>
          <p:nvPr/>
        </p:nvSpPr>
        <p:spPr>
          <a:xfrm>
            <a:off x="621792" y="2377440"/>
            <a:ext cx="3858768" cy="320040"/>
          </a:xfrm>
          <a:prstGeom prst="rect">
            <a:avLst/>
          </a:prstGeom>
          <a:noFill/>
          <a:ln/>
        </p:spPr>
        <p:txBody>
          <a:bodyPr wrap="square" lIns="0" tIns="0" rIns="0" bIns="0" rtlCol="0" anchor="t"/>
          <a:lstStyle/>
          <a:p>
            <a:pPr marL="0" indent="0">
              <a:buNone/>
            </a:pPr>
            <a:r>
              <a:rPr lang="en-US" sz="1300" b="1" dirty="0">
                <a:solidFill>
                  <a:srgbClr val="163341"/>
                </a:solidFill>
                <a:latin typeface="Calibri" pitchFamily="34" charset="0"/>
                <a:ea typeface="Calibri" pitchFamily="34" charset="-122"/>
                <a:cs typeface="Calibri" pitchFamily="34" charset="-120"/>
              </a:rPr>
              <a:t>Modules dismantled into the core</a:t>
            </a:r>
            <a:endParaRPr lang="en-US" sz="1300" dirty="0"/>
          </a:p>
        </p:txBody>
      </p:sp>
      <p:sp>
        <p:nvSpPr>
          <p:cNvPr id="22" name="Text 19"/>
          <p:cNvSpPr/>
          <p:nvPr/>
        </p:nvSpPr>
        <p:spPr>
          <a:xfrm>
            <a:off x="621792" y="2697480"/>
            <a:ext cx="3858768" cy="1874520"/>
          </a:xfrm>
          <a:prstGeom prst="rect">
            <a:avLst/>
          </a:prstGeom>
          <a:noFill/>
          <a:ln/>
        </p:spPr>
        <p:txBody>
          <a:bodyPr wrap="square" lIns="0" tIns="0" rIns="0" bIns="0" rtlCol="0" anchor="t"/>
          <a:lstStyle/>
          <a:p>
            <a:pPr marL="0" indent="0">
              <a:spcAft>
                <a:spcPts val="400"/>
              </a:spcAft>
              <a:buNone/>
            </a:pPr>
            <a:r>
              <a:rPr lang="en-US" sz="1050" dirty="0">
                <a:solidFill>
                  <a:srgbClr val="3A4756"/>
                </a:solidFill>
                <a:latin typeface="Calibri" pitchFamily="34" charset="0"/>
                <a:ea typeface="Calibri" pitchFamily="34" charset="-122"/>
                <a:cs typeface="Calibri" pitchFamily="34" charset="-120"/>
              </a:rPr>
              <a:t>Search, JSON, Time-Series, Probabilistic and the new Vector Sets are no longer bolt-on modules — they were merged directly into the open-source Redis core.</a:t>
            </a:r>
            <a:endParaRPr lang="en-US" sz="1050" dirty="0"/>
          </a:p>
          <a:p>
            <a:pPr marL="0" indent="0">
              <a:spcAft>
                <a:spcPts val="400"/>
              </a:spcAft>
              <a:buNone/>
            </a:pPr>
            <a:endParaRPr lang="en-US" sz="1050" dirty="0"/>
          </a:p>
          <a:p>
            <a:pPr marL="0" indent="0">
              <a:spcAft>
                <a:spcPts val="400"/>
              </a:spcAft>
              <a:buNone/>
            </a:pPr>
            <a:r>
              <a:rPr lang="en-US" sz="1050" dirty="0">
                <a:solidFill>
                  <a:srgbClr val="3A4756"/>
                </a:solidFill>
                <a:latin typeface="Calibri" pitchFamily="34" charset="0"/>
                <a:ea typeface="Calibri" pitchFamily="34" charset="-122"/>
                <a:cs typeface="Calibri" pitchFamily="34" charset="-120"/>
              </a:rPr>
              <a:t>Result: deeper integration with replication, ACLs and persistence; multithreaded I/O minimizes main-thread contention; full sync of a 10 GB dataset while sustaining 26.84M concurrent writes (Redis 8 benchmark).</a:t>
            </a:r>
            <a:endParaRPr lang="en-US" sz="1050" dirty="0"/>
          </a:p>
        </p:txBody>
      </p:sp>
      <p:sp>
        <p:nvSpPr>
          <p:cNvPr id="23" name="Shape 20"/>
          <p:cNvSpPr/>
          <p:nvPr/>
        </p:nvSpPr>
        <p:spPr>
          <a:xfrm>
            <a:off x="4663440" y="2286000"/>
            <a:ext cx="4114800" cy="2377440"/>
          </a:xfrm>
          <a:prstGeom prst="rect">
            <a:avLst/>
          </a:prstGeom>
          <a:solidFill>
            <a:srgbClr val="FFFFFF"/>
          </a:solidFill>
          <a:ln w="9525">
            <a:solidFill>
              <a:srgbClr val="E5E8EE"/>
            </a:solidFill>
            <a:prstDash val="solid"/>
          </a:ln>
        </p:spPr>
        <p:txBody>
          <a:bodyPr/>
          <a:lstStyle/>
          <a:p>
            <a:endParaRPr lang="en-IL"/>
          </a:p>
        </p:txBody>
      </p:sp>
      <p:sp>
        <p:nvSpPr>
          <p:cNvPr id="24" name="Shape 21"/>
          <p:cNvSpPr/>
          <p:nvPr/>
        </p:nvSpPr>
        <p:spPr>
          <a:xfrm>
            <a:off x="4663440" y="2286000"/>
            <a:ext cx="54864" cy="2377440"/>
          </a:xfrm>
          <a:prstGeom prst="rect">
            <a:avLst/>
          </a:prstGeom>
          <a:solidFill>
            <a:srgbClr val="163341"/>
          </a:solidFill>
          <a:ln/>
        </p:spPr>
        <p:txBody>
          <a:bodyPr/>
          <a:lstStyle/>
          <a:p>
            <a:endParaRPr lang="en-IL"/>
          </a:p>
        </p:txBody>
      </p:sp>
      <p:sp>
        <p:nvSpPr>
          <p:cNvPr id="25" name="Text 22"/>
          <p:cNvSpPr/>
          <p:nvPr/>
        </p:nvSpPr>
        <p:spPr>
          <a:xfrm>
            <a:off x="4828032" y="2377440"/>
            <a:ext cx="3858768" cy="320040"/>
          </a:xfrm>
          <a:prstGeom prst="rect">
            <a:avLst/>
          </a:prstGeom>
          <a:noFill/>
          <a:ln/>
        </p:spPr>
        <p:txBody>
          <a:bodyPr wrap="square" lIns="0" tIns="0" rIns="0" bIns="0" rtlCol="0" anchor="t"/>
          <a:lstStyle/>
          <a:p>
            <a:pPr marL="0" indent="0">
              <a:buNone/>
            </a:pPr>
            <a:r>
              <a:rPr lang="en-US" sz="1300" b="1" dirty="0">
                <a:solidFill>
                  <a:srgbClr val="163341"/>
                </a:solidFill>
                <a:latin typeface="Calibri" pitchFamily="34" charset="0"/>
                <a:ea typeface="Calibri" pitchFamily="34" charset="-122"/>
                <a:cs typeface="Calibri" pitchFamily="34" charset="-120"/>
              </a:rPr>
              <a:t>Co-location, not query amplification</a:t>
            </a:r>
            <a:endParaRPr lang="en-US" sz="1300" dirty="0"/>
          </a:p>
        </p:txBody>
      </p:sp>
      <p:sp>
        <p:nvSpPr>
          <p:cNvPr id="26" name="Text 23"/>
          <p:cNvSpPr/>
          <p:nvPr/>
        </p:nvSpPr>
        <p:spPr>
          <a:xfrm>
            <a:off x="4828032" y="2697480"/>
            <a:ext cx="3858768" cy="1874520"/>
          </a:xfrm>
          <a:prstGeom prst="rect">
            <a:avLst/>
          </a:prstGeom>
          <a:noFill/>
          <a:ln/>
        </p:spPr>
        <p:txBody>
          <a:bodyPr wrap="square" lIns="0" tIns="0" rIns="0" bIns="0" rtlCol="0" anchor="t"/>
          <a:lstStyle/>
          <a:p>
            <a:pPr marL="0" indent="0">
              <a:spcAft>
                <a:spcPts val="400"/>
              </a:spcAft>
              <a:buNone/>
            </a:pPr>
            <a:r>
              <a:rPr lang="en-US" sz="1050" dirty="0">
                <a:solidFill>
                  <a:srgbClr val="3A4756"/>
                </a:solidFill>
                <a:latin typeface="Calibri" pitchFamily="34" charset="0"/>
                <a:ea typeface="Calibri" pitchFamily="34" charset="-122"/>
                <a:cs typeface="Calibri" pitchFamily="34" charset="-120"/>
              </a:rPr>
              <a:t>Vectors live in the same Hash / JSON document as their metadata. One hybrid query evaluates mathematical proximity AND metadata filters — no fan-out to a secondary store.</a:t>
            </a:r>
            <a:endParaRPr lang="en-US" sz="1050" dirty="0"/>
          </a:p>
          <a:p>
            <a:pPr marL="0" indent="0">
              <a:spcAft>
                <a:spcPts val="400"/>
              </a:spcAft>
              <a:buNone/>
            </a:pPr>
            <a:endParaRPr lang="en-US" sz="1050" dirty="0"/>
          </a:p>
          <a:p>
            <a:pPr marL="0" indent="0">
              <a:spcAft>
                <a:spcPts val="400"/>
              </a:spcAft>
              <a:buNone/>
            </a:pPr>
            <a:r>
              <a:rPr lang="en-US" sz="1050" dirty="0">
                <a:solidFill>
                  <a:srgbClr val="3A4756"/>
                </a:solidFill>
                <a:latin typeface="Calibri" pitchFamily="34" charset="0"/>
                <a:ea typeface="Calibri" pitchFamily="34" charset="-122"/>
                <a:cs typeface="Calibri" pitchFamily="34" charset="-120"/>
              </a:rPr>
              <a:t>Native role-based ACLs cover the new data structures, so vector data can be partitioned across users and departments without an external policy engine.</a:t>
            </a:r>
            <a:endParaRPr lang="en-US" sz="1050" dirty="0"/>
          </a:p>
        </p:txBody>
      </p:sp>
      <p:sp>
        <p:nvSpPr>
          <p:cNvPr id="27" name="Shape 24"/>
          <p:cNvSpPr/>
          <p:nvPr/>
        </p:nvSpPr>
        <p:spPr>
          <a:xfrm>
            <a:off x="320040" y="4864608"/>
            <a:ext cx="8503920" cy="10973"/>
          </a:xfrm>
          <a:prstGeom prst="rect">
            <a:avLst/>
          </a:prstGeom>
          <a:solidFill>
            <a:srgbClr val="D9DDE3"/>
          </a:solidFill>
          <a:ln/>
        </p:spPr>
        <p:txBody>
          <a:bodyPr/>
          <a:lstStyle/>
          <a:p>
            <a:endParaRPr lang="en-IL"/>
          </a:p>
        </p:txBody>
      </p:sp>
      <p:sp>
        <p:nvSpPr>
          <p:cNvPr id="28" name="Text 25"/>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29" name="Text 26"/>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3 / 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03  ·  ALGORITHMS</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Indexing Algorithms — Navigating High-Dimensional Space</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Text 4"/>
          <p:cNvSpPr/>
          <p:nvPr/>
        </p:nvSpPr>
        <p:spPr>
          <a:xfrm>
            <a:off x="457200" y="1005840"/>
            <a:ext cx="1554480" cy="274320"/>
          </a:xfrm>
          <a:prstGeom prst="rect">
            <a:avLst/>
          </a:prstGeom>
          <a:noFill/>
          <a:ln/>
        </p:spPr>
        <p:txBody>
          <a:bodyPr wrap="square" lIns="0" tIns="0" rIns="0" bIns="0" rtlCol="0" anchor="ctr"/>
          <a:lstStyle/>
          <a:p>
            <a:pPr marL="0" indent="0">
              <a:buNone/>
            </a:pPr>
            <a:r>
              <a:rPr lang="en-US" sz="1050" b="1" dirty="0">
                <a:solidFill>
                  <a:srgbClr val="5A6678"/>
                </a:solidFill>
                <a:latin typeface="Calibri" pitchFamily="34" charset="0"/>
                <a:ea typeface="Calibri" pitchFamily="34" charset="-122"/>
                <a:cs typeface="Calibri" pitchFamily="34" charset="-120"/>
              </a:rPr>
              <a:t>Distance metrics:</a:t>
            </a:r>
            <a:endParaRPr lang="en-US" sz="1050" dirty="0"/>
          </a:p>
        </p:txBody>
      </p:sp>
      <p:sp>
        <p:nvSpPr>
          <p:cNvPr id="8" name="Shape 5"/>
          <p:cNvSpPr/>
          <p:nvPr/>
        </p:nvSpPr>
        <p:spPr>
          <a:xfrm>
            <a:off x="2011680" y="1051560"/>
            <a:ext cx="1600200" cy="256032"/>
          </a:xfrm>
          <a:prstGeom prst="roundRect">
            <a:avLst>
              <a:gd name="adj" fmla="val 14286"/>
            </a:avLst>
          </a:prstGeom>
          <a:solidFill>
            <a:srgbClr val="FFFFFF"/>
          </a:solidFill>
          <a:ln w="9525">
            <a:solidFill>
              <a:srgbClr val="FF4438"/>
            </a:solidFill>
            <a:prstDash val="solid"/>
          </a:ln>
        </p:spPr>
        <p:txBody>
          <a:bodyPr/>
          <a:lstStyle/>
          <a:p>
            <a:endParaRPr lang="en-IL"/>
          </a:p>
        </p:txBody>
      </p:sp>
      <p:sp>
        <p:nvSpPr>
          <p:cNvPr id="9" name="Text 6"/>
          <p:cNvSpPr/>
          <p:nvPr/>
        </p:nvSpPr>
        <p:spPr>
          <a:xfrm>
            <a:off x="2011680" y="1051560"/>
            <a:ext cx="1600200" cy="256032"/>
          </a:xfrm>
          <a:prstGeom prst="rect">
            <a:avLst/>
          </a:prstGeom>
          <a:noFill/>
          <a:ln/>
        </p:spPr>
        <p:txBody>
          <a:bodyPr wrap="square" lIns="0" tIns="0" rIns="0" bIns="0" rtlCol="0" anchor="ctr"/>
          <a:lstStyle/>
          <a:p>
            <a:pPr marL="0" indent="0" algn="ctr">
              <a:buNone/>
            </a:pPr>
            <a:r>
              <a:rPr lang="en-US" sz="950" dirty="0">
                <a:solidFill>
                  <a:srgbClr val="163341"/>
                </a:solidFill>
                <a:latin typeface="Calibri" pitchFamily="34" charset="0"/>
                <a:ea typeface="Calibri" pitchFamily="34" charset="-122"/>
                <a:cs typeface="Calibri" pitchFamily="34" charset="-120"/>
              </a:rPr>
              <a:t>Cosine Similarity</a:t>
            </a:r>
            <a:endParaRPr lang="en-US" sz="950" dirty="0"/>
          </a:p>
        </p:txBody>
      </p:sp>
      <p:sp>
        <p:nvSpPr>
          <p:cNvPr id="10" name="Shape 7"/>
          <p:cNvSpPr/>
          <p:nvPr/>
        </p:nvSpPr>
        <p:spPr>
          <a:xfrm>
            <a:off x="3703320" y="1051560"/>
            <a:ext cx="1600200" cy="256032"/>
          </a:xfrm>
          <a:prstGeom prst="roundRect">
            <a:avLst>
              <a:gd name="adj" fmla="val 14286"/>
            </a:avLst>
          </a:prstGeom>
          <a:solidFill>
            <a:srgbClr val="FFFFFF"/>
          </a:solidFill>
          <a:ln w="9525">
            <a:solidFill>
              <a:srgbClr val="FF4438"/>
            </a:solidFill>
            <a:prstDash val="solid"/>
          </a:ln>
        </p:spPr>
        <p:txBody>
          <a:bodyPr/>
          <a:lstStyle/>
          <a:p>
            <a:endParaRPr lang="en-IL"/>
          </a:p>
        </p:txBody>
      </p:sp>
      <p:sp>
        <p:nvSpPr>
          <p:cNvPr id="11" name="Text 8"/>
          <p:cNvSpPr/>
          <p:nvPr/>
        </p:nvSpPr>
        <p:spPr>
          <a:xfrm>
            <a:off x="3703320" y="1051560"/>
            <a:ext cx="1600200" cy="256032"/>
          </a:xfrm>
          <a:prstGeom prst="rect">
            <a:avLst/>
          </a:prstGeom>
          <a:noFill/>
          <a:ln/>
        </p:spPr>
        <p:txBody>
          <a:bodyPr wrap="square" lIns="0" tIns="0" rIns="0" bIns="0" rtlCol="0" anchor="ctr"/>
          <a:lstStyle/>
          <a:p>
            <a:pPr marL="0" indent="0" algn="ctr">
              <a:buNone/>
            </a:pPr>
            <a:r>
              <a:rPr lang="en-US" sz="950" dirty="0">
                <a:solidFill>
                  <a:srgbClr val="163341"/>
                </a:solidFill>
                <a:latin typeface="Calibri" pitchFamily="34" charset="0"/>
                <a:ea typeface="Calibri" pitchFamily="34" charset="-122"/>
                <a:cs typeface="Calibri" pitchFamily="34" charset="-120"/>
              </a:rPr>
              <a:t>L2 (Euclidean)</a:t>
            </a:r>
            <a:endParaRPr lang="en-US" sz="950" dirty="0"/>
          </a:p>
        </p:txBody>
      </p:sp>
      <p:sp>
        <p:nvSpPr>
          <p:cNvPr id="12" name="Shape 9"/>
          <p:cNvSpPr/>
          <p:nvPr/>
        </p:nvSpPr>
        <p:spPr>
          <a:xfrm>
            <a:off x="5394960" y="1051560"/>
            <a:ext cx="1600200" cy="256032"/>
          </a:xfrm>
          <a:prstGeom prst="roundRect">
            <a:avLst>
              <a:gd name="adj" fmla="val 14286"/>
            </a:avLst>
          </a:prstGeom>
          <a:solidFill>
            <a:srgbClr val="FFFFFF"/>
          </a:solidFill>
          <a:ln w="9525">
            <a:solidFill>
              <a:srgbClr val="FF4438"/>
            </a:solidFill>
            <a:prstDash val="solid"/>
          </a:ln>
        </p:spPr>
        <p:txBody>
          <a:bodyPr/>
          <a:lstStyle/>
          <a:p>
            <a:endParaRPr lang="en-IL"/>
          </a:p>
        </p:txBody>
      </p:sp>
      <p:sp>
        <p:nvSpPr>
          <p:cNvPr id="13" name="Text 10"/>
          <p:cNvSpPr/>
          <p:nvPr/>
        </p:nvSpPr>
        <p:spPr>
          <a:xfrm>
            <a:off x="5394960" y="1051560"/>
            <a:ext cx="1600200" cy="256032"/>
          </a:xfrm>
          <a:prstGeom prst="rect">
            <a:avLst/>
          </a:prstGeom>
          <a:noFill/>
          <a:ln/>
        </p:spPr>
        <p:txBody>
          <a:bodyPr wrap="square" lIns="0" tIns="0" rIns="0" bIns="0" rtlCol="0" anchor="ctr"/>
          <a:lstStyle/>
          <a:p>
            <a:pPr marL="0" indent="0" algn="ctr">
              <a:buNone/>
            </a:pPr>
            <a:r>
              <a:rPr lang="en-US" sz="950" dirty="0">
                <a:solidFill>
                  <a:srgbClr val="163341"/>
                </a:solidFill>
                <a:latin typeface="Calibri" pitchFamily="34" charset="0"/>
                <a:ea typeface="Calibri" pitchFamily="34" charset="-122"/>
                <a:cs typeface="Calibri" pitchFamily="34" charset="-120"/>
              </a:rPr>
              <a:t>Inner Product</a:t>
            </a:r>
            <a:endParaRPr lang="en-US" sz="950" dirty="0"/>
          </a:p>
        </p:txBody>
      </p:sp>
      <p:sp>
        <p:nvSpPr>
          <p:cNvPr id="14" name="Text 11"/>
          <p:cNvSpPr/>
          <p:nvPr/>
        </p:nvSpPr>
        <p:spPr>
          <a:xfrm>
            <a:off x="457200" y="1353312"/>
            <a:ext cx="8229600" cy="228600"/>
          </a:xfrm>
          <a:prstGeom prst="rect">
            <a:avLst/>
          </a:prstGeom>
          <a:noFill/>
          <a:ln/>
        </p:spPr>
        <p:txBody>
          <a:bodyPr wrap="square" lIns="0" tIns="0" rIns="0" bIns="0" rtlCol="0" anchor="ctr"/>
          <a:lstStyle/>
          <a:p>
            <a:pPr marL="0" indent="0">
              <a:buNone/>
            </a:pPr>
            <a:r>
              <a:rPr lang="en-US" sz="900" i="1" dirty="0">
                <a:solidFill>
                  <a:srgbClr val="FF4438"/>
                </a:solidFill>
                <a:latin typeface="Calibri" pitchFamily="34" charset="0"/>
                <a:ea typeface="Calibri" pitchFamily="34" charset="-122"/>
                <a:cs typeface="Calibri" pitchFamily="34" charset="-120"/>
              </a:rPr>
              <a:t>⚠  Metric is immutable post-creation — must match embedding-model training</a:t>
            </a:r>
            <a:endParaRPr lang="en-US" sz="900" dirty="0"/>
          </a:p>
        </p:txBody>
      </p:sp>
      <p:sp>
        <p:nvSpPr>
          <p:cNvPr id="15" name="Shape 12"/>
          <p:cNvSpPr/>
          <p:nvPr/>
        </p:nvSpPr>
        <p:spPr>
          <a:xfrm>
            <a:off x="457200" y="1691640"/>
            <a:ext cx="2743200" cy="2743200"/>
          </a:xfrm>
          <a:prstGeom prst="rect">
            <a:avLst/>
          </a:prstGeom>
          <a:solidFill>
            <a:srgbClr val="FFFFFF"/>
          </a:solidFill>
          <a:ln w="9525">
            <a:solidFill>
              <a:srgbClr val="E5E8EE"/>
            </a:solidFill>
            <a:prstDash val="solid"/>
          </a:ln>
        </p:spPr>
        <p:txBody>
          <a:bodyPr/>
          <a:lstStyle/>
          <a:p>
            <a:endParaRPr lang="en-IL"/>
          </a:p>
        </p:txBody>
      </p:sp>
      <p:sp>
        <p:nvSpPr>
          <p:cNvPr id="16" name="Shape 13"/>
          <p:cNvSpPr/>
          <p:nvPr/>
        </p:nvSpPr>
        <p:spPr>
          <a:xfrm>
            <a:off x="457200" y="1691640"/>
            <a:ext cx="2743200" cy="411480"/>
          </a:xfrm>
          <a:prstGeom prst="rect">
            <a:avLst/>
          </a:prstGeom>
          <a:solidFill>
            <a:srgbClr val="5A6678"/>
          </a:solidFill>
          <a:ln/>
        </p:spPr>
        <p:txBody>
          <a:bodyPr/>
          <a:lstStyle/>
          <a:p>
            <a:endParaRPr lang="en-IL"/>
          </a:p>
        </p:txBody>
      </p:sp>
      <p:sp>
        <p:nvSpPr>
          <p:cNvPr id="17" name="Text 14"/>
          <p:cNvSpPr/>
          <p:nvPr/>
        </p:nvSpPr>
        <p:spPr>
          <a:xfrm>
            <a:off x="594360" y="1691640"/>
            <a:ext cx="24688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FLAT</a:t>
            </a:r>
            <a:endParaRPr lang="en-US" sz="1400" dirty="0"/>
          </a:p>
        </p:txBody>
      </p:sp>
      <p:sp>
        <p:nvSpPr>
          <p:cNvPr id="18" name="Text 15"/>
          <p:cNvSpPr/>
          <p:nvPr/>
        </p:nvSpPr>
        <p:spPr>
          <a:xfrm>
            <a:off x="621792" y="2194560"/>
            <a:ext cx="2414016" cy="457200"/>
          </a:xfrm>
          <a:prstGeom prst="rect">
            <a:avLst/>
          </a:prstGeom>
          <a:noFill/>
          <a:ln/>
        </p:spPr>
        <p:txBody>
          <a:bodyPr wrap="square" lIns="0" tIns="0" rIns="0" bIns="0" rtlCol="0" anchor="t"/>
          <a:lstStyle/>
          <a:p>
            <a:pPr marL="0" indent="0">
              <a:buNone/>
            </a:pPr>
            <a:r>
              <a:rPr lang="en-US" sz="1250" b="1" dirty="0">
                <a:solidFill>
                  <a:srgbClr val="163341"/>
                </a:solidFill>
                <a:latin typeface="Calibri" pitchFamily="34" charset="0"/>
                <a:ea typeface="Calibri" pitchFamily="34" charset="-122"/>
                <a:cs typeface="Calibri" pitchFamily="34" charset="-120"/>
              </a:rPr>
              <a:t>Brute-Force Exact Search</a:t>
            </a:r>
            <a:endParaRPr lang="en-US" sz="1250" dirty="0"/>
          </a:p>
        </p:txBody>
      </p:sp>
      <p:sp>
        <p:nvSpPr>
          <p:cNvPr id="19" name="Shape 16"/>
          <p:cNvSpPr/>
          <p:nvPr/>
        </p:nvSpPr>
        <p:spPr>
          <a:xfrm>
            <a:off x="658368" y="2788920"/>
            <a:ext cx="91440" cy="91440"/>
          </a:xfrm>
          <a:prstGeom prst="line">
            <a:avLst/>
          </a:prstGeom>
          <a:solidFill>
            <a:srgbClr val="5A6678"/>
          </a:solidFill>
          <a:ln/>
        </p:spPr>
        <p:txBody>
          <a:bodyPr/>
          <a:lstStyle/>
          <a:p>
            <a:endParaRPr lang="en-IL"/>
          </a:p>
        </p:txBody>
      </p:sp>
      <p:sp>
        <p:nvSpPr>
          <p:cNvPr id="20" name="Text 17"/>
          <p:cNvSpPr/>
          <p:nvPr/>
        </p:nvSpPr>
        <p:spPr>
          <a:xfrm>
            <a:off x="822960" y="2697480"/>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100% recall</a:t>
            </a:r>
            <a:endParaRPr lang="en-US" sz="1000" dirty="0"/>
          </a:p>
        </p:txBody>
      </p:sp>
      <p:sp>
        <p:nvSpPr>
          <p:cNvPr id="21" name="Shape 18"/>
          <p:cNvSpPr/>
          <p:nvPr/>
        </p:nvSpPr>
        <p:spPr>
          <a:xfrm>
            <a:off x="658368" y="3081528"/>
            <a:ext cx="91440" cy="91440"/>
          </a:xfrm>
          <a:prstGeom prst="line">
            <a:avLst/>
          </a:prstGeom>
          <a:solidFill>
            <a:srgbClr val="5A6678"/>
          </a:solidFill>
          <a:ln/>
        </p:spPr>
        <p:txBody>
          <a:bodyPr/>
          <a:lstStyle/>
          <a:p>
            <a:endParaRPr lang="en-IL"/>
          </a:p>
        </p:txBody>
      </p:sp>
      <p:sp>
        <p:nvSpPr>
          <p:cNvPr id="22" name="Text 19"/>
          <p:cNvSpPr/>
          <p:nvPr/>
        </p:nvSpPr>
        <p:spPr>
          <a:xfrm>
            <a:off x="822960" y="2990088"/>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O(n) query time</a:t>
            </a:r>
            <a:endParaRPr lang="en-US" sz="1000" dirty="0"/>
          </a:p>
        </p:txBody>
      </p:sp>
      <p:sp>
        <p:nvSpPr>
          <p:cNvPr id="23" name="Shape 20"/>
          <p:cNvSpPr/>
          <p:nvPr/>
        </p:nvSpPr>
        <p:spPr>
          <a:xfrm>
            <a:off x="658368" y="3374136"/>
            <a:ext cx="91440" cy="91440"/>
          </a:xfrm>
          <a:prstGeom prst="line">
            <a:avLst/>
          </a:prstGeom>
          <a:solidFill>
            <a:srgbClr val="5A6678"/>
          </a:solidFill>
          <a:ln/>
        </p:spPr>
        <p:txBody>
          <a:bodyPr/>
          <a:lstStyle/>
          <a:p>
            <a:endParaRPr lang="en-IL"/>
          </a:p>
        </p:txBody>
      </p:sp>
      <p:sp>
        <p:nvSpPr>
          <p:cNvPr id="24" name="Text 21"/>
          <p:cNvSpPr/>
          <p:nvPr/>
        </p:nvSpPr>
        <p:spPr>
          <a:xfrm>
            <a:off x="822960" y="3282696"/>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minimal memory</a:t>
            </a:r>
            <a:endParaRPr lang="en-US" sz="1000" dirty="0"/>
          </a:p>
        </p:txBody>
      </p:sp>
      <p:sp>
        <p:nvSpPr>
          <p:cNvPr id="25" name="Text 22"/>
          <p:cNvSpPr/>
          <p:nvPr/>
        </p:nvSpPr>
        <p:spPr>
          <a:xfrm>
            <a:off x="621792" y="3703320"/>
            <a:ext cx="2414016" cy="640080"/>
          </a:xfrm>
          <a:prstGeom prst="rect">
            <a:avLst/>
          </a:prstGeom>
          <a:noFill/>
          <a:ln/>
        </p:spPr>
        <p:txBody>
          <a:bodyPr wrap="square" lIns="0" tIns="0" rIns="0" bIns="0" rtlCol="0" anchor="t"/>
          <a:lstStyle/>
          <a:p>
            <a:pPr marL="0" indent="0">
              <a:buNone/>
            </a:pPr>
            <a:r>
              <a:rPr lang="en-US" sz="900" i="1" dirty="0">
                <a:solidFill>
                  <a:srgbClr val="5A6678"/>
                </a:solidFill>
                <a:latin typeface="Calibri" pitchFamily="34" charset="0"/>
                <a:ea typeface="Calibri" pitchFamily="34" charset="-122"/>
                <a:cs typeface="Calibri" pitchFamily="34" charset="-120"/>
              </a:rPr>
              <a:t>Use when n &lt; 50K  ·  baseline accuracy validation  ·  zero-tolerance recall environments</a:t>
            </a:r>
            <a:endParaRPr lang="en-US" sz="900" dirty="0"/>
          </a:p>
        </p:txBody>
      </p:sp>
      <p:sp>
        <p:nvSpPr>
          <p:cNvPr id="26" name="Shape 23"/>
          <p:cNvSpPr/>
          <p:nvPr/>
        </p:nvSpPr>
        <p:spPr>
          <a:xfrm>
            <a:off x="3337560" y="1691640"/>
            <a:ext cx="2743200" cy="2743200"/>
          </a:xfrm>
          <a:prstGeom prst="rect">
            <a:avLst/>
          </a:prstGeom>
          <a:solidFill>
            <a:srgbClr val="FFFFFF"/>
          </a:solidFill>
          <a:ln w="9525">
            <a:solidFill>
              <a:srgbClr val="E5E8EE"/>
            </a:solidFill>
            <a:prstDash val="solid"/>
          </a:ln>
        </p:spPr>
        <p:txBody>
          <a:bodyPr/>
          <a:lstStyle/>
          <a:p>
            <a:endParaRPr lang="en-IL"/>
          </a:p>
        </p:txBody>
      </p:sp>
      <p:sp>
        <p:nvSpPr>
          <p:cNvPr id="27" name="Shape 24"/>
          <p:cNvSpPr/>
          <p:nvPr/>
        </p:nvSpPr>
        <p:spPr>
          <a:xfrm>
            <a:off x="3337560" y="1691640"/>
            <a:ext cx="2743200" cy="411480"/>
          </a:xfrm>
          <a:prstGeom prst="rect">
            <a:avLst/>
          </a:prstGeom>
          <a:solidFill>
            <a:srgbClr val="FF4438"/>
          </a:solidFill>
          <a:ln/>
        </p:spPr>
        <p:txBody>
          <a:bodyPr/>
          <a:lstStyle/>
          <a:p>
            <a:endParaRPr lang="en-IL"/>
          </a:p>
        </p:txBody>
      </p:sp>
      <p:sp>
        <p:nvSpPr>
          <p:cNvPr id="28" name="Text 25"/>
          <p:cNvSpPr/>
          <p:nvPr/>
        </p:nvSpPr>
        <p:spPr>
          <a:xfrm>
            <a:off x="3474720" y="1691640"/>
            <a:ext cx="24688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HNSW</a:t>
            </a:r>
            <a:endParaRPr lang="en-US" sz="1400" dirty="0"/>
          </a:p>
        </p:txBody>
      </p:sp>
      <p:sp>
        <p:nvSpPr>
          <p:cNvPr id="29" name="Text 26"/>
          <p:cNvSpPr/>
          <p:nvPr/>
        </p:nvSpPr>
        <p:spPr>
          <a:xfrm>
            <a:off x="3502152" y="2194560"/>
            <a:ext cx="2414016" cy="457200"/>
          </a:xfrm>
          <a:prstGeom prst="rect">
            <a:avLst/>
          </a:prstGeom>
          <a:noFill/>
          <a:ln/>
        </p:spPr>
        <p:txBody>
          <a:bodyPr wrap="square" lIns="0" tIns="0" rIns="0" bIns="0" rtlCol="0" anchor="t"/>
          <a:lstStyle/>
          <a:p>
            <a:pPr marL="0" indent="0">
              <a:buNone/>
            </a:pPr>
            <a:r>
              <a:rPr lang="en-US" sz="1250" b="1" dirty="0">
                <a:solidFill>
                  <a:srgbClr val="163341"/>
                </a:solidFill>
                <a:latin typeface="Calibri" pitchFamily="34" charset="0"/>
                <a:ea typeface="Calibri" pitchFamily="34" charset="-122"/>
                <a:cs typeface="Calibri" pitchFamily="34" charset="-120"/>
              </a:rPr>
              <a:t>Hierarchical Navigable Small World</a:t>
            </a:r>
            <a:endParaRPr lang="en-US" sz="1250" dirty="0"/>
          </a:p>
        </p:txBody>
      </p:sp>
      <p:sp>
        <p:nvSpPr>
          <p:cNvPr id="30" name="Shape 27"/>
          <p:cNvSpPr/>
          <p:nvPr/>
        </p:nvSpPr>
        <p:spPr>
          <a:xfrm>
            <a:off x="3538728" y="2788920"/>
            <a:ext cx="91440" cy="91440"/>
          </a:xfrm>
          <a:prstGeom prst="line">
            <a:avLst/>
          </a:prstGeom>
          <a:solidFill>
            <a:srgbClr val="FF4438"/>
          </a:solidFill>
          <a:ln/>
        </p:spPr>
        <p:txBody>
          <a:bodyPr/>
          <a:lstStyle/>
          <a:p>
            <a:endParaRPr lang="en-IL"/>
          </a:p>
        </p:txBody>
      </p:sp>
      <p:sp>
        <p:nvSpPr>
          <p:cNvPr id="31" name="Text 28"/>
          <p:cNvSpPr/>
          <p:nvPr/>
        </p:nvSpPr>
        <p:spPr>
          <a:xfrm>
            <a:off x="3703320" y="2697480"/>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~95–99% recall</a:t>
            </a:r>
            <a:endParaRPr lang="en-US" sz="1000" dirty="0"/>
          </a:p>
        </p:txBody>
      </p:sp>
      <p:sp>
        <p:nvSpPr>
          <p:cNvPr id="32" name="Shape 29"/>
          <p:cNvSpPr/>
          <p:nvPr/>
        </p:nvSpPr>
        <p:spPr>
          <a:xfrm>
            <a:off x="3538728" y="3081528"/>
            <a:ext cx="91440" cy="91440"/>
          </a:xfrm>
          <a:prstGeom prst="line">
            <a:avLst/>
          </a:prstGeom>
          <a:solidFill>
            <a:srgbClr val="FF4438"/>
          </a:solidFill>
          <a:ln/>
        </p:spPr>
        <p:txBody>
          <a:bodyPr/>
          <a:lstStyle/>
          <a:p>
            <a:endParaRPr lang="en-IL"/>
          </a:p>
        </p:txBody>
      </p:sp>
      <p:sp>
        <p:nvSpPr>
          <p:cNvPr id="33" name="Text 30"/>
          <p:cNvSpPr/>
          <p:nvPr/>
        </p:nvSpPr>
        <p:spPr>
          <a:xfrm>
            <a:off x="3703320" y="2990088"/>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O(log n) query time</a:t>
            </a:r>
            <a:endParaRPr lang="en-US" sz="1000" dirty="0"/>
          </a:p>
        </p:txBody>
      </p:sp>
      <p:sp>
        <p:nvSpPr>
          <p:cNvPr id="34" name="Shape 31"/>
          <p:cNvSpPr/>
          <p:nvPr/>
        </p:nvSpPr>
        <p:spPr>
          <a:xfrm>
            <a:off x="3538728" y="3374136"/>
            <a:ext cx="91440" cy="91440"/>
          </a:xfrm>
          <a:prstGeom prst="line">
            <a:avLst/>
          </a:prstGeom>
          <a:solidFill>
            <a:srgbClr val="FF4438"/>
          </a:solidFill>
          <a:ln/>
        </p:spPr>
        <p:txBody>
          <a:bodyPr/>
          <a:lstStyle/>
          <a:p>
            <a:endParaRPr lang="en-IL"/>
          </a:p>
        </p:txBody>
      </p:sp>
      <p:sp>
        <p:nvSpPr>
          <p:cNvPr id="35" name="Text 32"/>
          <p:cNvSpPr/>
          <p:nvPr/>
        </p:nvSpPr>
        <p:spPr>
          <a:xfrm>
            <a:off x="3703320" y="3282696"/>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high RAM cost</a:t>
            </a:r>
            <a:endParaRPr lang="en-US" sz="1000" dirty="0"/>
          </a:p>
        </p:txBody>
      </p:sp>
      <p:sp>
        <p:nvSpPr>
          <p:cNvPr id="36" name="Text 33"/>
          <p:cNvSpPr/>
          <p:nvPr/>
        </p:nvSpPr>
        <p:spPr>
          <a:xfrm>
            <a:off x="3502152" y="3703320"/>
            <a:ext cx="2414016" cy="640080"/>
          </a:xfrm>
          <a:prstGeom prst="rect">
            <a:avLst/>
          </a:prstGeom>
          <a:noFill/>
          <a:ln/>
        </p:spPr>
        <p:txBody>
          <a:bodyPr wrap="square" lIns="0" tIns="0" rIns="0" bIns="0" rtlCol="0" anchor="t"/>
          <a:lstStyle/>
          <a:p>
            <a:pPr marL="0" indent="0">
              <a:buNone/>
            </a:pPr>
            <a:r>
              <a:rPr lang="en-US" sz="900" i="1" dirty="0">
                <a:solidFill>
                  <a:srgbClr val="5A6678"/>
                </a:solidFill>
                <a:latin typeface="Calibri" pitchFamily="34" charset="0"/>
                <a:ea typeface="Calibri" pitchFamily="34" charset="-122"/>
                <a:cs typeface="Calibri" pitchFamily="34" charset="-120"/>
              </a:rPr>
              <a:t>Production standard for n &gt; 50K  ·  graph layers route queries from sparse → dense  ·  tune M, EF_CONSTRUCTION, EF_RUNTIME</a:t>
            </a:r>
            <a:endParaRPr lang="en-US" sz="900" dirty="0"/>
          </a:p>
        </p:txBody>
      </p:sp>
      <p:sp>
        <p:nvSpPr>
          <p:cNvPr id="37" name="Shape 34"/>
          <p:cNvSpPr/>
          <p:nvPr/>
        </p:nvSpPr>
        <p:spPr>
          <a:xfrm>
            <a:off x="6217920" y="1691640"/>
            <a:ext cx="2743200" cy="2743200"/>
          </a:xfrm>
          <a:prstGeom prst="rect">
            <a:avLst/>
          </a:prstGeom>
          <a:solidFill>
            <a:srgbClr val="FFFFFF"/>
          </a:solidFill>
          <a:ln w="9525">
            <a:solidFill>
              <a:srgbClr val="E5E8EE"/>
            </a:solidFill>
            <a:prstDash val="solid"/>
          </a:ln>
        </p:spPr>
        <p:txBody>
          <a:bodyPr/>
          <a:lstStyle/>
          <a:p>
            <a:endParaRPr lang="en-IL"/>
          </a:p>
        </p:txBody>
      </p:sp>
      <p:sp>
        <p:nvSpPr>
          <p:cNvPr id="38" name="Shape 35"/>
          <p:cNvSpPr/>
          <p:nvPr/>
        </p:nvSpPr>
        <p:spPr>
          <a:xfrm>
            <a:off x="6217920" y="1691640"/>
            <a:ext cx="2743200" cy="411480"/>
          </a:xfrm>
          <a:prstGeom prst="rect">
            <a:avLst/>
          </a:prstGeom>
          <a:solidFill>
            <a:srgbClr val="163341"/>
          </a:solidFill>
          <a:ln/>
        </p:spPr>
        <p:txBody>
          <a:bodyPr/>
          <a:lstStyle/>
          <a:p>
            <a:endParaRPr lang="en-IL"/>
          </a:p>
        </p:txBody>
      </p:sp>
      <p:sp>
        <p:nvSpPr>
          <p:cNvPr id="39" name="Text 36"/>
          <p:cNvSpPr/>
          <p:nvPr/>
        </p:nvSpPr>
        <p:spPr>
          <a:xfrm>
            <a:off x="6355080" y="1691640"/>
            <a:ext cx="2468880" cy="41148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SVS-VAMANA</a:t>
            </a:r>
            <a:endParaRPr lang="en-US" sz="1400" dirty="0"/>
          </a:p>
        </p:txBody>
      </p:sp>
      <p:sp>
        <p:nvSpPr>
          <p:cNvPr id="40" name="Text 37"/>
          <p:cNvSpPr/>
          <p:nvPr/>
        </p:nvSpPr>
        <p:spPr>
          <a:xfrm>
            <a:off x="6382512" y="2194560"/>
            <a:ext cx="2414016" cy="457200"/>
          </a:xfrm>
          <a:prstGeom prst="rect">
            <a:avLst/>
          </a:prstGeom>
          <a:noFill/>
          <a:ln/>
        </p:spPr>
        <p:txBody>
          <a:bodyPr wrap="square" lIns="0" tIns="0" rIns="0" bIns="0" rtlCol="0" anchor="t"/>
          <a:lstStyle/>
          <a:p>
            <a:pPr marL="0" indent="0">
              <a:buNone/>
            </a:pPr>
            <a:r>
              <a:rPr lang="en-US" sz="1250" b="1" dirty="0">
                <a:solidFill>
                  <a:srgbClr val="163341"/>
                </a:solidFill>
                <a:latin typeface="Calibri" pitchFamily="34" charset="0"/>
                <a:ea typeface="Calibri" pitchFamily="34" charset="-122"/>
                <a:cs typeface="Calibri" pitchFamily="34" charset="-120"/>
              </a:rPr>
              <a:t>Single-Layer + Quantization (Intel)</a:t>
            </a:r>
            <a:endParaRPr lang="en-US" sz="1250" dirty="0"/>
          </a:p>
        </p:txBody>
      </p:sp>
      <p:sp>
        <p:nvSpPr>
          <p:cNvPr id="41" name="Shape 38"/>
          <p:cNvSpPr/>
          <p:nvPr/>
        </p:nvSpPr>
        <p:spPr>
          <a:xfrm>
            <a:off x="6419088" y="2788920"/>
            <a:ext cx="91440" cy="91440"/>
          </a:xfrm>
          <a:prstGeom prst="line">
            <a:avLst/>
          </a:prstGeom>
          <a:solidFill>
            <a:srgbClr val="163341"/>
          </a:solidFill>
          <a:ln/>
        </p:spPr>
        <p:txBody>
          <a:bodyPr/>
          <a:lstStyle/>
          <a:p>
            <a:endParaRPr lang="en-IL"/>
          </a:p>
        </p:txBody>
      </p:sp>
      <p:sp>
        <p:nvSpPr>
          <p:cNvPr id="42" name="Text 39"/>
          <p:cNvSpPr/>
          <p:nvPr/>
        </p:nvSpPr>
        <p:spPr>
          <a:xfrm>
            <a:off x="6583680" y="2697480"/>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~94–98% recall</a:t>
            </a:r>
            <a:endParaRPr lang="en-US" sz="1000" dirty="0"/>
          </a:p>
        </p:txBody>
      </p:sp>
      <p:sp>
        <p:nvSpPr>
          <p:cNvPr id="43" name="Shape 40"/>
          <p:cNvSpPr/>
          <p:nvPr/>
        </p:nvSpPr>
        <p:spPr>
          <a:xfrm>
            <a:off x="6419088" y="3081528"/>
            <a:ext cx="91440" cy="91440"/>
          </a:xfrm>
          <a:prstGeom prst="line">
            <a:avLst/>
          </a:prstGeom>
          <a:solidFill>
            <a:srgbClr val="163341"/>
          </a:solidFill>
          <a:ln/>
        </p:spPr>
        <p:txBody>
          <a:bodyPr/>
          <a:lstStyle/>
          <a:p>
            <a:endParaRPr lang="en-IL"/>
          </a:p>
        </p:txBody>
      </p:sp>
      <p:sp>
        <p:nvSpPr>
          <p:cNvPr id="44" name="Text 41"/>
          <p:cNvSpPr/>
          <p:nvPr/>
        </p:nvSpPr>
        <p:spPr>
          <a:xfrm>
            <a:off x="6583680" y="2990088"/>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O(log n) query time</a:t>
            </a:r>
            <a:endParaRPr lang="en-US" sz="1000" dirty="0"/>
          </a:p>
        </p:txBody>
      </p:sp>
      <p:sp>
        <p:nvSpPr>
          <p:cNvPr id="45" name="Shape 42"/>
          <p:cNvSpPr/>
          <p:nvPr/>
        </p:nvSpPr>
        <p:spPr>
          <a:xfrm>
            <a:off x="6419088" y="3374136"/>
            <a:ext cx="91440" cy="91440"/>
          </a:xfrm>
          <a:prstGeom prst="line">
            <a:avLst/>
          </a:prstGeom>
          <a:solidFill>
            <a:srgbClr val="163341"/>
          </a:solidFill>
          <a:ln/>
        </p:spPr>
        <p:txBody>
          <a:bodyPr/>
          <a:lstStyle/>
          <a:p>
            <a:endParaRPr lang="en-IL"/>
          </a:p>
        </p:txBody>
      </p:sp>
      <p:sp>
        <p:nvSpPr>
          <p:cNvPr id="46" name="Text 43"/>
          <p:cNvSpPr/>
          <p:nvPr/>
        </p:nvSpPr>
        <p:spPr>
          <a:xfrm>
            <a:off x="6583680" y="3282696"/>
            <a:ext cx="2286000" cy="274320"/>
          </a:xfrm>
          <a:prstGeom prst="rect">
            <a:avLst/>
          </a:prstGeom>
          <a:noFill/>
          <a:ln/>
        </p:spPr>
        <p:txBody>
          <a:bodyPr wrap="square" lIns="0" tIns="0" rIns="0" bIns="0" rtlCol="0" anchor="ctr"/>
          <a:lstStyle/>
          <a:p>
            <a:pPr marL="0" indent="0">
              <a:buNone/>
            </a:pPr>
            <a:r>
              <a:rPr lang="en-US" sz="1000" dirty="0">
                <a:solidFill>
                  <a:srgbClr val="3A4756"/>
                </a:solidFill>
                <a:latin typeface="Calibri" pitchFamily="34" charset="0"/>
                <a:ea typeface="Calibri" pitchFamily="34" charset="-122"/>
                <a:cs typeface="Calibri" pitchFamily="34" charset="-120"/>
              </a:rPr>
              <a:t>26-37% RAM saved</a:t>
            </a:r>
            <a:endParaRPr lang="en-US" sz="1000" dirty="0"/>
          </a:p>
        </p:txBody>
      </p:sp>
      <p:sp>
        <p:nvSpPr>
          <p:cNvPr id="47" name="Text 44"/>
          <p:cNvSpPr/>
          <p:nvPr/>
        </p:nvSpPr>
        <p:spPr>
          <a:xfrm>
            <a:off x="6382512" y="3703320"/>
            <a:ext cx="2414016" cy="640080"/>
          </a:xfrm>
          <a:prstGeom prst="rect">
            <a:avLst/>
          </a:prstGeom>
          <a:noFill/>
          <a:ln/>
        </p:spPr>
        <p:txBody>
          <a:bodyPr wrap="square" lIns="0" tIns="0" rIns="0" bIns="0" rtlCol="0" anchor="t"/>
          <a:lstStyle/>
          <a:p>
            <a:pPr marL="0" indent="0">
              <a:buNone/>
            </a:pPr>
            <a:r>
              <a:rPr lang="en-US" sz="900" i="1" dirty="0">
                <a:solidFill>
                  <a:srgbClr val="5A6678"/>
                </a:solidFill>
                <a:latin typeface="Calibri" pitchFamily="34" charset="0"/>
                <a:ea typeface="Calibri" pitchFamily="34" charset="-122"/>
                <a:cs typeface="Calibri" pitchFamily="34" charset="-120"/>
              </a:rPr>
              <a:t>Billion-scale deployments  ·  Locally-Adaptive Vector Quantization  ·  preferred when memory ceiling dominates TCO</a:t>
            </a:r>
            <a:endParaRPr lang="en-US" sz="900" dirty="0"/>
          </a:p>
        </p:txBody>
      </p:sp>
      <p:sp>
        <p:nvSpPr>
          <p:cNvPr id="48" name="Shape 45"/>
          <p:cNvSpPr/>
          <p:nvPr/>
        </p:nvSpPr>
        <p:spPr>
          <a:xfrm>
            <a:off x="320040" y="4864608"/>
            <a:ext cx="8503920" cy="10973"/>
          </a:xfrm>
          <a:prstGeom prst="rect">
            <a:avLst/>
          </a:prstGeom>
          <a:solidFill>
            <a:srgbClr val="D9DDE3"/>
          </a:solidFill>
          <a:ln/>
        </p:spPr>
        <p:txBody>
          <a:bodyPr/>
          <a:lstStyle/>
          <a:p>
            <a:endParaRPr lang="en-IL"/>
          </a:p>
        </p:txBody>
      </p:sp>
      <p:sp>
        <p:nvSpPr>
          <p:cNvPr id="49" name="Text 46"/>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50" name="Text 47"/>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4 / 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04  ·  RETRIEVAL</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Hybrid Search &amp; Reciprocal Rank Fusion (RRF)</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Shape 4"/>
          <p:cNvSpPr/>
          <p:nvPr/>
        </p:nvSpPr>
        <p:spPr>
          <a:xfrm>
            <a:off x="457200" y="1051560"/>
            <a:ext cx="8275320" cy="502920"/>
          </a:xfrm>
          <a:prstGeom prst="rect">
            <a:avLst/>
          </a:prstGeom>
          <a:solidFill>
            <a:srgbClr val="FFF6F4"/>
          </a:solidFill>
          <a:ln w="9525">
            <a:solidFill>
              <a:srgbClr val="FF4438"/>
            </a:solidFill>
            <a:prstDash val="solid"/>
          </a:ln>
        </p:spPr>
        <p:txBody>
          <a:bodyPr/>
          <a:lstStyle/>
          <a:p>
            <a:endParaRPr lang="en-IL"/>
          </a:p>
        </p:txBody>
      </p:sp>
      <p:sp>
        <p:nvSpPr>
          <p:cNvPr id="8" name="Shape 5"/>
          <p:cNvSpPr/>
          <p:nvPr/>
        </p:nvSpPr>
        <p:spPr>
          <a:xfrm>
            <a:off x="457200" y="1051560"/>
            <a:ext cx="54864" cy="502920"/>
          </a:xfrm>
          <a:prstGeom prst="rect">
            <a:avLst/>
          </a:prstGeom>
          <a:solidFill>
            <a:srgbClr val="FF4438"/>
          </a:solidFill>
          <a:ln/>
        </p:spPr>
        <p:txBody>
          <a:bodyPr/>
          <a:lstStyle/>
          <a:p>
            <a:endParaRPr lang="en-IL"/>
          </a:p>
        </p:txBody>
      </p:sp>
      <p:sp>
        <p:nvSpPr>
          <p:cNvPr id="9" name="Text 6"/>
          <p:cNvSpPr/>
          <p:nvPr/>
        </p:nvSpPr>
        <p:spPr>
          <a:xfrm>
            <a:off x="640080" y="1051560"/>
            <a:ext cx="8046720" cy="502920"/>
          </a:xfrm>
          <a:prstGeom prst="rect">
            <a:avLst/>
          </a:prstGeom>
          <a:noFill/>
          <a:ln/>
        </p:spPr>
        <p:txBody>
          <a:bodyPr wrap="square" lIns="0" tIns="0" rIns="0" bIns="0" rtlCol="0" anchor="ctr"/>
          <a:lstStyle/>
          <a:p>
            <a:pPr marL="0" indent="0">
              <a:buNone/>
            </a:pPr>
            <a:r>
              <a:rPr lang="en-US" sz="1050" b="1" dirty="0">
                <a:solidFill>
                  <a:srgbClr val="FF4438"/>
                </a:solidFill>
                <a:latin typeface="Calibri" pitchFamily="34" charset="0"/>
                <a:ea typeface="Calibri" pitchFamily="34" charset="-122"/>
                <a:cs typeface="Calibri" pitchFamily="34" charset="-120"/>
              </a:rPr>
              <a:t>Pain:  </a:t>
            </a:r>
            <a:r>
              <a:rPr lang="en-US" sz="1050" dirty="0">
                <a:solidFill>
                  <a:srgbClr val="163341"/>
                </a:solidFill>
                <a:latin typeface="Calibri" pitchFamily="34" charset="0"/>
                <a:ea typeface="Calibri" pitchFamily="34" charset="-122"/>
                <a:cs typeface="Calibri" pitchFamily="34" charset="-120"/>
              </a:rPr>
              <a:t>Pure semantic search misses exact tokens — error codes, SKUs, hex IDs, proprietary names — because the keyword is diluted in the embedding.</a:t>
            </a:r>
            <a:endParaRPr lang="en-US" sz="1050" dirty="0"/>
          </a:p>
        </p:txBody>
      </p:sp>
      <p:sp>
        <p:nvSpPr>
          <p:cNvPr id="10" name="Shape 7"/>
          <p:cNvSpPr/>
          <p:nvPr/>
        </p:nvSpPr>
        <p:spPr>
          <a:xfrm>
            <a:off x="457200" y="1783080"/>
            <a:ext cx="1554480" cy="640080"/>
          </a:xfrm>
          <a:prstGeom prst="roundRect">
            <a:avLst>
              <a:gd name="adj" fmla="val 8571"/>
            </a:avLst>
          </a:prstGeom>
          <a:solidFill>
            <a:srgbClr val="163341"/>
          </a:solidFill>
          <a:ln/>
        </p:spPr>
        <p:txBody>
          <a:bodyPr/>
          <a:lstStyle/>
          <a:p>
            <a:endParaRPr lang="en-IL"/>
          </a:p>
        </p:txBody>
      </p:sp>
      <p:sp>
        <p:nvSpPr>
          <p:cNvPr id="11" name="Text 8"/>
          <p:cNvSpPr/>
          <p:nvPr/>
        </p:nvSpPr>
        <p:spPr>
          <a:xfrm>
            <a:off x="457200" y="1783080"/>
            <a:ext cx="155448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 query</a:t>
            </a:r>
            <a:endParaRPr lang="en-US" sz="1000" dirty="0"/>
          </a:p>
        </p:txBody>
      </p:sp>
      <p:sp>
        <p:nvSpPr>
          <p:cNvPr id="12" name="Text 9"/>
          <p:cNvSpPr/>
          <p:nvPr/>
        </p:nvSpPr>
        <p:spPr>
          <a:xfrm>
            <a:off x="457200" y="2057400"/>
            <a:ext cx="1554480" cy="365760"/>
          </a:xfrm>
          <a:prstGeom prst="rect">
            <a:avLst/>
          </a:prstGeom>
          <a:noFill/>
          <a:ln/>
        </p:spPr>
        <p:txBody>
          <a:bodyPr wrap="square" lIns="0" tIns="0" rIns="0" bIns="0" rtlCol="0" anchor="ctr"/>
          <a:lstStyle/>
          <a:p>
            <a:pPr marL="0" indent="0" algn="ctr">
              <a:buNone/>
            </a:pPr>
            <a:r>
              <a:rPr lang="en-US" sz="900" i="1" dirty="0">
                <a:solidFill>
                  <a:srgbClr val="DCFF1E"/>
                </a:solidFill>
                <a:latin typeface="Calibri" pitchFamily="34" charset="0"/>
                <a:ea typeface="Calibri" pitchFamily="34" charset="-122"/>
                <a:cs typeface="Calibri" pitchFamily="34" charset="-120"/>
              </a:rPr>
              <a:t>"Intel H100 throughput"</a:t>
            </a:r>
            <a:endParaRPr lang="en-US" sz="900" dirty="0"/>
          </a:p>
        </p:txBody>
      </p:sp>
      <p:sp>
        <p:nvSpPr>
          <p:cNvPr id="13" name="Shape 10"/>
          <p:cNvSpPr/>
          <p:nvPr/>
        </p:nvSpPr>
        <p:spPr>
          <a:xfrm>
            <a:off x="2057400" y="1901952"/>
            <a:ext cx="411480" cy="36576"/>
          </a:xfrm>
          <a:prstGeom prst="rect">
            <a:avLst/>
          </a:prstGeom>
          <a:solidFill>
            <a:srgbClr val="5A6678"/>
          </a:solidFill>
          <a:ln/>
        </p:spPr>
        <p:txBody>
          <a:bodyPr/>
          <a:lstStyle/>
          <a:p>
            <a:endParaRPr lang="en-IL"/>
          </a:p>
        </p:txBody>
      </p:sp>
      <p:sp>
        <p:nvSpPr>
          <p:cNvPr id="14" name="Shape 11"/>
          <p:cNvSpPr/>
          <p:nvPr/>
        </p:nvSpPr>
        <p:spPr>
          <a:xfrm>
            <a:off x="2057400" y="2286000"/>
            <a:ext cx="411480" cy="36576"/>
          </a:xfrm>
          <a:prstGeom prst="rect">
            <a:avLst/>
          </a:prstGeom>
          <a:solidFill>
            <a:srgbClr val="5A6678"/>
          </a:solidFill>
          <a:ln/>
        </p:spPr>
        <p:txBody>
          <a:bodyPr/>
          <a:lstStyle/>
          <a:p>
            <a:endParaRPr lang="en-IL"/>
          </a:p>
        </p:txBody>
      </p:sp>
      <p:sp>
        <p:nvSpPr>
          <p:cNvPr id="15" name="Shape 12"/>
          <p:cNvSpPr/>
          <p:nvPr/>
        </p:nvSpPr>
        <p:spPr>
          <a:xfrm>
            <a:off x="2514600" y="1709928"/>
            <a:ext cx="2377440" cy="457200"/>
          </a:xfrm>
          <a:prstGeom prst="roundRect">
            <a:avLst>
              <a:gd name="adj" fmla="val 10000"/>
            </a:avLst>
          </a:prstGeom>
          <a:solidFill>
            <a:srgbClr val="FFFFFF"/>
          </a:solidFill>
          <a:ln w="9525">
            <a:solidFill>
              <a:srgbClr val="E5E8EE"/>
            </a:solidFill>
            <a:prstDash val="solid"/>
          </a:ln>
        </p:spPr>
        <p:txBody>
          <a:bodyPr/>
          <a:lstStyle/>
          <a:p>
            <a:endParaRPr lang="en-IL"/>
          </a:p>
        </p:txBody>
      </p:sp>
      <p:sp>
        <p:nvSpPr>
          <p:cNvPr id="16" name="Text 13"/>
          <p:cNvSpPr/>
          <p:nvPr/>
        </p:nvSpPr>
        <p:spPr>
          <a:xfrm>
            <a:off x="2606040" y="1709928"/>
            <a:ext cx="1280160" cy="457200"/>
          </a:xfrm>
          <a:prstGeom prst="rect">
            <a:avLst/>
          </a:prstGeom>
          <a:noFill/>
          <a:ln/>
        </p:spPr>
        <p:txBody>
          <a:bodyPr wrap="square" lIns="0" tIns="0" rIns="0" bIns="0" rtlCol="0" anchor="ctr"/>
          <a:lstStyle/>
          <a:p>
            <a:pPr marL="0" indent="0">
              <a:buNone/>
            </a:pPr>
            <a:r>
              <a:rPr lang="en-US" sz="1100" b="1" dirty="0">
                <a:solidFill>
                  <a:srgbClr val="FF4438"/>
                </a:solidFill>
                <a:latin typeface="Calibri" pitchFamily="34" charset="0"/>
                <a:ea typeface="Calibri" pitchFamily="34" charset="-122"/>
                <a:cs typeface="Calibri" pitchFamily="34" charset="-120"/>
              </a:rPr>
              <a:t>Sparse · BM25</a:t>
            </a:r>
            <a:endParaRPr lang="en-US" sz="1100" dirty="0"/>
          </a:p>
        </p:txBody>
      </p:sp>
      <p:sp>
        <p:nvSpPr>
          <p:cNvPr id="17" name="Text 14"/>
          <p:cNvSpPr/>
          <p:nvPr/>
        </p:nvSpPr>
        <p:spPr>
          <a:xfrm>
            <a:off x="3657600" y="1709928"/>
            <a:ext cx="1188720" cy="457200"/>
          </a:xfrm>
          <a:prstGeom prst="rect">
            <a:avLst/>
          </a:prstGeom>
          <a:noFill/>
          <a:ln/>
        </p:spPr>
        <p:txBody>
          <a:bodyPr wrap="square" lIns="0" tIns="0" rIns="0" bIns="0" rtlCol="0" anchor="ctr"/>
          <a:lstStyle/>
          <a:p>
            <a:pPr marL="0" indent="0">
              <a:buNone/>
            </a:pPr>
            <a:r>
              <a:rPr lang="en-US" sz="900" dirty="0">
                <a:solidFill>
                  <a:srgbClr val="5A6678"/>
                </a:solidFill>
                <a:latin typeface="Calibri" pitchFamily="34" charset="0"/>
                <a:ea typeface="Calibri" pitchFamily="34" charset="-122"/>
                <a:cs typeface="Calibri" pitchFamily="34" charset="-120"/>
              </a:rPr>
              <a:t>TF-IDF, exact tokens</a:t>
            </a:r>
            <a:endParaRPr lang="en-US" sz="900" dirty="0"/>
          </a:p>
        </p:txBody>
      </p:sp>
      <p:sp>
        <p:nvSpPr>
          <p:cNvPr id="18" name="Shape 15"/>
          <p:cNvSpPr/>
          <p:nvPr/>
        </p:nvSpPr>
        <p:spPr>
          <a:xfrm>
            <a:off x="2514600" y="2167128"/>
            <a:ext cx="2377440" cy="457200"/>
          </a:xfrm>
          <a:prstGeom prst="roundRect">
            <a:avLst>
              <a:gd name="adj" fmla="val 10000"/>
            </a:avLst>
          </a:prstGeom>
          <a:solidFill>
            <a:srgbClr val="FFFFFF"/>
          </a:solidFill>
          <a:ln w="9525">
            <a:solidFill>
              <a:srgbClr val="E5E8EE"/>
            </a:solidFill>
            <a:prstDash val="solid"/>
          </a:ln>
        </p:spPr>
        <p:txBody>
          <a:bodyPr/>
          <a:lstStyle/>
          <a:p>
            <a:endParaRPr lang="en-IL"/>
          </a:p>
        </p:txBody>
      </p:sp>
      <p:sp>
        <p:nvSpPr>
          <p:cNvPr id="19" name="Text 16"/>
          <p:cNvSpPr/>
          <p:nvPr/>
        </p:nvSpPr>
        <p:spPr>
          <a:xfrm>
            <a:off x="2606040" y="2167128"/>
            <a:ext cx="1463040" cy="457200"/>
          </a:xfrm>
          <a:prstGeom prst="rect">
            <a:avLst/>
          </a:prstGeom>
          <a:noFill/>
          <a:ln/>
        </p:spPr>
        <p:txBody>
          <a:bodyPr wrap="square" lIns="0" tIns="0" rIns="0" bIns="0" rtlCol="0" anchor="ctr"/>
          <a:lstStyle/>
          <a:p>
            <a:pPr marL="0" indent="0">
              <a:buNone/>
            </a:pPr>
            <a:r>
              <a:rPr lang="en-US" sz="1100" b="1" dirty="0">
                <a:solidFill>
                  <a:srgbClr val="163341"/>
                </a:solidFill>
                <a:latin typeface="Calibri" pitchFamily="34" charset="0"/>
                <a:ea typeface="Calibri" pitchFamily="34" charset="-122"/>
                <a:cs typeface="Calibri" pitchFamily="34" charset="-120"/>
              </a:rPr>
              <a:t>Dense · Vector ANN</a:t>
            </a:r>
            <a:endParaRPr lang="en-US" sz="1100" dirty="0"/>
          </a:p>
        </p:txBody>
      </p:sp>
      <p:sp>
        <p:nvSpPr>
          <p:cNvPr id="20" name="Text 17"/>
          <p:cNvSpPr/>
          <p:nvPr/>
        </p:nvSpPr>
        <p:spPr>
          <a:xfrm>
            <a:off x="3840480" y="2167128"/>
            <a:ext cx="1005840" cy="457200"/>
          </a:xfrm>
          <a:prstGeom prst="rect">
            <a:avLst/>
          </a:prstGeom>
          <a:noFill/>
          <a:ln/>
        </p:spPr>
        <p:txBody>
          <a:bodyPr wrap="square" lIns="0" tIns="0" rIns="0" bIns="0" rtlCol="0" anchor="ctr"/>
          <a:lstStyle/>
          <a:p>
            <a:pPr marL="0" indent="0">
              <a:buNone/>
            </a:pPr>
            <a:r>
              <a:rPr lang="en-US" sz="900" dirty="0">
                <a:solidFill>
                  <a:srgbClr val="5A6678"/>
                </a:solidFill>
                <a:latin typeface="Calibri" pitchFamily="34" charset="0"/>
                <a:ea typeface="Calibri" pitchFamily="34" charset="-122"/>
                <a:cs typeface="Calibri" pitchFamily="34" charset="-120"/>
              </a:rPr>
              <a:t>HNSW / VAMANA</a:t>
            </a:r>
            <a:endParaRPr lang="en-US" sz="900" dirty="0"/>
          </a:p>
        </p:txBody>
      </p:sp>
      <p:sp>
        <p:nvSpPr>
          <p:cNvPr id="21" name="Shape 18"/>
          <p:cNvSpPr/>
          <p:nvPr/>
        </p:nvSpPr>
        <p:spPr>
          <a:xfrm>
            <a:off x="4937760" y="1920240"/>
            <a:ext cx="411480" cy="36576"/>
          </a:xfrm>
          <a:prstGeom prst="rect">
            <a:avLst/>
          </a:prstGeom>
          <a:solidFill>
            <a:srgbClr val="5A6678"/>
          </a:solidFill>
          <a:ln/>
        </p:spPr>
        <p:txBody>
          <a:bodyPr/>
          <a:lstStyle/>
          <a:p>
            <a:endParaRPr lang="en-IL"/>
          </a:p>
        </p:txBody>
      </p:sp>
      <p:sp>
        <p:nvSpPr>
          <p:cNvPr id="22" name="Shape 19"/>
          <p:cNvSpPr/>
          <p:nvPr/>
        </p:nvSpPr>
        <p:spPr>
          <a:xfrm>
            <a:off x="4937760" y="2286000"/>
            <a:ext cx="411480" cy="36576"/>
          </a:xfrm>
          <a:prstGeom prst="rect">
            <a:avLst/>
          </a:prstGeom>
          <a:solidFill>
            <a:srgbClr val="5A6678"/>
          </a:solidFill>
          <a:ln/>
        </p:spPr>
        <p:txBody>
          <a:bodyPr/>
          <a:lstStyle/>
          <a:p>
            <a:endParaRPr lang="en-IL"/>
          </a:p>
        </p:txBody>
      </p:sp>
      <p:sp>
        <p:nvSpPr>
          <p:cNvPr id="23" name="Shape 20"/>
          <p:cNvSpPr/>
          <p:nvPr/>
        </p:nvSpPr>
        <p:spPr>
          <a:xfrm>
            <a:off x="5394960" y="1737360"/>
            <a:ext cx="1828800" cy="914400"/>
          </a:xfrm>
          <a:prstGeom prst="roundRect">
            <a:avLst>
              <a:gd name="adj" fmla="val 6000"/>
            </a:avLst>
          </a:prstGeom>
          <a:solidFill>
            <a:srgbClr val="FF4438"/>
          </a:solidFill>
          <a:ln/>
        </p:spPr>
        <p:txBody>
          <a:bodyPr/>
          <a:lstStyle/>
          <a:p>
            <a:endParaRPr lang="en-IL"/>
          </a:p>
        </p:txBody>
      </p:sp>
      <p:sp>
        <p:nvSpPr>
          <p:cNvPr id="24" name="Text 21"/>
          <p:cNvSpPr/>
          <p:nvPr/>
        </p:nvSpPr>
        <p:spPr>
          <a:xfrm>
            <a:off x="5394960" y="1737360"/>
            <a:ext cx="1828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RRF</a:t>
            </a:r>
            <a:endParaRPr lang="en-US" sz="1600" dirty="0"/>
          </a:p>
        </p:txBody>
      </p:sp>
      <p:sp>
        <p:nvSpPr>
          <p:cNvPr id="25" name="Text 22"/>
          <p:cNvSpPr/>
          <p:nvPr/>
        </p:nvSpPr>
        <p:spPr>
          <a:xfrm>
            <a:off x="5394960" y="2057400"/>
            <a:ext cx="1828800" cy="27432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Reciprocal Rank Fusion</a:t>
            </a:r>
            <a:endParaRPr lang="en-US" sz="850" dirty="0"/>
          </a:p>
        </p:txBody>
      </p:sp>
      <p:sp>
        <p:nvSpPr>
          <p:cNvPr id="26" name="Text 23"/>
          <p:cNvSpPr/>
          <p:nvPr/>
        </p:nvSpPr>
        <p:spPr>
          <a:xfrm>
            <a:off x="5394960" y="2286000"/>
            <a:ext cx="1828800" cy="365760"/>
          </a:xfrm>
          <a:prstGeom prst="rect">
            <a:avLst/>
          </a:prstGeom>
          <a:noFill/>
          <a:ln/>
        </p:spPr>
        <p:txBody>
          <a:bodyPr wrap="square" lIns="0" tIns="0" rIns="0" bIns="0"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score = Σ 1 / (k + rank)</a:t>
            </a:r>
            <a:endParaRPr lang="en-US" sz="950" dirty="0"/>
          </a:p>
        </p:txBody>
      </p:sp>
      <p:sp>
        <p:nvSpPr>
          <p:cNvPr id="27" name="Shape 24"/>
          <p:cNvSpPr/>
          <p:nvPr/>
        </p:nvSpPr>
        <p:spPr>
          <a:xfrm>
            <a:off x="7269480" y="2176272"/>
            <a:ext cx="365760" cy="36576"/>
          </a:xfrm>
          <a:prstGeom prst="rect">
            <a:avLst/>
          </a:prstGeom>
          <a:solidFill>
            <a:srgbClr val="5A6678"/>
          </a:solidFill>
          <a:ln/>
        </p:spPr>
        <p:txBody>
          <a:bodyPr/>
          <a:lstStyle/>
          <a:p>
            <a:endParaRPr lang="en-IL"/>
          </a:p>
        </p:txBody>
      </p:sp>
      <p:sp>
        <p:nvSpPr>
          <p:cNvPr id="28" name="Shape 25"/>
          <p:cNvSpPr/>
          <p:nvPr/>
        </p:nvSpPr>
        <p:spPr>
          <a:xfrm>
            <a:off x="7680960" y="1874520"/>
            <a:ext cx="1097280" cy="640080"/>
          </a:xfrm>
          <a:prstGeom prst="roundRect">
            <a:avLst>
              <a:gd name="adj" fmla="val 8571"/>
            </a:avLst>
          </a:prstGeom>
          <a:solidFill>
            <a:srgbClr val="163341"/>
          </a:solidFill>
          <a:ln/>
        </p:spPr>
        <p:txBody>
          <a:bodyPr/>
          <a:lstStyle/>
          <a:p>
            <a:endParaRPr lang="en-IL"/>
          </a:p>
        </p:txBody>
      </p:sp>
      <p:sp>
        <p:nvSpPr>
          <p:cNvPr id="29" name="Text 26"/>
          <p:cNvSpPr/>
          <p:nvPr/>
        </p:nvSpPr>
        <p:spPr>
          <a:xfrm>
            <a:off x="7680960" y="1874520"/>
            <a:ext cx="1097280" cy="6400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Top-K</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unified</a:t>
            </a:r>
            <a:endParaRPr lang="en-US" sz="1000" dirty="0"/>
          </a:p>
        </p:txBody>
      </p:sp>
      <p:sp>
        <p:nvSpPr>
          <p:cNvPr id="30" name="Shape 27"/>
          <p:cNvSpPr/>
          <p:nvPr/>
        </p:nvSpPr>
        <p:spPr>
          <a:xfrm>
            <a:off x="457200" y="2971800"/>
            <a:ext cx="2697480" cy="960120"/>
          </a:xfrm>
          <a:prstGeom prst="rect">
            <a:avLst/>
          </a:prstGeom>
          <a:solidFill>
            <a:srgbClr val="FFFFFF"/>
          </a:solidFill>
          <a:ln w="9525">
            <a:solidFill>
              <a:srgbClr val="E5E8EE"/>
            </a:solidFill>
            <a:prstDash val="solid"/>
          </a:ln>
        </p:spPr>
        <p:txBody>
          <a:bodyPr/>
          <a:lstStyle/>
          <a:p>
            <a:endParaRPr lang="en-IL"/>
          </a:p>
        </p:txBody>
      </p:sp>
      <p:sp>
        <p:nvSpPr>
          <p:cNvPr id="31" name="Shape 28"/>
          <p:cNvSpPr/>
          <p:nvPr/>
        </p:nvSpPr>
        <p:spPr>
          <a:xfrm>
            <a:off x="457200" y="2971800"/>
            <a:ext cx="54864" cy="960120"/>
          </a:xfrm>
          <a:prstGeom prst="rect">
            <a:avLst/>
          </a:prstGeom>
          <a:solidFill>
            <a:srgbClr val="163341"/>
          </a:solidFill>
          <a:ln/>
        </p:spPr>
        <p:txBody>
          <a:bodyPr/>
          <a:lstStyle/>
          <a:p>
            <a:endParaRPr lang="en-IL"/>
          </a:p>
        </p:txBody>
      </p:sp>
      <p:sp>
        <p:nvSpPr>
          <p:cNvPr id="32" name="Text 29"/>
          <p:cNvSpPr/>
          <p:nvPr/>
        </p:nvSpPr>
        <p:spPr>
          <a:xfrm>
            <a:off x="594360" y="3026664"/>
            <a:ext cx="2468880" cy="274320"/>
          </a:xfrm>
          <a:prstGeom prst="rect">
            <a:avLst/>
          </a:prstGeom>
          <a:noFill/>
          <a:ln/>
        </p:spPr>
        <p:txBody>
          <a:bodyPr wrap="square" lIns="0" tIns="0" rIns="0" bIns="0" rtlCol="0" anchor="ctr"/>
          <a:lstStyle/>
          <a:p>
            <a:pPr marL="0" indent="0">
              <a:buNone/>
            </a:pPr>
            <a:r>
              <a:rPr lang="en-US" sz="1100" b="1" dirty="0">
                <a:solidFill>
                  <a:srgbClr val="163341"/>
                </a:solidFill>
                <a:latin typeface="Calibri" pitchFamily="34" charset="0"/>
                <a:ea typeface="Calibri" pitchFamily="34" charset="-122"/>
                <a:cs typeface="Calibri" pitchFamily="34" charset="-120"/>
              </a:rPr>
              <a:t>Single command</a:t>
            </a:r>
            <a:endParaRPr lang="en-US" sz="1100" dirty="0"/>
          </a:p>
        </p:txBody>
      </p:sp>
      <p:sp>
        <p:nvSpPr>
          <p:cNvPr id="33" name="Text 30"/>
          <p:cNvSpPr/>
          <p:nvPr/>
        </p:nvSpPr>
        <p:spPr>
          <a:xfrm>
            <a:off x="594360" y="3300984"/>
            <a:ext cx="2468880" cy="640080"/>
          </a:xfrm>
          <a:prstGeom prst="rect">
            <a:avLst/>
          </a:prstGeom>
          <a:noFill/>
          <a:ln/>
        </p:spPr>
        <p:txBody>
          <a:bodyPr wrap="square" lIns="0" tIns="0" rIns="0" bIns="0" rtlCol="0" anchor="t"/>
          <a:lstStyle/>
          <a:p>
            <a:pPr marL="0" indent="0">
              <a:buNone/>
            </a:pPr>
            <a:r>
              <a:rPr lang="en-US" sz="950" dirty="0">
                <a:solidFill>
                  <a:srgbClr val="3A4756"/>
                </a:solidFill>
                <a:latin typeface="Calibri" pitchFamily="34" charset="0"/>
                <a:ea typeface="Calibri" pitchFamily="34" charset="-122"/>
                <a:cs typeface="Calibri" pitchFamily="34" charset="-120"/>
              </a:rPr>
              <a:t>FT.HYBRID runs both retrievals inside the engine — no app-side fusion code.</a:t>
            </a:r>
            <a:endParaRPr lang="en-US" sz="950" dirty="0"/>
          </a:p>
        </p:txBody>
      </p:sp>
      <p:sp>
        <p:nvSpPr>
          <p:cNvPr id="34" name="Shape 31"/>
          <p:cNvSpPr/>
          <p:nvPr/>
        </p:nvSpPr>
        <p:spPr>
          <a:xfrm>
            <a:off x="3246120" y="2971800"/>
            <a:ext cx="2697480" cy="960120"/>
          </a:xfrm>
          <a:prstGeom prst="rect">
            <a:avLst/>
          </a:prstGeom>
          <a:solidFill>
            <a:srgbClr val="FFFFFF"/>
          </a:solidFill>
          <a:ln w="9525">
            <a:solidFill>
              <a:srgbClr val="E5E8EE"/>
            </a:solidFill>
            <a:prstDash val="solid"/>
          </a:ln>
        </p:spPr>
        <p:txBody>
          <a:bodyPr/>
          <a:lstStyle/>
          <a:p>
            <a:endParaRPr lang="en-IL"/>
          </a:p>
        </p:txBody>
      </p:sp>
      <p:sp>
        <p:nvSpPr>
          <p:cNvPr id="35" name="Shape 32"/>
          <p:cNvSpPr/>
          <p:nvPr/>
        </p:nvSpPr>
        <p:spPr>
          <a:xfrm>
            <a:off x="3246120" y="2971800"/>
            <a:ext cx="54864" cy="960120"/>
          </a:xfrm>
          <a:prstGeom prst="rect">
            <a:avLst/>
          </a:prstGeom>
          <a:solidFill>
            <a:srgbClr val="163341"/>
          </a:solidFill>
          <a:ln/>
        </p:spPr>
        <p:txBody>
          <a:bodyPr/>
          <a:lstStyle/>
          <a:p>
            <a:endParaRPr lang="en-IL"/>
          </a:p>
        </p:txBody>
      </p:sp>
      <p:sp>
        <p:nvSpPr>
          <p:cNvPr id="36" name="Text 33"/>
          <p:cNvSpPr/>
          <p:nvPr/>
        </p:nvSpPr>
        <p:spPr>
          <a:xfrm>
            <a:off x="3383280" y="3026664"/>
            <a:ext cx="2468880" cy="274320"/>
          </a:xfrm>
          <a:prstGeom prst="rect">
            <a:avLst/>
          </a:prstGeom>
          <a:noFill/>
          <a:ln/>
        </p:spPr>
        <p:txBody>
          <a:bodyPr wrap="square" lIns="0" tIns="0" rIns="0" bIns="0" rtlCol="0" anchor="ctr"/>
          <a:lstStyle/>
          <a:p>
            <a:pPr marL="0" indent="0">
              <a:buNone/>
            </a:pPr>
            <a:r>
              <a:rPr lang="en-US" sz="1100" b="1" dirty="0">
                <a:solidFill>
                  <a:srgbClr val="163341"/>
                </a:solidFill>
                <a:latin typeface="Calibri" pitchFamily="34" charset="0"/>
                <a:ea typeface="Calibri" pitchFamily="34" charset="-122"/>
                <a:cs typeface="Calibri" pitchFamily="34" charset="-120"/>
              </a:rPr>
              <a:t>Bounded vs. unbounded scores</a:t>
            </a:r>
            <a:endParaRPr lang="en-US" sz="1100" dirty="0"/>
          </a:p>
        </p:txBody>
      </p:sp>
      <p:sp>
        <p:nvSpPr>
          <p:cNvPr id="37" name="Text 34"/>
          <p:cNvSpPr/>
          <p:nvPr/>
        </p:nvSpPr>
        <p:spPr>
          <a:xfrm>
            <a:off x="3383280" y="3300984"/>
            <a:ext cx="2468880" cy="640080"/>
          </a:xfrm>
          <a:prstGeom prst="rect">
            <a:avLst/>
          </a:prstGeom>
          <a:noFill/>
          <a:ln/>
        </p:spPr>
        <p:txBody>
          <a:bodyPr wrap="square" lIns="0" tIns="0" rIns="0" bIns="0" rtlCol="0" anchor="t"/>
          <a:lstStyle/>
          <a:p>
            <a:pPr marL="0" indent="0">
              <a:buNone/>
            </a:pPr>
            <a:r>
              <a:rPr lang="en-US" sz="950" dirty="0">
                <a:solidFill>
                  <a:srgbClr val="3A4756"/>
                </a:solidFill>
                <a:latin typeface="Calibri" pitchFamily="34" charset="0"/>
                <a:ea typeface="Calibri" pitchFamily="34" charset="-122"/>
                <a:cs typeface="Calibri" pitchFamily="34" charset="-120"/>
              </a:rPr>
              <a:t>RRF discards raw scores; ranks documents by position, smoothed by tunable k (default 60).</a:t>
            </a:r>
            <a:endParaRPr lang="en-US" sz="950" dirty="0"/>
          </a:p>
        </p:txBody>
      </p:sp>
      <p:sp>
        <p:nvSpPr>
          <p:cNvPr id="38" name="Shape 35"/>
          <p:cNvSpPr/>
          <p:nvPr/>
        </p:nvSpPr>
        <p:spPr>
          <a:xfrm>
            <a:off x="6035040" y="2971800"/>
            <a:ext cx="2697480" cy="960120"/>
          </a:xfrm>
          <a:prstGeom prst="rect">
            <a:avLst/>
          </a:prstGeom>
          <a:solidFill>
            <a:srgbClr val="FFFFFF"/>
          </a:solidFill>
          <a:ln w="9525">
            <a:solidFill>
              <a:srgbClr val="E5E8EE"/>
            </a:solidFill>
            <a:prstDash val="solid"/>
          </a:ln>
        </p:spPr>
        <p:txBody>
          <a:bodyPr/>
          <a:lstStyle/>
          <a:p>
            <a:endParaRPr lang="en-IL"/>
          </a:p>
        </p:txBody>
      </p:sp>
      <p:sp>
        <p:nvSpPr>
          <p:cNvPr id="39" name="Shape 36"/>
          <p:cNvSpPr/>
          <p:nvPr/>
        </p:nvSpPr>
        <p:spPr>
          <a:xfrm>
            <a:off x="6035040" y="2971800"/>
            <a:ext cx="54864" cy="960120"/>
          </a:xfrm>
          <a:prstGeom prst="rect">
            <a:avLst/>
          </a:prstGeom>
          <a:solidFill>
            <a:srgbClr val="163341"/>
          </a:solidFill>
          <a:ln/>
        </p:spPr>
        <p:txBody>
          <a:bodyPr/>
          <a:lstStyle/>
          <a:p>
            <a:endParaRPr lang="en-IL"/>
          </a:p>
        </p:txBody>
      </p:sp>
      <p:sp>
        <p:nvSpPr>
          <p:cNvPr id="40" name="Text 37"/>
          <p:cNvSpPr/>
          <p:nvPr/>
        </p:nvSpPr>
        <p:spPr>
          <a:xfrm>
            <a:off x="6172200" y="3026664"/>
            <a:ext cx="2468880" cy="274320"/>
          </a:xfrm>
          <a:prstGeom prst="rect">
            <a:avLst/>
          </a:prstGeom>
          <a:noFill/>
          <a:ln/>
        </p:spPr>
        <p:txBody>
          <a:bodyPr wrap="square" lIns="0" tIns="0" rIns="0" bIns="0" rtlCol="0" anchor="ctr"/>
          <a:lstStyle/>
          <a:p>
            <a:pPr marL="0" indent="0">
              <a:buNone/>
            </a:pPr>
            <a:r>
              <a:rPr lang="en-US" sz="1100" b="1" dirty="0">
                <a:solidFill>
                  <a:srgbClr val="163341"/>
                </a:solidFill>
                <a:latin typeface="Calibri" pitchFamily="34" charset="0"/>
                <a:ea typeface="Calibri" pitchFamily="34" charset="-122"/>
                <a:cs typeface="Calibri" pitchFamily="34" charset="-120"/>
              </a:rPr>
              <a:t>Linear-fusion fallback</a:t>
            </a:r>
            <a:endParaRPr lang="en-US" sz="1100" dirty="0"/>
          </a:p>
        </p:txBody>
      </p:sp>
      <p:sp>
        <p:nvSpPr>
          <p:cNvPr id="41" name="Text 38"/>
          <p:cNvSpPr/>
          <p:nvPr/>
        </p:nvSpPr>
        <p:spPr>
          <a:xfrm>
            <a:off x="6172200" y="3300984"/>
            <a:ext cx="2468880" cy="640080"/>
          </a:xfrm>
          <a:prstGeom prst="rect">
            <a:avLst/>
          </a:prstGeom>
          <a:noFill/>
          <a:ln/>
        </p:spPr>
        <p:txBody>
          <a:bodyPr wrap="square" lIns="0" tIns="0" rIns="0" bIns="0" rtlCol="0" anchor="t"/>
          <a:lstStyle/>
          <a:p>
            <a:pPr marL="0" indent="0">
              <a:buNone/>
            </a:pPr>
            <a:r>
              <a:rPr lang="en-US" sz="950" dirty="0">
                <a:solidFill>
                  <a:srgbClr val="3A4756"/>
                </a:solidFill>
                <a:latin typeface="Calibri" pitchFamily="34" charset="0"/>
                <a:ea typeface="Calibri" pitchFamily="34" charset="-122"/>
                <a:cs typeface="Calibri" pitchFamily="34" charset="-120"/>
              </a:rPr>
              <a:t>For explicit control, configure α/β weights for semantic vs. lexical importance.</a:t>
            </a:r>
            <a:endParaRPr lang="en-US" sz="950" dirty="0"/>
          </a:p>
        </p:txBody>
      </p:sp>
      <p:sp>
        <p:nvSpPr>
          <p:cNvPr id="42" name="Shape 39"/>
          <p:cNvSpPr/>
          <p:nvPr/>
        </p:nvSpPr>
        <p:spPr>
          <a:xfrm>
            <a:off x="320040" y="4864608"/>
            <a:ext cx="8503920" cy="10973"/>
          </a:xfrm>
          <a:prstGeom prst="rect">
            <a:avLst/>
          </a:prstGeom>
          <a:solidFill>
            <a:srgbClr val="D9DDE3"/>
          </a:solidFill>
          <a:ln/>
        </p:spPr>
        <p:txBody>
          <a:bodyPr/>
          <a:lstStyle/>
          <a:p>
            <a:endParaRPr lang="en-IL"/>
          </a:p>
        </p:txBody>
      </p:sp>
      <p:sp>
        <p:nvSpPr>
          <p:cNvPr id="43" name="Text 40"/>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44" name="Text 41"/>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5 / 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05  ·  AI APPLICATION LAYER</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RedisVL — Semantic Cache &amp; Agentic Memory</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Shape 4"/>
          <p:cNvSpPr/>
          <p:nvPr/>
        </p:nvSpPr>
        <p:spPr>
          <a:xfrm>
            <a:off x="457200" y="1051560"/>
            <a:ext cx="2697480" cy="3383280"/>
          </a:xfrm>
          <a:prstGeom prst="rect">
            <a:avLst/>
          </a:prstGeom>
          <a:solidFill>
            <a:srgbClr val="FFFFFF"/>
          </a:solidFill>
          <a:ln w="9525">
            <a:solidFill>
              <a:srgbClr val="E5E8EE"/>
            </a:solidFill>
            <a:prstDash val="solid"/>
          </a:ln>
        </p:spPr>
        <p:txBody>
          <a:bodyPr/>
          <a:lstStyle/>
          <a:p>
            <a:endParaRPr lang="en-IL"/>
          </a:p>
        </p:txBody>
      </p:sp>
      <p:sp>
        <p:nvSpPr>
          <p:cNvPr id="8" name="Shape 5"/>
          <p:cNvSpPr/>
          <p:nvPr/>
        </p:nvSpPr>
        <p:spPr>
          <a:xfrm>
            <a:off x="457200" y="1051560"/>
            <a:ext cx="2697480" cy="457200"/>
          </a:xfrm>
          <a:prstGeom prst="rect">
            <a:avLst/>
          </a:prstGeom>
          <a:solidFill>
            <a:srgbClr val="FF4438"/>
          </a:solidFill>
          <a:ln/>
        </p:spPr>
        <p:txBody>
          <a:bodyPr/>
          <a:lstStyle/>
          <a:p>
            <a:endParaRPr lang="en-IL"/>
          </a:p>
        </p:txBody>
      </p:sp>
      <p:sp>
        <p:nvSpPr>
          <p:cNvPr id="9" name="Text 6"/>
          <p:cNvSpPr/>
          <p:nvPr/>
        </p:nvSpPr>
        <p:spPr>
          <a:xfrm>
            <a:off x="594360" y="1051560"/>
            <a:ext cx="2423160"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RedisVL</a:t>
            </a:r>
            <a:endParaRPr lang="en-US" sz="1400" dirty="0"/>
          </a:p>
        </p:txBody>
      </p:sp>
      <p:sp>
        <p:nvSpPr>
          <p:cNvPr id="10" name="Text 7"/>
          <p:cNvSpPr/>
          <p:nvPr/>
        </p:nvSpPr>
        <p:spPr>
          <a:xfrm>
            <a:off x="621792" y="1600200"/>
            <a:ext cx="2368296" cy="457200"/>
          </a:xfrm>
          <a:prstGeom prst="rect">
            <a:avLst/>
          </a:prstGeom>
          <a:noFill/>
          <a:ln/>
        </p:spPr>
        <p:txBody>
          <a:bodyPr wrap="square" lIns="0" tIns="0" rIns="0" bIns="0" rtlCol="0" anchor="t"/>
          <a:lstStyle/>
          <a:p>
            <a:pPr marL="0" indent="0">
              <a:buNone/>
            </a:pPr>
            <a:r>
              <a:rPr lang="en-US" sz="1200" b="1" dirty="0">
                <a:solidFill>
                  <a:srgbClr val="163341"/>
                </a:solidFill>
                <a:latin typeface="Calibri" pitchFamily="34" charset="0"/>
                <a:ea typeface="Calibri" pitchFamily="34" charset="-122"/>
                <a:cs typeface="Calibri" pitchFamily="34" charset="-120"/>
              </a:rPr>
              <a:t>Production-grade Python client</a:t>
            </a:r>
            <a:endParaRPr lang="en-US" sz="1200" dirty="0"/>
          </a:p>
        </p:txBody>
      </p:sp>
      <p:sp>
        <p:nvSpPr>
          <p:cNvPr id="11" name="Text 8"/>
          <p:cNvSpPr/>
          <p:nvPr/>
        </p:nvSpPr>
        <p:spPr>
          <a:xfrm>
            <a:off x="640080" y="2148840"/>
            <a:ext cx="2368296"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Maps document chunks + metadata to Redis Hash / JSON</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MultiVectorQuery and hybrid RRF in one call</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First-class integrations with OpenAI, HuggingFace, LangChain, LlamaIndex</a:t>
            </a:r>
            <a:endParaRPr lang="en-US" sz="1000" dirty="0"/>
          </a:p>
        </p:txBody>
      </p:sp>
      <p:sp>
        <p:nvSpPr>
          <p:cNvPr id="12" name="Shape 9"/>
          <p:cNvSpPr/>
          <p:nvPr/>
        </p:nvSpPr>
        <p:spPr>
          <a:xfrm>
            <a:off x="3337560" y="1051560"/>
            <a:ext cx="2697480" cy="3383280"/>
          </a:xfrm>
          <a:prstGeom prst="rect">
            <a:avLst/>
          </a:prstGeom>
          <a:solidFill>
            <a:srgbClr val="FFFFFF"/>
          </a:solidFill>
          <a:ln w="9525">
            <a:solidFill>
              <a:srgbClr val="E5E8EE"/>
            </a:solidFill>
            <a:prstDash val="solid"/>
          </a:ln>
        </p:spPr>
        <p:txBody>
          <a:bodyPr/>
          <a:lstStyle/>
          <a:p>
            <a:endParaRPr lang="en-IL"/>
          </a:p>
        </p:txBody>
      </p:sp>
      <p:sp>
        <p:nvSpPr>
          <p:cNvPr id="13" name="Shape 10"/>
          <p:cNvSpPr/>
          <p:nvPr/>
        </p:nvSpPr>
        <p:spPr>
          <a:xfrm>
            <a:off x="3337560" y="1051560"/>
            <a:ext cx="2697480" cy="457200"/>
          </a:xfrm>
          <a:prstGeom prst="rect">
            <a:avLst/>
          </a:prstGeom>
          <a:solidFill>
            <a:srgbClr val="163341"/>
          </a:solidFill>
          <a:ln/>
        </p:spPr>
        <p:txBody>
          <a:bodyPr/>
          <a:lstStyle/>
          <a:p>
            <a:endParaRPr lang="en-IL"/>
          </a:p>
        </p:txBody>
      </p:sp>
      <p:sp>
        <p:nvSpPr>
          <p:cNvPr id="14" name="Text 11"/>
          <p:cNvSpPr/>
          <p:nvPr/>
        </p:nvSpPr>
        <p:spPr>
          <a:xfrm>
            <a:off x="3474720" y="1051560"/>
            <a:ext cx="2423160"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Semantic Cache</a:t>
            </a:r>
            <a:endParaRPr lang="en-US" sz="1400" dirty="0"/>
          </a:p>
        </p:txBody>
      </p:sp>
      <p:sp>
        <p:nvSpPr>
          <p:cNvPr id="15" name="Text 12"/>
          <p:cNvSpPr/>
          <p:nvPr/>
        </p:nvSpPr>
        <p:spPr>
          <a:xfrm>
            <a:off x="3502152" y="1600200"/>
            <a:ext cx="2368296" cy="457200"/>
          </a:xfrm>
          <a:prstGeom prst="rect">
            <a:avLst/>
          </a:prstGeom>
          <a:noFill/>
          <a:ln/>
        </p:spPr>
        <p:txBody>
          <a:bodyPr wrap="square" lIns="0" tIns="0" rIns="0" bIns="0" rtlCol="0" anchor="t"/>
          <a:lstStyle/>
          <a:p>
            <a:pPr marL="0" indent="0">
              <a:buNone/>
            </a:pPr>
            <a:r>
              <a:rPr lang="en-US" sz="1200" b="1" dirty="0">
                <a:solidFill>
                  <a:srgbClr val="163341"/>
                </a:solidFill>
                <a:latin typeface="Calibri" pitchFamily="34" charset="0"/>
                <a:ea typeface="Calibri" pitchFamily="34" charset="-122"/>
                <a:cs typeface="Calibri" pitchFamily="34" charset="-120"/>
              </a:rPr>
              <a:t>Cache by meaning, not text</a:t>
            </a:r>
            <a:endParaRPr lang="en-US" sz="1200" dirty="0"/>
          </a:p>
        </p:txBody>
      </p:sp>
      <p:sp>
        <p:nvSpPr>
          <p:cNvPr id="16" name="Text 13"/>
          <p:cNvSpPr/>
          <p:nvPr/>
        </p:nvSpPr>
        <p:spPr>
          <a:xfrm>
            <a:off x="3520440" y="2148840"/>
            <a:ext cx="2368296"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Vectorize incoming prompt → ANN search vs. cached prompts</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If distance &lt; threshold, serve cached LLM response instantly</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Up to 70% cut in repeated LLM API spend; sub-ms response</a:t>
            </a:r>
            <a:endParaRPr lang="en-US" sz="1000" dirty="0"/>
          </a:p>
        </p:txBody>
      </p:sp>
      <p:sp>
        <p:nvSpPr>
          <p:cNvPr id="17" name="Shape 14"/>
          <p:cNvSpPr/>
          <p:nvPr/>
        </p:nvSpPr>
        <p:spPr>
          <a:xfrm>
            <a:off x="6217920" y="1051560"/>
            <a:ext cx="2697480" cy="3383280"/>
          </a:xfrm>
          <a:prstGeom prst="rect">
            <a:avLst/>
          </a:prstGeom>
          <a:solidFill>
            <a:srgbClr val="FFFFFF"/>
          </a:solidFill>
          <a:ln w="9525">
            <a:solidFill>
              <a:srgbClr val="E5E8EE"/>
            </a:solidFill>
            <a:prstDash val="solid"/>
          </a:ln>
        </p:spPr>
        <p:txBody>
          <a:bodyPr/>
          <a:lstStyle/>
          <a:p>
            <a:endParaRPr lang="en-IL"/>
          </a:p>
        </p:txBody>
      </p:sp>
      <p:sp>
        <p:nvSpPr>
          <p:cNvPr id="18" name="Shape 15"/>
          <p:cNvSpPr/>
          <p:nvPr/>
        </p:nvSpPr>
        <p:spPr>
          <a:xfrm>
            <a:off x="6217920" y="1051560"/>
            <a:ext cx="2697480" cy="457200"/>
          </a:xfrm>
          <a:prstGeom prst="rect">
            <a:avLst/>
          </a:prstGeom>
          <a:solidFill>
            <a:srgbClr val="FF4438"/>
          </a:solidFill>
          <a:ln/>
        </p:spPr>
        <p:txBody>
          <a:bodyPr/>
          <a:lstStyle/>
          <a:p>
            <a:endParaRPr lang="en-IL"/>
          </a:p>
        </p:txBody>
      </p:sp>
      <p:sp>
        <p:nvSpPr>
          <p:cNvPr id="19" name="Text 16"/>
          <p:cNvSpPr/>
          <p:nvPr/>
        </p:nvSpPr>
        <p:spPr>
          <a:xfrm>
            <a:off x="6355080" y="1051560"/>
            <a:ext cx="2423160"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Agentic Memory</a:t>
            </a:r>
            <a:endParaRPr lang="en-US" sz="1400" dirty="0"/>
          </a:p>
        </p:txBody>
      </p:sp>
      <p:sp>
        <p:nvSpPr>
          <p:cNvPr id="20" name="Text 17"/>
          <p:cNvSpPr/>
          <p:nvPr/>
        </p:nvSpPr>
        <p:spPr>
          <a:xfrm>
            <a:off x="6382512" y="1600200"/>
            <a:ext cx="2368296" cy="457200"/>
          </a:xfrm>
          <a:prstGeom prst="rect">
            <a:avLst/>
          </a:prstGeom>
          <a:noFill/>
          <a:ln/>
        </p:spPr>
        <p:txBody>
          <a:bodyPr wrap="square" lIns="0" tIns="0" rIns="0" bIns="0" rtlCol="0" anchor="t"/>
          <a:lstStyle/>
          <a:p>
            <a:pPr marL="0" indent="0">
              <a:buNone/>
            </a:pPr>
            <a:r>
              <a:rPr lang="en-US" sz="1200" b="1" dirty="0">
                <a:solidFill>
                  <a:srgbClr val="163341"/>
                </a:solidFill>
                <a:latin typeface="Calibri" pitchFamily="34" charset="0"/>
                <a:ea typeface="Calibri" pitchFamily="34" charset="-122"/>
                <a:cs typeface="Calibri" pitchFamily="34" charset="-120"/>
              </a:rPr>
              <a:t>Short- and long-term memory in one engine</a:t>
            </a:r>
            <a:endParaRPr lang="en-US" sz="1200" dirty="0"/>
          </a:p>
        </p:txBody>
      </p:sp>
      <p:sp>
        <p:nvSpPr>
          <p:cNvPr id="21" name="Text 18"/>
          <p:cNvSpPr/>
          <p:nvPr/>
        </p:nvSpPr>
        <p:spPr>
          <a:xfrm>
            <a:off x="6400800" y="2148840"/>
            <a:ext cx="2368296" cy="219456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Lists / Streams = short-term working memory (current session)</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Vector index = long-term semantic recall</a:t>
            </a:r>
            <a:endParaRPr lang="en-US" sz="1000" dirty="0"/>
          </a:p>
          <a:p>
            <a:pPr marL="342900" indent="-342900">
              <a:spcAft>
                <a:spcPts val="500"/>
              </a:spcAft>
              <a:buSzPct val="100000"/>
              <a:buChar char="●"/>
            </a:pPr>
            <a:r>
              <a:rPr lang="en-US" sz="1000" dirty="0">
                <a:solidFill>
                  <a:srgbClr val="3A4756"/>
                </a:solidFill>
                <a:latin typeface="Calibri" pitchFamily="34" charset="0"/>
                <a:ea typeface="Calibri" pitchFamily="34" charset="-122"/>
                <a:cs typeface="Calibri" pitchFamily="34" charset="-120"/>
              </a:rPr>
              <a:t>TTL-based decay → agents forget stale context automatically</a:t>
            </a:r>
            <a:endParaRPr lang="en-US" sz="1000" dirty="0"/>
          </a:p>
        </p:txBody>
      </p:sp>
      <p:sp>
        <p:nvSpPr>
          <p:cNvPr id="22" name="Shape 19"/>
          <p:cNvSpPr/>
          <p:nvPr/>
        </p:nvSpPr>
        <p:spPr>
          <a:xfrm>
            <a:off x="457200" y="4572000"/>
            <a:ext cx="8275320" cy="274320"/>
          </a:xfrm>
          <a:prstGeom prst="rect">
            <a:avLst/>
          </a:prstGeom>
          <a:solidFill>
            <a:srgbClr val="163341"/>
          </a:solidFill>
          <a:ln/>
        </p:spPr>
        <p:txBody>
          <a:bodyPr/>
          <a:lstStyle/>
          <a:p>
            <a:endParaRPr lang="en-IL"/>
          </a:p>
        </p:txBody>
      </p:sp>
      <p:sp>
        <p:nvSpPr>
          <p:cNvPr id="23" name="Text 20"/>
          <p:cNvSpPr/>
          <p:nvPr/>
        </p:nvSpPr>
        <p:spPr>
          <a:xfrm>
            <a:off x="548640" y="4572000"/>
            <a:ext cx="8183880" cy="274320"/>
          </a:xfrm>
          <a:prstGeom prst="rect">
            <a:avLst/>
          </a:prstGeom>
          <a:noFill/>
          <a:ln/>
        </p:spPr>
        <p:txBody>
          <a:bodyPr wrap="square" lIns="0" tIns="0" rIns="0" bIns="0" rtlCol="0" anchor="ctr"/>
          <a:lstStyle/>
          <a:p>
            <a:pPr marL="0" indent="0">
              <a:buNone/>
            </a:pPr>
            <a:r>
              <a:rPr lang="en-US" sz="950" i="1" dirty="0">
                <a:solidFill>
                  <a:srgbClr val="DCFF1E"/>
                </a:solidFill>
                <a:latin typeface="Calibri" pitchFamily="34" charset="0"/>
                <a:ea typeface="Calibri" pitchFamily="34" charset="-122"/>
                <a:cs typeface="Calibri" pitchFamily="34" charset="-120"/>
              </a:rPr>
              <a:t>In production with high query redundancy, semantic caching savings often offset the entire Redis cluster cost.</a:t>
            </a:r>
            <a:endParaRPr lang="en-US" sz="950" dirty="0"/>
          </a:p>
        </p:txBody>
      </p:sp>
      <p:sp>
        <p:nvSpPr>
          <p:cNvPr id="24" name="Shape 21"/>
          <p:cNvSpPr/>
          <p:nvPr/>
        </p:nvSpPr>
        <p:spPr>
          <a:xfrm>
            <a:off x="320040" y="4864608"/>
            <a:ext cx="8503920" cy="10973"/>
          </a:xfrm>
          <a:prstGeom prst="rect">
            <a:avLst/>
          </a:prstGeom>
          <a:solidFill>
            <a:srgbClr val="D9DDE3"/>
          </a:solidFill>
          <a:ln/>
        </p:spPr>
        <p:txBody>
          <a:bodyPr/>
          <a:lstStyle/>
          <a:p>
            <a:endParaRPr lang="en-IL"/>
          </a:p>
        </p:txBody>
      </p:sp>
      <p:sp>
        <p:nvSpPr>
          <p:cNvPr id="25" name="Text 22"/>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26" name="Text 23"/>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6 / 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FF4438"/>
          </a:solidFill>
          <a:ln/>
        </p:spPr>
        <p:txBody>
          <a:bodyPr/>
          <a:lstStyle/>
          <a:p>
            <a:endParaRPr lang="en-IL"/>
          </a:p>
        </p:txBody>
      </p:sp>
      <p:pic>
        <p:nvPicPr>
          <p:cNvPr id="3" name="Image 0" descr="/sessions/eloquent-friendly-cori/mnt/outputs/assets/redis_cube.png"/>
          <p:cNvPicPr>
            <a:picLocks noChangeAspect="1"/>
          </p:cNvPicPr>
          <p:nvPr/>
        </p:nvPicPr>
        <p:blipFill>
          <a:blip r:embed="rId3"/>
          <a:stretch>
            <a:fillRect/>
          </a:stretch>
        </p:blipFill>
        <p:spPr>
          <a:xfrm>
            <a:off x="320040" y="201168"/>
            <a:ext cx="502920" cy="475488"/>
          </a:xfrm>
          <a:prstGeom prst="rect">
            <a:avLst/>
          </a:prstGeom>
        </p:spPr>
      </p:pic>
      <p:sp>
        <p:nvSpPr>
          <p:cNvPr id="4" name="Text 1"/>
          <p:cNvSpPr/>
          <p:nvPr/>
        </p:nvSpPr>
        <p:spPr>
          <a:xfrm>
            <a:off x="960120" y="201168"/>
            <a:ext cx="5943600" cy="228600"/>
          </a:xfrm>
          <a:prstGeom prst="rect">
            <a:avLst/>
          </a:prstGeom>
          <a:noFill/>
          <a:ln/>
        </p:spPr>
        <p:txBody>
          <a:bodyPr wrap="square" lIns="0" tIns="0" rIns="0" bIns="0" rtlCol="0" anchor="ctr"/>
          <a:lstStyle/>
          <a:p>
            <a:pPr marL="0" indent="0">
              <a:buNone/>
            </a:pPr>
            <a:r>
              <a:rPr lang="en-US" sz="900" b="1" kern="0" spc="400" dirty="0">
                <a:solidFill>
                  <a:srgbClr val="FF4438"/>
                </a:solidFill>
                <a:latin typeface="Calibri" pitchFamily="34" charset="0"/>
                <a:ea typeface="Calibri" pitchFamily="34" charset="-122"/>
                <a:cs typeface="Calibri" pitchFamily="34" charset="-120"/>
              </a:rPr>
              <a:t>06  ·  ENTERPRISE ECONOMICS</a:t>
            </a:r>
            <a:endParaRPr lang="en-US" sz="900" dirty="0"/>
          </a:p>
        </p:txBody>
      </p:sp>
      <p:sp>
        <p:nvSpPr>
          <p:cNvPr id="5" name="Text 2"/>
          <p:cNvSpPr/>
          <p:nvPr/>
        </p:nvSpPr>
        <p:spPr>
          <a:xfrm>
            <a:off x="960120" y="384048"/>
            <a:ext cx="7863840" cy="411480"/>
          </a:xfrm>
          <a:prstGeom prst="rect">
            <a:avLst/>
          </a:prstGeom>
          <a:noFill/>
          <a:ln/>
        </p:spPr>
        <p:txBody>
          <a:bodyPr wrap="square" lIns="0" tIns="0" rIns="0" bIns="0" rtlCol="0" anchor="ctr"/>
          <a:lstStyle/>
          <a:p>
            <a:pPr marL="0" indent="0">
              <a:buNone/>
            </a:pPr>
            <a:r>
              <a:rPr lang="en-US" sz="2200" b="1" dirty="0">
                <a:solidFill>
                  <a:srgbClr val="163341"/>
                </a:solidFill>
                <a:latin typeface="Calibri" pitchFamily="34" charset="0"/>
                <a:ea typeface="Calibri" pitchFamily="34" charset="-122"/>
                <a:cs typeface="Calibri" pitchFamily="34" charset="-120"/>
              </a:rPr>
              <a:t>Scalability, TCO and Competitive Positioning</a:t>
            </a:r>
            <a:endParaRPr lang="en-US" sz="2200" dirty="0"/>
          </a:p>
        </p:txBody>
      </p:sp>
      <p:sp>
        <p:nvSpPr>
          <p:cNvPr id="6" name="Shape 3"/>
          <p:cNvSpPr/>
          <p:nvPr/>
        </p:nvSpPr>
        <p:spPr>
          <a:xfrm>
            <a:off x="320040" y="868680"/>
            <a:ext cx="8503920" cy="10973"/>
          </a:xfrm>
          <a:prstGeom prst="rect">
            <a:avLst/>
          </a:prstGeom>
          <a:solidFill>
            <a:srgbClr val="D9DDE3"/>
          </a:solidFill>
          <a:ln/>
        </p:spPr>
        <p:txBody>
          <a:bodyPr/>
          <a:lstStyle/>
          <a:p>
            <a:endParaRPr lang="en-IL"/>
          </a:p>
        </p:txBody>
      </p:sp>
      <p:sp>
        <p:nvSpPr>
          <p:cNvPr id="7" name="Shape 4"/>
          <p:cNvSpPr/>
          <p:nvPr/>
        </p:nvSpPr>
        <p:spPr>
          <a:xfrm>
            <a:off x="457200" y="1051560"/>
            <a:ext cx="4114800" cy="2377440"/>
          </a:xfrm>
          <a:prstGeom prst="rect">
            <a:avLst/>
          </a:prstGeom>
          <a:solidFill>
            <a:srgbClr val="FFFFFF"/>
          </a:solidFill>
          <a:ln w="9525">
            <a:solidFill>
              <a:srgbClr val="E5E8EE"/>
            </a:solidFill>
            <a:prstDash val="solid"/>
          </a:ln>
        </p:spPr>
        <p:txBody>
          <a:bodyPr/>
          <a:lstStyle/>
          <a:p>
            <a:endParaRPr lang="en-IL"/>
          </a:p>
        </p:txBody>
      </p:sp>
      <p:sp>
        <p:nvSpPr>
          <p:cNvPr id="8" name="Shape 5"/>
          <p:cNvSpPr/>
          <p:nvPr/>
        </p:nvSpPr>
        <p:spPr>
          <a:xfrm>
            <a:off x="457200" y="1051560"/>
            <a:ext cx="54864" cy="2377440"/>
          </a:xfrm>
          <a:prstGeom prst="rect">
            <a:avLst/>
          </a:prstGeom>
          <a:solidFill>
            <a:srgbClr val="FF4438"/>
          </a:solidFill>
          <a:ln/>
        </p:spPr>
        <p:txBody>
          <a:bodyPr/>
          <a:lstStyle/>
          <a:p>
            <a:endParaRPr lang="en-IL"/>
          </a:p>
        </p:txBody>
      </p:sp>
      <p:sp>
        <p:nvSpPr>
          <p:cNvPr id="9" name="Text 6"/>
          <p:cNvSpPr/>
          <p:nvPr/>
        </p:nvSpPr>
        <p:spPr>
          <a:xfrm>
            <a:off x="621792" y="1124712"/>
            <a:ext cx="3931920" cy="292608"/>
          </a:xfrm>
          <a:prstGeom prst="rect">
            <a:avLst/>
          </a:prstGeom>
          <a:noFill/>
          <a:ln/>
        </p:spPr>
        <p:txBody>
          <a:bodyPr wrap="square" lIns="0" tIns="0" rIns="0" bIns="0" rtlCol="0" anchor="ctr"/>
          <a:lstStyle/>
          <a:p>
            <a:pPr marL="0" indent="0">
              <a:buNone/>
            </a:pPr>
            <a:r>
              <a:rPr lang="en-US" sz="1300" b="1" dirty="0">
                <a:solidFill>
                  <a:srgbClr val="163341"/>
                </a:solidFill>
                <a:latin typeface="Calibri" pitchFamily="34" charset="0"/>
                <a:ea typeface="Calibri" pitchFamily="34" charset="-122"/>
                <a:cs typeface="Calibri" pitchFamily="34" charset="-120"/>
              </a:rPr>
              <a:t>Redis Flex  —  RAM + NVMe data tiering</a:t>
            </a:r>
            <a:endParaRPr lang="en-US" sz="1300" dirty="0"/>
          </a:p>
        </p:txBody>
      </p:sp>
      <p:sp>
        <p:nvSpPr>
          <p:cNvPr id="10" name="Text 7"/>
          <p:cNvSpPr/>
          <p:nvPr/>
        </p:nvSpPr>
        <p:spPr>
          <a:xfrm>
            <a:off x="621792" y="1554480"/>
            <a:ext cx="1371600" cy="502920"/>
          </a:xfrm>
          <a:prstGeom prst="rect">
            <a:avLst/>
          </a:prstGeom>
          <a:noFill/>
          <a:ln/>
        </p:spPr>
        <p:txBody>
          <a:bodyPr wrap="square" lIns="0" tIns="0" rIns="0" bIns="0" rtlCol="0" anchor="ctr"/>
          <a:lstStyle/>
          <a:p>
            <a:pPr marL="0" indent="0">
              <a:buNone/>
            </a:pPr>
            <a:r>
              <a:rPr lang="en-US" sz="1000" b="1" dirty="0">
                <a:solidFill>
                  <a:srgbClr val="163341"/>
                </a:solidFill>
                <a:latin typeface="Calibri" pitchFamily="34" charset="0"/>
                <a:ea typeface="Calibri" pitchFamily="34" charset="-122"/>
                <a:cs typeface="Calibri" pitchFamily="34" charset="-120"/>
              </a:rPr>
              <a:t>Hot keys (RAM)</a:t>
            </a:r>
            <a:endParaRPr lang="en-US" sz="1000" dirty="0"/>
          </a:p>
        </p:txBody>
      </p:sp>
      <p:sp>
        <p:nvSpPr>
          <p:cNvPr id="11" name="Shape 8"/>
          <p:cNvSpPr/>
          <p:nvPr/>
        </p:nvSpPr>
        <p:spPr>
          <a:xfrm>
            <a:off x="2057400" y="1719072"/>
            <a:ext cx="2377440" cy="182880"/>
          </a:xfrm>
          <a:prstGeom prst="rect">
            <a:avLst/>
          </a:prstGeom>
          <a:solidFill>
            <a:srgbClr val="EEF1F5"/>
          </a:solidFill>
          <a:ln/>
        </p:spPr>
        <p:txBody>
          <a:bodyPr/>
          <a:lstStyle/>
          <a:p>
            <a:endParaRPr lang="en-IL"/>
          </a:p>
        </p:txBody>
      </p:sp>
      <p:sp>
        <p:nvSpPr>
          <p:cNvPr id="12" name="Shape 9"/>
          <p:cNvSpPr/>
          <p:nvPr/>
        </p:nvSpPr>
        <p:spPr>
          <a:xfrm>
            <a:off x="2057400" y="1719072"/>
            <a:ext cx="2258568" cy="182880"/>
          </a:xfrm>
          <a:prstGeom prst="rect">
            <a:avLst/>
          </a:prstGeom>
          <a:solidFill>
            <a:srgbClr val="FF4438"/>
          </a:solidFill>
          <a:ln/>
        </p:spPr>
        <p:txBody>
          <a:bodyPr/>
          <a:lstStyle/>
          <a:p>
            <a:endParaRPr lang="en-IL"/>
          </a:p>
        </p:txBody>
      </p:sp>
      <p:sp>
        <p:nvSpPr>
          <p:cNvPr id="13" name="Text 10"/>
          <p:cNvSpPr/>
          <p:nvPr/>
        </p:nvSpPr>
        <p:spPr>
          <a:xfrm>
            <a:off x="2057400" y="1883664"/>
            <a:ext cx="2377440" cy="164592"/>
          </a:xfrm>
          <a:prstGeom prst="rect">
            <a:avLst/>
          </a:prstGeom>
          <a:noFill/>
          <a:ln/>
        </p:spPr>
        <p:txBody>
          <a:bodyPr wrap="square" lIns="0" tIns="0" rIns="0" bIns="0" rtlCol="0" anchor="ctr"/>
          <a:lstStyle/>
          <a:p>
            <a:pPr marL="0" indent="0">
              <a:buNone/>
            </a:pPr>
            <a:r>
              <a:rPr lang="en-US" sz="800" i="1" dirty="0">
                <a:solidFill>
                  <a:srgbClr val="5A6678"/>
                </a:solidFill>
                <a:latin typeface="Calibri" pitchFamily="34" charset="0"/>
                <a:ea typeface="Calibri" pitchFamily="34" charset="-122"/>
                <a:cs typeface="Calibri" pitchFamily="34" charset="-120"/>
              </a:rPr>
              <a:t>queried vectors, indices</a:t>
            </a:r>
            <a:endParaRPr lang="en-US" sz="800" dirty="0"/>
          </a:p>
        </p:txBody>
      </p:sp>
      <p:sp>
        <p:nvSpPr>
          <p:cNvPr id="14" name="Text 11"/>
          <p:cNvSpPr/>
          <p:nvPr/>
        </p:nvSpPr>
        <p:spPr>
          <a:xfrm>
            <a:off x="621792" y="2103120"/>
            <a:ext cx="1371600" cy="502920"/>
          </a:xfrm>
          <a:prstGeom prst="rect">
            <a:avLst/>
          </a:prstGeom>
          <a:noFill/>
          <a:ln/>
        </p:spPr>
        <p:txBody>
          <a:bodyPr wrap="square" lIns="0" tIns="0" rIns="0" bIns="0" rtlCol="0" anchor="ctr"/>
          <a:lstStyle/>
          <a:p>
            <a:pPr marL="0" indent="0">
              <a:buNone/>
            </a:pPr>
            <a:r>
              <a:rPr lang="en-US" sz="1000" b="1" dirty="0">
                <a:solidFill>
                  <a:srgbClr val="163341"/>
                </a:solidFill>
                <a:latin typeface="Calibri" pitchFamily="34" charset="0"/>
                <a:ea typeface="Calibri" pitchFamily="34" charset="-122"/>
                <a:cs typeface="Calibri" pitchFamily="34" charset="-120"/>
              </a:rPr>
              <a:t>Warm (RAM/NVMe)</a:t>
            </a:r>
            <a:endParaRPr lang="en-US" sz="1000" dirty="0"/>
          </a:p>
        </p:txBody>
      </p:sp>
      <p:sp>
        <p:nvSpPr>
          <p:cNvPr id="15" name="Shape 12"/>
          <p:cNvSpPr/>
          <p:nvPr/>
        </p:nvSpPr>
        <p:spPr>
          <a:xfrm>
            <a:off x="2057400" y="2267712"/>
            <a:ext cx="2377440" cy="182880"/>
          </a:xfrm>
          <a:prstGeom prst="rect">
            <a:avLst/>
          </a:prstGeom>
          <a:solidFill>
            <a:srgbClr val="EEF1F5"/>
          </a:solidFill>
          <a:ln/>
        </p:spPr>
        <p:txBody>
          <a:bodyPr/>
          <a:lstStyle/>
          <a:p>
            <a:endParaRPr lang="en-IL"/>
          </a:p>
        </p:txBody>
      </p:sp>
      <p:sp>
        <p:nvSpPr>
          <p:cNvPr id="16" name="Shape 13"/>
          <p:cNvSpPr/>
          <p:nvPr/>
        </p:nvSpPr>
        <p:spPr>
          <a:xfrm>
            <a:off x="2057400" y="2267712"/>
            <a:ext cx="1307592" cy="182880"/>
          </a:xfrm>
          <a:prstGeom prst="rect">
            <a:avLst/>
          </a:prstGeom>
          <a:solidFill>
            <a:srgbClr val="F59169"/>
          </a:solidFill>
          <a:ln/>
        </p:spPr>
        <p:txBody>
          <a:bodyPr/>
          <a:lstStyle/>
          <a:p>
            <a:endParaRPr lang="en-IL"/>
          </a:p>
        </p:txBody>
      </p:sp>
      <p:sp>
        <p:nvSpPr>
          <p:cNvPr id="17" name="Text 14"/>
          <p:cNvSpPr/>
          <p:nvPr/>
        </p:nvSpPr>
        <p:spPr>
          <a:xfrm>
            <a:off x="2057400" y="2432304"/>
            <a:ext cx="2377440" cy="164592"/>
          </a:xfrm>
          <a:prstGeom prst="rect">
            <a:avLst/>
          </a:prstGeom>
          <a:noFill/>
          <a:ln/>
        </p:spPr>
        <p:txBody>
          <a:bodyPr wrap="square" lIns="0" tIns="0" rIns="0" bIns="0" rtlCol="0" anchor="ctr"/>
          <a:lstStyle/>
          <a:p>
            <a:pPr marL="0" indent="0">
              <a:buNone/>
            </a:pPr>
            <a:r>
              <a:rPr lang="en-US" sz="800" i="1" dirty="0">
                <a:solidFill>
                  <a:srgbClr val="5A6678"/>
                </a:solidFill>
                <a:latin typeface="Calibri" pitchFamily="34" charset="0"/>
                <a:ea typeface="Calibri" pitchFamily="34" charset="-122"/>
                <a:cs typeface="Calibri" pitchFamily="34" charset="-120"/>
              </a:rPr>
              <a:t>recent sessions</a:t>
            </a:r>
            <a:endParaRPr lang="en-US" sz="800" dirty="0"/>
          </a:p>
        </p:txBody>
      </p:sp>
      <p:sp>
        <p:nvSpPr>
          <p:cNvPr id="18" name="Text 15"/>
          <p:cNvSpPr/>
          <p:nvPr/>
        </p:nvSpPr>
        <p:spPr>
          <a:xfrm>
            <a:off x="621792" y="2651760"/>
            <a:ext cx="1371600" cy="502920"/>
          </a:xfrm>
          <a:prstGeom prst="rect">
            <a:avLst/>
          </a:prstGeom>
          <a:noFill/>
          <a:ln/>
        </p:spPr>
        <p:txBody>
          <a:bodyPr wrap="square" lIns="0" tIns="0" rIns="0" bIns="0" rtlCol="0" anchor="ctr"/>
          <a:lstStyle/>
          <a:p>
            <a:pPr marL="0" indent="0">
              <a:buNone/>
            </a:pPr>
            <a:r>
              <a:rPr lang="en-US" sz="1000" b="1" dirty="0">
                <a:solidFill>
                  <a:srgbClr val="163341"/>
                </a:solidFill>
                <a:latin typeface="Calibri" pitchFamily="34" charset="0"/>
                <a:ea typeface="Calibri" pitchFamily="34" charset="-122"/>
                <a:cs typeface="Calibri" pitchFamily="34" charset="-120"/>
              </a:rPr>
              <a:t>Cold (NVMe SSD)</a:t>
            </a:r>
            <a:endParaRPr lang="en-US" sz="1000" dirty="0"/>
          </a:p>
        </p:txBody>
      </p:sp>
      <p:sp>
        <p:nvSpPr>
          <p:cNvPr id="19" name="Shape 16"/>
          <p:cNvSpPr/>
          <p:nvPr/>
        </p:nvSpPr>
        <p:spPr>
          <a:xfrm>
            <a:off x="2057400" y="2816352"/>
            <a:ext cx="2377440" cy="182880"/>
          </a:xfrm>
          <a:prstGeom prst="rect">
            <a:avLst/>
          </a:prstGeom>
          <a:solidFill>
            <a:srgbClr val="EEF1F5"/>
          </a:solidFill>
          <a:ln/>
        </p:spPr>
        <p:txBody>
          <a:bodyPr/>
          <a:lstStyle/>
          <a:p>
            <a:endParaRPr lang="en-IL"/>
          </a:p>
        </p:txBody>
      </p:sp>
      <p:sp>
        <p:nvSpPr>
          <p:cNvPr id="20" name="Shape 17"/>
          <p:cNvSpPr/>
          <p:nvPr/>
        </p:nvSpPr>
        <p:spPr>
          <a:xfrm>
            <a:off x="2057400" y="2816352"/>
            <a:ext cx="594360" cy="182880"/>
          </a:xfrm>
          <a:prstGeom prst="rect">
            <a:avLst/>
          </a:prstGeom>
          <a:solidFill>
            <a:srgbClr val="163341"/>
          </a:solidFill>
          <a:ln/>
        </p:spPr>
        <p:txBody>
          <a:bodyPr/>
          <a:lstStyle/>
          <a:p>
            <a:endParaRPr lang="en-IL"/>
          </a:p>
        </p:txBody>
      </p:sp>
      <p:sp>
        <p:nvSpPr>
          <p:cNvPr id="21" name="Text 18"/>
          <p:cNvSpPr/>
          <p:nvPr/>
        </p:nvSpPr>
        <p:spPr>
          <a:xfrm>
            <a:off x="2057400" y="2980944"/>
            <a:ext cx="2377440" cy="164592"/>
          </a:xfrm>
          <a:prstGeom prst="rect">
            <a:avLst/>
          </a:prstGeom>
          <a:noFill/>
          <a:ln/>
        </p:spPr>
        <p:txBody>
          <a:bodyPr wrap="square" lIns="0" tIns="0" rIns="0" bIns="0" rtlCol="0" anchor="ctr"/>
          <a:lstStyle/>
          <a:p>
            <a:pPr marL="0" indent="0">
              <a:buNone/>
            </a:pPr>
            <a:r>
              <a:rPr lang="en-US" sz="800" i="1" dirty="0">
                <a:solidFill>
                  <a:srgbClr val="5A6678"/>
                </a:solidFill>
                <a:latin typeface="Calibri" pitchFamily="34" charset="0"/>
                <a:ea typeface="Calibri" pitchFamily="34" charset="-122"/>
                <a:cs typeface="Calibri" pitchFamily="34" charset="-120"/>
              </a:rPr>
              <a:t>archived embeddings</a:t>
            </a:r>
            <a:endParaRPr lang="en-US" sz="800" dirty="0"/>
          </a:p>
        </p:txBody>
      </p:sp>
      <p:sp>
        <p:nvSpPr>
          <p:cNvPr id="22" name="Text 19"/>
          <p:cNvSpPr/>
          <p:nvPr/>
        </p:nvSpPr>
        <p:spPr>
          <a:xfrm>
            <a:off x="621792" y="3154680"/>
            <a:ext cx="3931920" cy="228600"/>
          </a:xfrm>
          <a:prstGeom prst="rect">
            <a:avLst/>
          </a:prstGeom>
          <a:noFill/>
          <a:ln/>
        </p:spPr>
        <p:txBody>
          <a:bodyPr wrap="square" lIns="0" tIns="0" rIns="0" bIns="0" rtlCol="0" anchor="ctr"/>
          <a:lstStyle/>
          <a:p>
            <a:pPr marL="0" indent="0">
              <a:buNone/>
            </a:pPr>
            <a:r>
              <a:rPr lang="en-US" sz="900" b="1" i="1" dirty="0">
                <a:solidFill>
                  <a:srgbClr val="FF4438"/>
                </a:solidFill>
                <a:latin typeface="Calibri" pitchFamily="34" charset="0"/>
                <a:ea typeface="Calibri" pitchFamily="34" charset="-122"/>
                <a:cs typeface="Calibri" pitchFamily="34" charset="-120"/>
              </a:rPr>
              <a:t>Up to 90% infra-cost reduction vs. pure RAM provisioning  ·  ~10K ops/sec/core</a:t>
            </a:r>
            <a:endParaRPr lang="en-US" sz="900" dirty="0"/>
          </a:p>
        </p:txBody>
      </p:sp>
      <p:sp>
        <p:nvSpPr>
          <p:cNvPr id="23" name="Shape 20"/>
          <p:cNvSpPr/>
          <p:nvPr/>
        </p:nvSpPr>
        <p:spPr>
          <a:xfrm>
            <a:off x="4663440" y="1051560"/>
            <a:ext cx="4069080" cy="2377440"/>
          </a:xfrm>
          <a:prstGeom prst="rect">
            <a:avLst/>
          </a:prstGeom>
          <a:solidFill>
            <a:srgbClr val="FFFFFF"/>
          </a:solidFill>
          <a:ln w="9525">
            <a:solidFill>
              <a:srgbClr val="E5E8EE"/>
            </a:solidFill>
            <a:prstDash val="solid"/>
          </a:ln>
        </p:spPr>
        <p:txBody>
          <a:bodyPr/>
          <a:lstStyle/>
          <a:p>
            <a:endParaRPr lang="en-IL"/>
          </a:p>
        </p:txBody>
      </p:sp>
      <p:sp>
        <p:nvSpPr>
          <p:cNvPr id="24" name="Shape 21"/>
          <p:cNvSpPr/>
          <p:nvPr/>
        </p:nvSpPr>
        <p:spPr>
          <a:xfrm>
            <a:off x="4663440" y="1051560"/>
            <a:ext cx="54864" cy="2377440"/>
          </a:xfrm>
          <a:prstGeom prst="rect">
            <a:avLst/>
          </a:prstGeom>
          <a:solidFill>
            <a:srgbClr val="163341"/>
          </a:solidFill>
          <a:ln/>
        </p:spPr>
        <p:txBody>
          <a:bodyPr/>
          <a:lstStyle/>
          <a:p>
            <a:endParaRPr lang="en-IL"/>
          </a:p>
        </p:txBody>
      </p:sp>
      <p:sp>
        <p:nvSpPr>
          <p:cNvPr id="25" name="Text 22"/>
          <p:cNvSpPr/>
          <p:nvPr/>
        </p:nvSpPr>
        <p:spPr>
          <a:xfrm>
            <a:off x="4828032" y="1124712"/>
            <a:ext cx="3886200" cy="292608"/>
          </a:xfrm>
          <a:prstGeom prst="rect">
            <a:avLst/>
          </a:prstGeom>
          <a:noFill/>
          <a:ln/>
        </p:spPr>
        <p:txBody>
          <a:bodyPr wrap="square" lIns="0" tIns="0" rIns="0" bIns="0" rtlCol="0" anchor="ctr"/>
          <a:lstStyle/>
          <a:p>
            <a:pPr marL="0" indent="0">
              <a:buNone/>
            </a:pPr>
            <a:r>
              <a:rPr lang="en-US" sz="1300" b="1" dirty="0">
                <a:solidFill>
                  <a:srgbClr val="163341"/>
                </a:solidFill>
                <a:latin typeface="Calibri" pitchFamily="34" charset="0"/>
                <a:ea typeface="Calibri" pitchFamily="34" charset="-122"/>
                <a:cs typeface="Calibri" pitchFamily="34" charset="-120"/>
              </a:rPr>
              <a:t>Decision matrix  —  when to choose which</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828032" y="1508760"/>
          <a:ext cx="3794760" cy="1783080"/>
        </p:xfrm>
        <a:graphic>
          <a:graphicData uri="http://schemas.openxmlformats.org/drawingml/2006/table">
            <a:tbl>
              <a:tblPr/>
              <a:tblGrid>
                <a:gridCol w="1143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56616">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Solution</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solidFill>
                      <a:srgbClr val="163341"/>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Best when…</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solidFill>
                      <a:srgbClr val="163341"/>
                    </a:solidFill>
                  </a:tcPr>
                </a:tc>
                <a:extLst>
                  <a:ext uri="{0D108BD9-81ED-4DB2-BD59-A6C34878D82A}">
                    <a16:rowId xmlns:a16="http://schemas.microsoft.com/office/drawing/2014/main" val="10000"/>
                  </a:ext>
                </a:extLst>
              </a:tr>
              <a:tr h="356616">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Redis 8.x</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Cache + session + vectors already on Redis  ·  sub-ms p99 latency demands</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Pinecone (SaaS)</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Zero-ops, multi-tenant, spiky workloads  ·  isolated AI stack acceptable</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Milvus / Weaviate</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Tens of billions of vectors  ·  GPU-accelerated  ·  dedicated platform team</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Postgres + pgvector</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tc>
                  <a:txBody>
                    <a:bodyPr/>
                    <a:lstStyle/>
                    <a:p>
                      <a:pPr marL="0" indent="0">
                        <a:buNone/>
                      </a:pPr>
                      <a:r>
                        <a:rPr lang="en-US" sz="950" dirty="0">
                          <a:solidFill>
                            <a:srgbClr val="3A4756"/>
                          </a:solidFill>
                          <a:latin typeface="Calibri" pitchFamily="34" charset="0"/>
                          <a:ea typeface="Calibri" pitchFamily="34" charset="-122"/>
                          <a:cs typeface="Calibri" pitchFamily="34" charset="-120"/>
                        </a:rPr>
                        <a:t>Existing OLTP workload  ·  small-to-medium vector sets in same DB</a:t>
                      </a:r>
                      <a:endParaRPr lang="en-US" sz="950" dirty="0">
                        <a:latin typeface="Calibri" charset="0"/>
                        <a:ea typeface="Calibri" charset="0"/>
                        <a:cs typeface="Calibri" charset="0"/>
                      </a:endParaRPr>
                    </a:p>
                  </a:txBody>
                  <a:tcPr anchor="ctr">
                    <a:lnL w="5080" cap="flat" cmpd="sng" algn="ctr">
                      <a:solidFill>
                        <a:srgbClr val="D9DDE3"/>
                      </a:solidFill>
                      <a:prstDash val="solid"/>
                      <a:round/>
                      <a:headEnd type="none" w="med" len="med"/>
                      <a:tailEnd type="none" w="med" len="med"/>
                    </a:lnL>
                    <a:lnR w="5080" cap="flat" cmpd="sng" algn="ctr">
                      <a:solidFill>
                        <a:srgbClr val="D9DDE3"/>
                      </a:solidFill>
                      <a:prstDash val="solid"/>
                      <a:round/>
                      <a:headEnd type="none" w="med" len="med"/>
                      <a:tailEnd type="none" w="med" len="med"/>
                    </a:lnR>
                    <a:lnT w="5080" cap="flat" cmpd="sng" algn="ctr">
                      <a:solidFill>
                        <a:srgbClr val="D9DDE3"/>
                      </a:solidFill>
                      <a:prstDash val="solid"/>
                      <a:round/>
                      <a:headEnd type="none" w="med" len="med"/>
                      <a:tailEnd type="none" w="med" len="med"/>
                    </a:lnT>
                    <a:lnB w="5080" cap="flat" cmpd="sng" algn="ctr">
                      <a:solidFill>
                        <a:srgbClr val="D9DD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Shape 23"/>
          <p:cNvSpPr/>
          <p:nvPr/>
        </p:nvSpPr>
        <p:spPr>
          <a:xfrm>
            <a:off x="457200" y="3611880"/>
            <a:ext cx="4114800" cy="1188720"/>
          </a:xfrm>
          <a:prstGeom prst="rect">
            <a:avLst/>
          </a:prstGeom>
          <a:solidFill>
            <a:srgbClr val="FFFFFF"/>
          </a:solidFill>
          <a:ln w="9525">
            <a:solidFill>
              <a:srgbClr val="E5E8EE"/>
            </a:solidFill>
            <a:prstDash val="solid"/>
          </a:ln>
        </p:spPr>
        <p:txBody>
          <a:bodyPr/>
          <a:lstStyle/>
          <a:p>
            <a:endParaRPr lang="en-IL"/>
          </a:p>
        </p:txBody>
      </p:sp>
      <p:sp>
        <p:nvSpPr>
          <p:cNvPr id="28" name="Shape 24"/>
          <p:cNvSpPr/>
          <p:nvPr/>
        </p:nvSpPr>
        <p:spPr>
          <a:xfrm>
            <a:off x="457200" y="3611880"/>
            <a:ext cx="54864" cy="1188720"/>
          </a:xfrm>
          <a:prstGeom prst="rect">
            <a:avLst/>
          </a:prstGeom>
          <a:solidFill>
            <a:srgbClr val="5A6678"/>
          </a:solidFill>
          <a:ln/>
        </p:spPr>
        <p:txBody>
          <a:bodyPr/>
          <a:lstStyle/>
          <a:p>
            <a:endParaRPr lang="en-IL"/>
          </a:p>
        </p:txBody>
      </p:sp>
      <p:sp>
        <p:nvSpPr>
          <p:cNvPr id="29" name="Text 25"/>
          <p:cNvSpPr/>
          <p:nvPr/>
        </p:nvSpPr>
        <p:spPr>
          <a:xfrm>
            <a:off x="621792" y="3685032"/>
            <a:ext cx="3840480" cy="274320"/>
          </a:xfrm>
          <a:prstGeom prst="rect">
            <a:avLst/>
          </a:prstGeom>
          <a:noFill/>
          <a:ln/>
        </p:spPr>
        <p:txBody>
          <a:bodyPr wrap="square" lIns="0" tIns="0" rIns="0" bIns="0" rtlCol="0" anchor="ctr"/>
          <a:lstStyle/>
          <a:p>
            <a:pPr marL="0" indent="0">
              <a:buNone/>
            </a:pPr>
            <a:r>
              <a:rPr lang="en-US" sz="1150" b="1" dirty="0">
                <a:solidFill>
                  <a:srgbClr val="163341"/>
                </a:solidFill>
                <a:latin typeface="Calibri" pitchFamily="34" charset="0"/>
                <a:ea typeface="Calibri" pitchFamily="34" charset="-122"/>
                <a:cs typeface="Calibri" pitchFamily="34" charset="-120"/>
              </a:rPr>
              <a:t>Cluster sharding behaviour</a:t>
            </a:r>
            <a:endParaRPr lang="en-US" sz="1150" dirty="0"/>
          </a:p>
        </p:txBody>
      </p:sp>
      <p:sp>
        <p:nvSpPr>
          <p:cNvPr id="30" name="Text 26"/>
          <p:cNvSpPr/>
          <p:nvPr/>
        </p:nvSpPr>
        <p:spPr>
          <a:xfrm>
            <a:off x="621792" y="3959352"/>
            <a:ext cx="3840480" cy="777240"/>
          </a:xfrm>
          <a:prstGeom prst="rect">
            <a:avLst/>
          </a:prstGeom>
          <a:noFill/>
          <a:ln/>
        </p:spPr>
        <p:txBody>
          <a:bodyPr wrap="square" lIns="0" tIns="0" rIns="0" bIns="0" rtlCol="0" anchor="t"/>
          <a:lstStyle/>
          <a:p>
            <a:pPr marL="0" indent="0">
              <a:buNone/>
            </a:pPr>
            <a:r>
              <a:rPr lang="en-US" sz="950" dirty="0">
                <a:solidFill>
                  <a:srgbClr val="3A4756"/>
                </a:solidFill>
                <a:latin typeface="Calibri" pitchFamily="34" charset="0"/>
                <a:ea typeface="Calibri" pitchFamily="34" charset="-122"/>
                <a:cs typeface="Calibri" pitchFamily="34" charset="-120"/>
              </a:rPr>
              <a:t>Up to 1,000 nodes via Redis Cluster.  Writes (VADD/VREM) scale linearly via consistent hashing. Reads (VSIM) require scatter-gather across all shards — every shard returns its local top-K, the proxy merges. Plan shard counts carefully.</a:t>
            </a:r>
            <a:endParaRPr lang="en-US" sz="950" dirty="0"/>
          </a:p>
        </p:txBody>
      </p:sp>
      <p:sp>
        <p:nvSpPr>
          <p:cNvPr id="31" name="Shape 27"/>
          <p:cNvSpPr/>
          <p:nvPr/>
        </p:nvSpPr>
        <p:spPr>
          <a:xfrm>
            <a:off x="4663440" y="3611880"/>
            <a:ext cx="4069080" cy="1188720"/>
          </a:xfrm>
          <a:prstGeom prst="rect">
            <a:avLst/>
          </a:prstGeom>
          <a:solidFill>
            <a:srgbClr val="163341"/>
          </a:solidFill>
          <a:ln/>
        </p:spPr>
        <p:txBody>
          <a:bodyPr/>
          <a:lstStyle/>
          <a:p>
            <a:endParaRPr lang="en-IL"/>
          </a:p>
        </p:txBody>
      </p:sp>
      <p:sp>
        <p:nvSpPr>
          <p:cNvPr id="32" name="Text 28"/>
          <p:cNvSpPr/>
          <p:nvPr/>
        </p:nvSpPr>
        <p:spPr>
          <a:xfrm>
            <a:off x="4846320" y="3685032"/>
            <a:ext cx="3749040" cy="274320"/>
          </a:xfrm>
          <a:prstGeom prst="rect">
            <a:avLst/>
          </a:prstGeom>
          <a:noFill/>
          <a:ln/>
        </p:spPr>
        <p:txBody>
          <a:bodyPr wrap="square" lIns="0" tIns="0" rIns="0" bIns="0" rtlCol="0" anchor="ctr"/>
          <a:lstStyle/>
          <a:p>
            <a:pPr marL="0" indent="0">
              <a:buNone/>
            </a:pPr>
            <a:r>
              <a:rPr lang="en-US" sz="1150" b="1" dirty="0">
                <a:solidFill>
                  <a:srgbClr val="DCFF1E"/>
                </a:solidFill>
                <a:latin typeface="Calibri" pitchFamily="34" charset="0"/>
                <a:ea typeface="Calibri" pitchFamily="34" charset="-122"/>
                <a:cs typeface="Calibri" pitchFamily="34" charset="-120"/>
              </a:rPr>
              <a:t>VectorDBBench results  (Recall ≥ 0.98)</a:t>
            </a:r>
            <a:endParaRPr lang="en-US" sz="1150" dirty="0"/>
          </a:p>
        </p:txBody>
      </p:sp>
      <p:sp>
        <p:nvSpPr>
          <p:cNvPr id="33" name="Text 29"/>
          <p:cNvSpPr/>
          <p:nvPr/>
        </p:nvSpPr>
        <p:spPr>
          <a:xfrm>
            <a:off x="4846320" y="3977640"/>
            <a:ext cx="3749040" cy="77724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+62% throughput </a:t>
            </a:r>
            <a:r>
              <a:rPr lang="en-US" sz="1000" dirty="0">
                <a:solidFill>
                  <a:srgbClr val="C9D3DD"/>
                </a:solidFill>
                <a:latin typeface="Calibri" pitchFamily="34" charset="0"/>
                <a:ea typeface="Calibri" pitchFamily="34" charset="-122"/>
                <a:cs typeface="Calibri" pitchFamily="34" charset="-120"/>
              </a:rPr>
              <a:t>vs. #2 on deep-image-96-angular</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+21% throughput </a:t>
            </a:r>
            <a:endParaRPr lang="en-US" sz="1000" dirty="0"/>
          </a:p>
          <a:p>
            <a:pPr marL="0" indent="0">
              <a:buNone/>
            </a:pPr>
            <a:r>
              <a:rPr lang="en-US" sz="1000" dirty="0">
                <a:solidFill>
                  <a:srgbClr val="C9D3DD"/>
                </a:solidFill>
                <a:latin typeface="Calibri" pitchFamily="34" charset="0"/>
                <a:ea typeface="Calibri" pitchFamily="34" charset="-122"/>
                <a:cs typeface="Calibri" pitchFamily="34" charset="-120"/>
              </a:rPr>
              <a:t>vs. #2 on dbpedia-openai-1M-angular</a:t>
            </a:r>
            <a:endParaRPr lang="en-US" sz="1000" dirty="0"/>
          </a:p>
        </p:txBody>
      </p:sp>
      <p:sp>
        <p:nvSpPr>
          <p:cNvPr id="34" name="Shape 30"/>
          <p:cNvSpPr/>
          <p:nvPr/>
        </p:nvSpPr>
        <p:spPr>
          <a:xfrm>
            <a:off x="320040" y="4864608"/>
            <a:ext cx="8503920" cy="10973"/>
          </a:xfrm>
          <a:prstGeom prst="rect">
            <a:avLst/>
          </a:prstGeom>
          <a:solidFill>
            <a:srgbClr val="D9DDE3"/>
          </a:solidFill>
          <a:ln/>
        </p:spPr>
        <p:txBody>
          <a:bodyPr/>
          <a:lstStyle/>
          <a:p>
            <a:endParaRPr lang="en-IL"/>
          </a:p>
        </p:txBody>
      </p:sp>
      <p:sp>
        <p:nvSpPr>
          <p:cNvPr id="35" name="Text 31"/>
          <p:cNvSpPr/>
          <p:nvPr/>
        </p:nvSpPr>
        <p:spPr>
          <a:xfrm>
            <a:off x="320040" y="4919472"/>
            <a:ext cx="6400800" cy="201168"/>
          </a:xfrm>
          <a:prstGeom prst="rect">
            <a:avLst/>
          </a:prstGeom>
          <a:noFill/>
          <a:ln/>
        </p:spPr>
        <p:txBody>
          <a:bodyPr wrap="square" lIns="0" tIns="0" rIns="0" bIns="0" rtlCol="0" anchor="ctr"/>
          <a:lstStyle/>
          <a:p>
            <a:pPr marL="0" indent="0">
              <a:buNone/>
            </a:pPr>
            <a:r>
              <a:rPr lang="en-US" sz="850" dirty="0">
                <a:solidFill>
                  <a:srgbClr val="8A95A4"/>
                </a:solidFill>
                <a:latin typeface="Calibri" pitchFamily="34" charset="0"/>
                <a:ea typeface="Calibri" pitchFamily="34" charset="-122"/>
                <a:cs typeface="Calibri" pitchFamily="34" charset="-120"/>
              </a:rPr>
              <a:t>Redis as a Vector Database  ·  Architecting for Real-Time AI</a:t>
            </a:r>
            <a:endParaRPr lang="en-US" sz="850" dirty="0"/>
          </a:p>
        </p:txBody>
      </p:sp>
      <p:sp>
        <p:nvSpPr>
          <p:cNvPr id="36" name="Text 32"/>
          <p:cNvSpPr/>
          <p:nvPr/>
        </p:nvSpPr>
        <p:spPr>
          <a:xfrm>
            <a:off x="7955280" y="4919472"/>
            <a:ext cx="914400" cy="201168"/>
          </a:xfrm>
          <a:prstGeom prst="rect">
            <a:avLst/>
          </a:prstGeom>
          <a:noFill/>
          <a:ln/>
        </p:spPr>
        <p:txBody>
          <a:bodyPr wrap="square" lIns="0" tIns="0" rIns="0" bIns="0" rtlCol="0" anchor="ctr"/>
          <a:lstStyle/>
          <a:p>
            <a:pPr marL="0" indent="0" algn="r">
              <a:buNone/>
            </a:pPr>
            <a:r>
              <a:rPr lang="en-US" sz="850" dirty="0">
                <a:solidFill>
                  <a:srgbClr val="8A95A4"/>
                </a:solidFill>
                <a:latin typeface="Calibri" pitchFamily="34" charset="0"/>
                <a:ea typeface="Calibri" pitchFamily="34" charset="-122"/>
                <a:cs typeface="Calibri" pitchFamily="34" charset="-120"/>
              </a:rPr>
              <a:t>7 / 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334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4438"/>
          </a:solidFill>
          <a:ln/>
        </p:spPr>
        <p:txBody>
          <a:bodyPr/>
          <a:lstStyle/>
          <a:p>
            <a:endParaRPr lang="en-IL"/>
          </a:p>
        </p:txBody>
      </p:sp>
      <p:pic>
        <p:nvPicPr>
          <p:cNvPr id="3" name="Image 0" descr="/sessions/eloquent-friendly-cori/mnt/outputs/assets/redis_logo_trimmed.png"/>
          <p:cNvPicPr>
            <a:picLocks noChangeAspect="1"/>
          </p:cNvPicPr>
          <p:nvPr/>
        </p:nvPicPr>
        <p:blipFill>
          <a:blip r:embed="rId3"/>
          <a:stretch>
            <a:fillRect/>
          </a:stretch>
        </p:blipFill>
        <p:spPr>
          <a:xfrm>
            <a:off x="548640" y="502920"/>
            <a:ext cx="1828800" cy="594360"/>
          </a:xfrm>
          <a:prstGeom prst="rect">
            <a:avLst/>
          </a:prstGeom>
        </p:spPr>
      </p:pic>
      <p:sp>
        <p:nvSpPr>
          <p:cNvPr id="4" name="Text 1"/>
          <p:cNvSpPr/>
          <p:nvPr/>
        </p:nvSpPr>
        <p:spPr>
          <a:xfrm>
            <a:off x="548640" y="1325880"/>
            <a:ext cx="786384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5" name="Text 2"/>
          <p:cNvSpPr/>
          <p:nvPr/>
        </p:nvSpPr>
        <p:spPr>
          <a:xfrm>
            <a:off x="548640" y="1783080"/>
            <a:ext cx="7863840" cy="320040"/>
          </a:xfrm>
          <a:prstGeom prst="rect">
            <a:avLst/>
          </a:prstGeom>
          <a:noFill/>
          <a:ln/>
        </p:spPr>
        <p:txBody>
          <a:bodyPr wrap="square" lIns="0" tIns="0" rIns="0" bIns="0" rtlCol="0" anchor="ctr"/>
          <a:lstStyle/>
          <a:p>
            <a:pPr marL="0" indent="0">
              <a:buNone/>
            </a:pPr>
            <a:r>
              <a:rPr lang="en-US" sz="1300" i="1" dirty="0">
                <a:solidFill>
                  <a:srgbClr val="DCFF1E"/>
                </a:solidFill>
                <a:latin typeface="Calibri" pitchFamily="34" charset="0"/>
                <a:ea typeface="Calibri" pitchFamily="34" charset="-122"/>
                <a:cs typeface="Calibri" pitchFamily="34" charset="-120"/>
              </a:rPr>
              <a:t>Architecting Redis as the unified real-time AI data platform</a:t>
            </a:r>
            <a:endParaRPr lang="en-US" sz="1300" dirty="0"/>
          </a:p>
        </p:txBody>
      </p:sp>
      <p:sp>
        <p:nvSpPr>
          <p:cNvPr id="6" name="Shape 3"/>
          <p:cNvSpPr/>
          <p:nvPr/>
        </p:nvSpPr>
        <p:spPr>
          <a:xfrm>
            <a:off x="548640" y="2240280"/>
            <a:ext cx="3931920" cy="1005840"/>
          </a:xfrm>
          <a:prstGeom prst="rect">
            <a:avLst/>
          </a:prstGeom>
          <a:solidFill>
            <a:srgbClr val="FFFFFF">
              <a:alpha val="8000"/>
            </a:srgbClr>
          </a:solidFill>
          <a:ln w="6350">
            <a:solidFill>
              <a:srgbClr val="FFFFFF"/>
            </a:solidFill>
            <a:prstDash val="solid"/>
          </a:ln>
        </p:spPr>
        <p:txBody>
          <a:bodyPr/>
          <a:lstStyle/>
          <a:p>
            <a:endParaRPr lang="en-IL"/>
          </a:p>
        </p:txBody>
      </p:sp>
      <p:sp>
        <p:nvSpPr>
          <p:cNvPr id="7" name="Shape 4"/>
          <p:cNvSpPr/>
          <p:nvPr/>
        </p:nvSpPr>
        <p:spPr>
          <a:xfrm>
            <a:off x="713232" y="2404872"/>
            <a:ext cx="502920" cy="502920"/>
          </a:xfrm>
          <a:prstGeom prst="line">
            <a:avLst/>
          </a:prstGeom>
          <a:solidFill>
            <a:srgbClr val="FF4438"/>
          </a:solidFill>
          <a:ln/>
        </p:spPr>
        <p:txBody>
          <a:bodyPr/>
          <a:lstStyle/>
          <a:p>
            <a:endParaRPr lang="en-IL"/>
          </a:p>
        </p:txBody>
      </p:sp>
      <p:sp>
        <p:nvSpPr>
          <p:cNvPr id="8" name="Text 5"/>
          <p:cNvSpPr/>
          <p:nvPr/>
        </p:nvSpPr>
        <p:spPr>
          <a:xfrm>
            <a:off x="713232" y="24048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6"/>
          <p:cNvSpPr/>
          <p:nvPr/>
        </p:nvSpPr>
        <p:spPr>
          <a:xfrm>
            <a:off x="1325880" y="2331720"/>
            <a:ext cx="3063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Unify the stack</a:t>
            </a:r>
            <a:endParaRPr lang="en-US" sz="1300" dirty="0"/>
          </a:p>
        </p:txBody>
      </p:sp>
      <p:sp>
        <p:nvSpPr>
          <p:cNvPr id="10" name="Text 7"/>
          <p:cNvSpPr/>
          <p:nvPr/>
        </p:nvSpPr>
        <p:spPr>
          <a:xfrm>
            <a:off x="1325880" y="2651760"/>
            <a:ext cx="3063240" cy="502920"/>
          </a:xfrm>
          <a:prstGeom prst="rect">
            <a:avLst/>
          </a:prstGeom>
          <a:noFill/>
          <a:ln/>
        </p:spPr>
        <p:txBody>
          <a:bodyPr wrap="square" lIns="0" tIns="0" rIns="0" bIns="0" rtlCol="0" anchor="t"/>
          <a:lstStyle/>
          <a:p>
            <a:pPr marL="0" indent="0">
              <a:buNone/>
            </a:pPr>
            <a:r>
              <a:rPr lang="en-US" sz="1000" dirty="0">
                <a:solidFill>
                  <a:srgbClr val="C9D3DD"/>
                </a:solidFill>
                <a:latin typeface="Calibri" pitchFamily="34" charset="0"/>
                <a:ea typeface="Calibri" pitchFamily="34" charset="-122"/>
                <a:cs typeface="Calibri" pitchFamily="34" charset="-120"/>
              </a:rPr>
              <a:t>Eliminate the standalone-vector-DB trap.  Cache, session and vectors share one in-memory address space.</a:t>
            </a:r>
            <a:endParaRPr lang="en-US" sz="1000" dirty="0"/>
          </a:p>
        </p:txBody>
      </p:sp>
      <p:sp>
        <p:nvSpPr>
          <p:cNvPr id="11" name="Shape 8"/>
          <p:cNvSpPr/>
          <p:nvPr/>
        </p:nvSpPr>
        <p:spPr>
          <a:xfrm>
            <a:off x="4663440" y="2240280"/>
            <a:ext cx="3931920" cy="1005840"/>
          </a:xfrm>
          <a:prstGeom prst="rect">
            <a:avLst/>
          </a:prstGeom>
          <a:solidFill>
            <a:srgbClr val="FFFFFF">
              <a:alpha val="8000"/>
            </a:srgbClr>
          </a:solidFill>
          <a:ln w="6350">
            <a:solidFill>
              <a:srgbClr val="FFFFFF"/>
            </a:solidFill>
            <a:prstDash val="solid"/>
          </a:ln>
        </p:spPr>
        <p:txBody>
          <a:bodyPr/>
          <a:lstStyle/>
          <a:p>
            <a:endParaRPr lang="en-IL"/>
          </a:p>
        </p:txBody>
      </p:sp>
      <p:sp>
        <p:nvSpPr>
          <p:cNvPr id="12" name="Shape 9"/>
          <p:cNvSpPr/>
          <p:nvPr/>
        </p:nvSpPr>
        <p:spPr>
          <a:xfrm>
            <a:off x="4828032" y="2404872"/>
            <a:ext cx="502920" cy="502920"/>
          </a:xfrm>
          <a:prstGeom prst="line">
            <a:avLst/>
          </a:prstGeom>
          <a:solidFill>
            <a:srgbClr val="FF4438"/>
          </a:solidFill>
          <a:ln/>
        </p:spPr>
        <p:txBody>
          <a:bodyPr/>
          <a:lstStyle/>
          <a:p>
            <a:endParaRPr lang="en-IL"/>
          </a:p>
        </p:txBody>
      </p:sp>
      <p:sp>
        <p:nvSpPr>
          <p:cNvPr id="13" name="Text 10"/>
          <p:cNvSpPr/>
          <p:nvPr/>
        </p:nvSpPr>
        <p:spPr>
          <a:xfrm>
            <a:off x="4828032" y="24048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1"/>
          <p:cNvSpPr/>
          <p:nvPr/>
        </p:nvSpPr>
        <p:spPr>
          <a:xfrm>
            <a:off x="5440680" y="2331720"/>
            <a:ext cx="3063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Redis 8 is the engine</a:t>
            </a:r>
            <a:endParaRPr lang="en-US" sz="1300" dirty="0"/>
          </a:p>
        </p:txBody>
      </p:sp>
      <p:sp>
        <p:nvSpPr>
          <p:cNvPr id="15" name="Text 12"/>
          <p:cNvSpPr/>
          <p:nvPr/>
        </p:nvSpPr>
        <p:spPr>
          <a:xfrm>
            <a:off x="5440680" y="2651760"/>
            <a:ext cx="3063240" cy="502920"/>
          </a:xfrm>
          <a:prstGeom prst="rect">
            <a:avLst/>
          </a:prstGeom>
          <a:noFill/>
          <a:ln/>
        </p:spPr>
        <p:txBody>
          <a:bodyPr wrap="square" lIns="0" tIns="0" rIns="0" bIns="0" rtlCol="0" anchor="t"/>
          <a:lstStyle/>
          <a:p>
            <a:pPr marL="0" indent="0">
              <a:buNone/>
            </a:pPr>
            <a:r>
              <a:rPr lang="en-US" sz="1000" dirty="0">
                <a:solidFill>
                  <a:srgbClr val="C9D3DD"/>
                </a:solidFill>
                <a:latin typeface="Calibri" pitchFamily="34" charset="0"/>
                <a:ea typeface="Calibri" pitchFamily="34" charset="-122"/>
                <a:cs typeface="Calibri" pitchFamily="34" charset="-120"/>
              </a:rPr>
              <a:t>Vector Sets, JSON and Search are now in the core — −87% latency, +144% QPS, native ACLs.</a:t>
            </a:r>
            <a:endParaRPr lang="en-US" sz="1000" dirty="0"/>
          </a:p>
        </p:txBody>
      </p:sp>
      <p:sp>
        <p:nvSpPr>
          <p:cNvPr id="16" name="Shape 13"/>
          <p:cNvSpPr/>
          <p:nvPr/>
        </p:nvSpPr>
        <p:spPr>
          <a:xfrm>
            <a:off x="548640" y="3429000"/>
            <a:ext cx="3931920" cy="1005840"/>
          </a:xfrm>
          <a:prstGeom prst="rect">
            <a:avLst/>
          </a:prstGeom>
          <a:solidFill>
            <a:srgbClr val="FFFFFF">
              <a:alpha val="8000"/>
            </a:srgbClr>
          </a:solidFill>
          <a:ln w="6350">
            <a:solidFill>
              <a:srgbClr val="FFFFFF"/>
            </a:solidFill>
            <a:prstDash val="solid"/>
          </a:ln>
        </p:spPr>
        <p:txBody>
          <a:bodyPr/>
          <a:lstStyle/>
          <a:p>
            <a:endParaRPr lang="en-IL"/>
          </a:p>
        </p:txBody>
      </p:sp>
      <p:sp>
        <p:nvSpPr>
          <p:cNvPr id="17" name="Shape 14"/>
          <p:cNvSpPr/>
          <p:nvPr/>
        </p:nvSpPr>
        <p:spPr>
          <a:xfrm>
            <a:off x="713232" y="3593592"/>
            <a:ext cx="502920" cy="502920"/>
          </a:xfrm>
          <a:prstGeom prst="line">
            <a:avLst/>
          </a:prstGeom>
          <a:solidFill>
            <a:srgbClr val="FF4438"/>
          </a:solidFill>
          <a:ln/>
        </p:spPr>
        <p:txBody>
          <a:bodyPr/>
          <a:lstStyle/>
          <a:p>
            <a:endParaRPr lang="en-IL"/>
          </a:p>
        </p:txBody>
      </p:sp>
      <p:sp>
        <p:nvSpPr>
          <p:cNvPr id="18" name="Text 15"/>
          <p:cNvSpPr/>
          <p:nvPr/>
        </p:nvSpPr>
        <p:spPr>
          <a:xfrm>
            <a:off x="713232" y="359359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6"/>
          <p:cNvSpPr/>
          <p:nvPr/>
        </p:nvSpPr>
        <p:spPr>
          <a:xfrm>
            <a:off x="1325880" y="3520440"/>
            <a:ext cx="3063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Pick the right ANN</a:t>
            </a:r>
            <a:endParaRPr lang="en-US" sz="1300" dirty="0"/>
          </a:p>
        </p:txBody>
      </p:sp>
      <p:sp>
        <p:nvSpPr>
          <p:cNvPr id="20" name="Text 17"/>
          <p:cNvSpPr/>
          <p:nvPr/>
        </p:nvSpPr>
        <p:spPr>
          <a:xfrm>
            <a:off x="1325880" y="3840480"/>
            <a:ext cx="3063240" cy="502920"/>
          </a:xfrm>
          <a:prstGeom prst="rect">
            <a:avLst/>
          </a:prstGeom>
          <a:noFill/>
          <a:ln/>
        </p:spPr>
        <p:txBody>
          <a:bodyPr wrap="square" lIns="0" tIns="0" rIns="0" bIns="0" rtlCol="0" anchor="t"/>
          <a:lstStyle/>
          <a:p>
            <a:pPr marL="0" indent="0">
              <a:buNone/>
            </a:pPr>
            <a:r>
              <a:rPr lang="en-US" sz="1000" dirty="0">
                <a:solidFill>
                  <a:srgbClr val="C9D3DD"/>
                </a:solidFill>
                <a:latin typeface="Calibri" pitchFamily="34" charset="0"/>
                <a:ea typeface="Calibri" pitchFamily="34" charset="-122"/>
                <a:cs typeface="Calibri" pitchFamily="34" charset="-120"/>
              </a:rPr>
              <a:t>FLAT for tiny datasets, HNSW for production, SVS-VAMANA for billion-scale memory savings.</a:t>
            </a:r>
            <a:endParaRPr lang="en-US" sz="1000" dirty="0"/>
          </a:p>
        </p:txBody>
      </p:sp>
      <p:sp>
        <p:nvSpPr>
          <p:cNvPr id="21" name="Shape 18"/>
          <p:cNvSpPr/>
          <p:nvPr/>
        </p:nvSpPr>
        <p:spPr>
          <a:xfrm>
            <a:off x="4663440" y="3429000"/>
            <a:ext cx="3931920" cy="1005840"/>
          </a:xfrm>
          <a:prstGeom prst="rect">
            <a:avLst/>
          </a:prstGeom>
          <a:solidFill>
            <a:srgbClr val="FFFFFF">
              <a:alpha val="8000"/>
            </a:srgbClr>
          </a:solidFill>
          <a:ln w="6350">
            <a:solidFill>
              <a:srgbClr val="FFFFFF"/>
            </a:solidFill>
            <a:prstDash val="solid"/>
          </a:ln>
        </p:spPr>
        <p:txBody>
          <a:bodyPr/>
          <a:lstStyle/>
          <a:p>
            <a:endParaRPr lang="en-IL"/>
          </a:p>
        </p:txBody>
      </p:sp>
      <p:sp>
        <p:nvSpPr>
          <p:cNvPr id="22" name="Shape 19"/>
          <p:cNvSpPr/>
          <p:nvPr/>
        </p:nvSpPr>
        <p:spPr>
          <a:xfrm>
            <a:off x="4828032" y="3593592"/>
            <a:ext cx="502920" cy="502920"/>
          </a:xfrm>
          <a:prstGeom prst="line">
            <a:avLst/>
          </a:prstGeom>
          <a:solidFill>
            <a:srgbClr val="FF4438"/>
          </a:solidFill>
          <a:ln/>
        </p:spPr>
        <p:txBody>
          <a:bodyPr/>
          <a:lstStyle/>
          <a:p>
            <a:endParaRPr lang="en-IL"/>
          </a:p>
        </p:txBody>
      </p:sp>
      <p:sp>
        <p:nvSpPr>
          <p:cNvPr id="23" name="Text 20"/>
          <p:cNvSpPr/>
          <p:nvPr/>
        </p:nvSpPr>
        <p:spPr>
          <a:xfrm>
            <a:off x="4828032" y="359359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1"/>
          <p:cNvSpPr/>
          <p:nvPr/>
        </p:nvSpPr>
        <p:spPr>
          <a:xfrm>
            <a:off x="5440680" y="3520440"/>
            <a:ext cx="30632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TCO wins</a:t>
            </a:r>
            <a:endParaRPr lang="en-US" sz="1300" dirty="0"/>
          </a:p>
        </p:txBody>
      </p:sp>
      <p:sp>
        <p:nvSpPr>
          <p:cNvPr id="25" name="Text 22"/>
          <p:cNvSpPr/>
          <p:nvPr/>
        </p:nvSpPr>
        <p:spPr>
          <a:xfrm>
            <a:off x="5440680" y="3840480"/>
            <a:ext cx="3063240" cy="502920"/>
          </a:xfrm>
          <a:prstGeom prst="rect">
            <a:avLst/>
          </a:prstGeom>
          <a:noFill/>
          <a:ln/>
        </p:spPr>
        <p:txBody>
          <a:bodyPr wrap="square" lIns="0" tIns="0" rIns="0" bIns="0" rtlCol="0" anchor="t"/>
          <a:lstStyle/>
          <a:p>
            <a:pPr marL="0" indent="0">
              <a:buNone/>
            </a:pPr>
            <a:r>
              <a:rPr lang="en-US" sz="1000" dirty="0">
                <a:solidFill>
                  <a:srgbClr val="C9D3DD"/>
                </a:solidFill>
                <a:latin typeface="Calibri" pitchFamily="34" charset="0"/>
                <a:ea typeface="Calibri" pitchFamily="34" charset="-122"/>
                <a:cs typeface="Calibri" pitchFamily="34" charset="-120"/>
              </a:rPr>
              <a:t>Redis Flex tiering + Semantic Cache often pay for the entire cluster.  Start there tomorrow.</a:t>
            </a:r>
            <a:endParaRPr lang="en-US" sz="1000" dirty="0"/>
          </a:p>
        </p:txBody>
      </p:sp>
      <p:sp>
        <p:nvSpPr>
          <p:cNvPr id="26" name="Shape 23"/>
          <p:cNvSpPr/>
          <p:nvPr/>
        </p:nvSpPr>
        <p:spPr>
          <a:xfrm>
            <a:off x="0" y="4663440"/>
            <a:ext cx="9144000" cy="475488"/>
          </a:xfrm>
          <a:prstGeom prst="rect">
            <a:avLst/>
          </a:prstGeom>
          <a:solidFill>
            <a:srgbClr val="FF4438"/>
          </a:solidFill>
          <a:ln/>
        </p:spPr>
        <p:txBody>
          <a:bodyPr/>
          <a:lstStyle/>
          <a:p>
            <a:endParaRPr lang="en-IL"/>
          </a:p>
        </p:txBody>
      </p:sp>
      <p:sp>
        <p:nvSpPr>
          <p:cNvPr id="27" name="Text 24"/>
          <p:cNvSpPr/>
          <p:nvPr/>
        </p:nvSpPr>
        <p:spPr>
          <a:xfrm>
            <a:off x="548640" y="4663440"/>
            <a:ext cx="4572000" cy="475488"/>
          </a:xfrm>
          <a:prstGeom prst="rect">
            <a:avLst/>
          </a:prstGeom>
          <a:noFill/>
          <a:ln/>
        </p:spPr>
        <p:txBody>
          <a:bodyPr wrap="square" lIns="0" tIns="0" rIns="0" bIns="0" rtlCol="0" anchor="ctr"/>
          <a:lstStyle/>
          <a:p>
            <a:pPr marL="0" indent="0">
              <a:buNone/>
            </a:pPr>
            <a:r>
              <a:rPr lang="en-US" sz="1600" b="1" kern="0" spc="400" dirty="0">
                <a:solidFill>
                  <a:srgbClr val="FFFFFF"/>
                </a:solidFill>
                <a:latin typeface="Calibri" pitchFamily="34" charset="0"/>
                <a:ea typeface="Calibri" pitchFamily="34" charset="-122"/>
                <a:cs typeface="Calibri" pitchFamily="34" charset="-120"/>
              </a:rPr>
              <a:t>Q &amp; A   ·   thank you</a:t>
            </a:r>
            <a:endParaRPr lang="en-US" sz="1600" dirty="0"/>
          </a:p>
        </p:txBody>
      </p:sp>
      <p:sp>
        <p:nvSpPr>
          <p:cNvPr id="28" name="Text 25"/>
          <p:cNvSpPr/>
          <p:nvPr/>
        </p:nvSpPr>
        <p:spPr>
          <a:xfrm>
            <a:off x="4572000" y="4663440"/>
            <a:ext cx="4206240" cy="475488"/>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docs.redisvl.com  ·  redis.io/blog  ·  github.com/redis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11001</Words>
  <Application>Microsoft Macintosh PowerPoint</Application>
  <PresentationFormat>On-screen Show (16:9)</PresentationFormat>
  <Paragraphs>174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Redis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Redis as a Vector Database — Architecting for Real-Time AI</dc:title>
  <dc:subject>PptxGenJS Presentation</dc:subject>
  <dc:creator>eli</dc:creator>
  <cp:lastModifiedBy>אליהו שטינמן</cp:lastModifiedBy>
  <cp:revision>2</cp:revision>
  <dcterms:created xsi:type="dcterms:W3CDTF">2026-05-10T12:58:53Z</dcterms:created>
  <dcterms:modified xsi:type="dcterms:W3CDTF">2026-05-10T13:03:37Z</dcterms:modified>
</cp:coreProperties>
</file>